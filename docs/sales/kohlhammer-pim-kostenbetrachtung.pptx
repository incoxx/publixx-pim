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8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181D"/>
                </a:solidFill>
                <a:latin typeface="Arial"/>
              </a:rPr>
              <a:t>Kumulierte Gesamtkosten (schematisch)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Pimcore-Upgrade</c:v>
                </c:pt>
              </c:strCache>
            </c:strRef>
          </c:tx>
          <c:spPr>
            <a:solidFill>
              <a:srgbClr val="2F4A9E"/>
            </a:solidFill>
            <a:ln w="31750" cap="flat">
              <a:solidFill>
                <a:srgbClr val="2F4A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F4A9E"/>
              </a:solidFill>
              <a:ln w="9525" cap="flat">
                <a:solidFill>
                  <a:srgbClr val="2F4A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Jahr 1</c:v>
                  </c:pt>
                  <c:pt idx="2">
                    <c:v>Jahr 2</c:v>
                  </c:pt>
                  <c:pt idx="3">
                    <c:v>Jahr 3</c:v>
                  </c:pt>
                  <c:pt idx="4">
                    <c:v>Jahr 4</c:v>
                  </c:pt>
                  <c:pt idx="5">
                    <c:v>Jahr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125</c:v>
                </c:pt>
                <c:pt idx="2">
                  <c:v>150</c:v>
                </c:pt>
                <c:pt idx="3">
                  <c:v>175</c:v>
                </c:pt>
                <c:pt idx="4">
                  <c:v>200</c:v>
                </c:pt>
                <c:pt idx="5">
                  <c:v>225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anyPIM</c:v>
                </c:pt>
              </c:strCache>
            </c:strRef>
          </c:tx>
          <c:spPr>
            <a:solidFill>
              <a:srgbClr val="1F9A8F"/>
            </a:solidFill>
            <a:ln w="31750" cap="flat">
              <a:solidFill>
                <a:srgbClr val="1F9A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9A8F"/>
              </a:solidFill>
              <a:ln w="9525" cap="flat">
                <a:solidFill>
                  <a:srgbClr val="1F9A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Jahr 1</c:v>
                  </c:pt>
                  <c:pt idx="2">
                    <c:v>Jahr 2</c:v>
                  </c:pt>
                  <c:pt idx="3">
                    <c:v>Jahr 3</c:v>
                  </c:pt>
                  <c:pt idx="4">
                    <c:v>Jahr 4</c:v>
                  </c:pt>
                  <c:pt idx="5">
                    <c:v>Jahr 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110</c:v>
                </c:pt>
                <c:pt idx="1">
                  <c:v>123</c:v>
                </c:pt>
                <c:pt idx="2">
                  <c:v>136</c:v>
                </c:pt>
                <c:pt idx="3">
                  <c:v>149</c:v>
                </c:pt>
                <c:pt idx="4">
                  <c:v>162</c:v>
                </c:pt>
                <c:pt idx="5">
                  <c:v>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DE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majorGridlines>
          <c:spPr>
            <a:ln w="6350" cap="flat">
              <a:solidFill>
                <a:srgbClr val="E8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181D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Fassung ist bewusst neutral: Sie betrachtet beide Optionen aus Kostensicht über fünf Jahre. incoxx implementiert beide Systeme; die Annahmen und Kostentreiber sind offengelegt, damit Kohlhammer sie selbst prüfen kann.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Neutraler Einstieg: Beide Optionen sind tragfähig. Die Transparenz zur Rolle von incoxx gehört an den Anfang. Bewertungsmaßstab ist der gleiche Leistungsumfang – die Funktionsliste von Kohlhammer.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Rahmen ist bewusst symmetrisch. Wichtig: Die Funktionsliste ist der gemeinsame Maßstab. Die dritte Spalte erinnert daran, dass nicht alles in Euro messbar ist, aber in die Entscheidung gehört.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den einmaligen Kosten gibt es keinen klaren Sieger. Der wesentliche Posten in beiden Fällen ist die Funktionsliste: Bei Pimcore als Portierung, bei anyPIM als Neubau im Produktstandard.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liegt der Kern der Kostenfrage. Die Lizenzposition hängt von den konkreten Angeboten ab; die Tendenz ergibt sich aus dem Modell (Edition vs. Module nach Nutzung). Release-Pflege und Pflege der Eigenentwicklungen sind bei Pimcore wiederkehrend, bei anyPIM Teil des Produkts. Pimcore profitiert von einem großen Dienstleistermarkt.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Werte sind illustrativ und bilden nur die Logik ab: ähnlicher Startpunkt, unterschiedliche Steigung. Wo sich die Linien tatsächlich schneiden, ergibt erst die TCO-Rechnung mit echten Angeboten (Anhang).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 formuliert: Beide Spalten sind fachlich korrekt. Die untere Zeile gibt die heute bekannten Rahmenbedingungen bei Kohlhammer wieder – das Publikum ordnet sie selbst 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Ausgewogen darstellen: Das Migrationsrisiko bei anyPIM ist real, aber einmalig und durch Pilot und Parallelbetrieb begrenzbar. Die Risiken bei Pimcore – Lizenz und Release-Takt – wirken dauerhaft und liegen außerhalb des Einflusses von Kohlhammer.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Vorgehen ist für beide Optionen gleich. Der Proof of Concept adressiert die Punkte mit dem größten Kosten- und Risikoanteil.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Zurückhaltend formulieren: eine Tendenz, keine Empfehlung um jeden Preis. Die Begründung folgt ausschließlich aus den zuvor gezeigten Kostentreibern und den Rahmenbedingungen bei Kohlhammer.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Vorlage macht beide Angebote vergleichbar. Gesamtkosten über fünf Jahre = Summe einmalig + 5 × Summe p.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6E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Kostenbetrachtung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2B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21945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0" dirty="0">
                <a:solidFill>
                  <a:srgbClr val="2B3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klar sehen.</a:t>
            </a:r>
            <a:endParaRPr lang="en-US" sz="1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Pimcore-Upgrade und anyPIM im Vergleich der Gesamtkosten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Entscheidungsgrundlage für die W. Kohlhammer GmbH  ·  incoxx GmbH  ·  September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AUSGANGSLAGE UND FRAGESTELLUNG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6 erhält keine Updates mehr. Handlungsbedarf besteht – offen ist der Weg.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766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47672"/>
            <a:ext cx="201168" cy="201168"/>
          </a:xfrm>
          <a:prstGeom prst="rect">
            <a:avLst/>
          </a:prstGeom>
          <a:solidFill>
            <a:srgbClr val="2F4A9E"/>
          </a:solidFill>
          <a:ln w="12700">
            <a:solidFill>
              <a:srgbClr val="2F4A9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auf das aktuelle Pimcore (2026.x)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423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Weiterführung der bestehenden Plattform über mehrere Versionssprünge.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6766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273552"/>
            <a:ext cx="201168" cy="201168"/>
          </a:xfrm>
          <a:prstGeom prst="rect">
            <a:avLst/>
          </a:prstGeom>
          <a:solidFill>
            <a:srgbClr val="1F9A8F"/>
          </a:solidFill>
          <a:ln w="12700">
            <a:solidFill>
              <a:srgbClr val="1F9A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29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Wechsel zu anyPIM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490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 eines neuen Systems mit Übernahme der vorhandenen Daten.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Leitfrage: </a:t>
            </a:r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Option verursacht über fünf Jahre die geringeren Gesamtkosten – bei gleichem Leistungsumfang, also der vollständigen Kohlhammer-Funktionsliste?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0" y="1691640"/>
            <a:ext cx="3870655" cy="384048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0" y="187452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Transparenz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2377440"/>
            <a:ext cx="33220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incoxx betreut Kohlhammer seit 25 Jahren und hat Pimcore 6 eingeführt.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incoxx implementiert beide Systeme.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ist ein Produkt von incoxx.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legt diese Betrachtung Annahmen und Kostentreiber offen – Kohlhammer kann jede Position selbst prüfen.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BEWERTUNGSRAHMEN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über fünf Jahre (TCO) – einmalige und laufende Kosten, für beide Optionen nach denselben Positionen.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20440" cy="59436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Einmalige Kosten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Umstieg: Upgrade bzw. Einführung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Datenübernahme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Kohlhammer-Funktionen gemäß Funktionsliste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Infrastruktur-Aufbau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Schulung und Einführung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35628" y="1691640"/>
            <a:ext cx="3520440" cy="594360"/>
          </a:xfrm>
          <a:prstGeom prst="rect">
            <a:avLst/>
          </a:prstGeom>
          <a:solidFill>
            <a:srgbClr val="1B2D5C"/>
          </a:solidFill>
          <a:ln w="12700">
            <a:solidFill>
              <a:srgbClr val="1B2D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4228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 Kosten pro Jahr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35628" y="228600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4228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Softwarelizenz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Release-Pflege und Updates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und Hosting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Pflege der Kohlhammer-Funktionen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2615" y="1691640"/>
            <a:ext cx="3520440" cy="594360"/>
          </a:xfrm>
          <a:prstGeom prst="rect">
            <a:avLst/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1215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in Euro, aber relevant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22615" y="2286000"/>
            <a:ext cx="3520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1215" y="25146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Interner Aufwand der Fachabteilungen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und Abhängigkeiten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Planbarkeit der Kosten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Handlungsspielraum für künftige Anforderungen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 Optionen werden am selben Leistungsumfang gemessen. So bleiben Unterschiede sichtbar, die aus dem System kommen – nicht aus dem Umfang.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EINMALIGE KOSTEN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Weg auf das Zielsystem kostet – qualitativ eingeordnet.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749040"/>
                <a:gridCol w="3749040"/>
                <a:gridCol w="14904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Pimcore-Upgrade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Tendenz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Umstieg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über Version 10 und 11 bis 2026.x, mehrstufig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Neueinrichtung; Datenmodell per Konfiguration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vergleichbar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Datenübernahme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 bleiben im System und werden je Version migriert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Einmalige Migration aus Pimcore 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A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A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Kohlhammer-Funktionen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Portierung der bestehenden Eigenentwicklungen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Umsetzung der Funktionsliste als Produktstandard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vergleichbar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Infrastruktur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Container-Umgebung, OpenSearch, Worker-Prozesse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Linux-Server mit Standardkomponenten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Schulung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Neue Oberfläche (Pimcore Studio)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Neue Oberfläche (anyPIM)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vergleichbar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2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4068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Einmalig liegen beide Optionen nah beieinander. Pimcore spart die Datenmigration, anyPIM den Aufbau einer komplexeren Infrastruktur.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 KOSTEN PRO JAHR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Positionen fallen jedes Jahr an – sie bestimmen die Gesamtkosten.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749040"/>
                <a:gridCol w="3749040"/>
                <a:gridCol w="14904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Pimcore-Upgrade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Tendenz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Softwarelizenz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Kommerzielle Lizenz (POCL) ab 5 Mio. € Jahresumsatz; Umfang je Edition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GPL-Kern kostenfrei; Enterprise-Module nach tatsächlicher Nutzung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Release-Pflege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Releases regelmäßig nachziehen (2026.3 angekündigt), inkl. Test der Eigenentwicklungen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per Skript; Kohlhammer-Funktionen werden im Produkt mitgepflegt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 und Hosting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 Komponenten: Container, OpenSearch, Worker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Weniger Komponenten, nativer Betrieb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Pflege Kohlhammer-Funktionen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Eigenentwicklung – Pflege zulasten Kohlhammer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Produktstandard – Pflege durch den Hersteller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36E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Dienstleistermarkt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Viele Pimcore-Partner, Wettbewerb bei Stundensätzen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Hersteller und Partner; offener Code und Dokumentation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F4A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günstiger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A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4068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Unterschiede bei den laufenden Kosten wirken jedes Jahr. Über fünf Jahre wiegen sie schwerer als die einmaligen Kosten.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KOSTENVERLAUF ÜBER FÜNF JAHRE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Darstellung der Kostenlogik – keine Kalkulation.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60020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63840" y="1691640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entsteht der Verlauf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48840"/>
            <a:ext cx="37792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Startpunkt: einmalige Kosten – bei beiden Optionen ähnlich hoch.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Steigung: laufende Kosten pro Jahr – hier unterscheiden sich die Optionen.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Abstand wächst mit jedem Jahr.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63840" y="3931920"/>
            <a:ext cx="3779215" cy="210312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4069080"/>
            <a:ext cx="3322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Wovon der Schnittpunkt abhängt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4480560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Höhe der Lizenzkosten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Aufwand je Release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Umfang der Kohlhammer-Funktionen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5532120"/>
            <a:ext cx="3322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konkreten Angeboten wird daraus eine belastbare Rechnung.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IST WELCHE OPTION GÜNSTIGER?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Kostenlogik hängt an wenigen Rahmenbedingungen – und die sind bei Kohlhammer weitgehend bekannt.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64328" cy="2651760"/>
          </a:xfrm>
          <a:prstGeom prst="rect">
            <a:avLst/>
          </a:prstGeom>
          <a:solidFill>
            <a:srgbClr val="E6EAF6"/>
          </a:solidFill>
          <a:ln w="12700">
            <a:solidFill>
              <a:srgbClr val="E6EA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4A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ist günstiger, wenn …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317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wenige Kohlhammer-spezifische Funktionen nötig sind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Enterprise-Erweiterungen (Datahub, Portale, DAM) aktiv genutzt werden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 und OpenSearch-Betrieb ohnehin IT-Standard ist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Plattform weitere Systeme ablösen soll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8728" y="1645920"/>
            <a:ext cx="5364328" cy="2651760"/>
          </a:xfrm>
          <a:prstGeom prst="rect">
            <a:avLst/>
          </a:prstGeom>
          <a:solidFill>
            <a:srgbClr val="DDF1EE"/>
          </a:solidFill>
          <a:ln w="12700">
            <a:solidFill>
              <a:srgbClr val="DD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18288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6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anyPIM ist günstiger, wenn …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317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 Kohlhammer-spezifische Funktionen nötig sind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Teile der Enterprise-Funktionen gebraucht werden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Betrieb schlank bleiben soll</a:t>
            </a:r>
            <a:endParaRPr lang="en-US" sz="14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Kohlhammer den Update-Takt nicht vom Hersteller vorgegeben bekommen möchte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1109441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HEUTE BEI KOHLHAMMER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5102352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5029200"/>
            <a:ext cx="3012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Funktionsliste mit zahlreichen Kohlhammer-spezifischen Punkten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29658" y="5102352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49698" y="5029200"/>
            <a:ext cx="3012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Enterprise-Erweiterungen wie Datahub und Portale nur eingeschränkt genutzt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36357" y="5102352"/>
            <a:ext cx="182880" cy="1828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56397" y="5029200"/>
            <a:ext cx="30123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Wunsch nach einem schlanken, gut beherrschbaren Betrieb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MIT KOSTENWIRKUNG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 Optionen haben Risiken – entscheidend ist, wie gut sie sich begrenzen lassen.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389120"/>
                <a:gridCol w="44165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Risiko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Pimcore-Upgrade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Lizenzmodell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Lizenzbedingungen liegen beim Hersteller; 2025 bereits einmal grundlegend geändert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GPL-Kern; nur genutzte Module lizenziert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Release-Takt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Vom Hersteller vorgegeben; größere Umbauten erfordern Anpassungen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im eigenen Takt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Datenmigration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Entfällt weitgehend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Einmaliges Risiko – begrenzt durch Pilot und Parallelbetrieb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Ökosystem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Groß: viele Partner und Erweiterungen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Kleiner – begrenzt durch offenen Code, Dokumentation und KI-gestützte Entwicklung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Know-how-Abhängigkeit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Eigenentwicklungen erfordern Spezialwissen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Wissen im Repository dokumentiert, nicht an Personen gebunden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44068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trägt das geringere Umstiegsrisiko, anyPIM das geringere laufende Risiko. Beides lässt sich mit einem Pilot vorab prüfen.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VORGEHEN ZUR ENTSCHEIDUNG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einer belastbaren Entscheidung – für beide Optionen auf derselben Grundlage.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10911535" cy="0"/>
          </a:xfrm>
          <a:prstGeom prst="line">
            <a:avLst/>
          </a:prstGeom>
          <a:noFill/>
          <a:ln w="19050">
            <a:solidFill>
              <a:srgbClr val="1B2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7452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7744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Funktionsliste bewerten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31920"/>
            <a:ext cx="2567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Aufwand je Punkt der Kohlhammer-Liste – für beide Optionen.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90824" y="187452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90824" y="237744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3390824" y="32004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vergleichbar machen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90824" y="3931920"/>
            <a:ext cx="2567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Fünf-Jahres-Kosten mit identischen Annahmen; Vorlage im Anhang.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33008" y="1874520"/>
            <a:ext cx="274320" cy="27432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3008" y="237744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233008" y="32004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Kritische Punkte prüfen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33008" y="3931920"/>
            <a:ext cx="2567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Concept, z. B. EasyCatalog-Export und Datenübernahme.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75191" y="1874520"/>
            <a:ext cx="274320" cy="274320"/>
          </a:xfrm>
          <a:prstGeom prst="rect">
            <a:avLst/>
          </a:prstGeom>
          <a:solidFill>
            <a:srgbClr val="E2211C"/>
          </a:solidFill>
          <a:ln w="12700">
            <a:solidFill>
              <a:srgbClr val="E221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5191" y="237744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9075191" y="32004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075191" y="3931920"/>
            <a:ext cx="25678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Lenkungskreis, auf Basis von Zahlen und Pilot-Ergebnis.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94415" cy="685800"/>
          </a:xfrm>
          <a:prstGeom prst="rect">
            <a:avLst/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440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400" dirty="0">
                <a:solidFill>
                  <a:srgbClr val="000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steht eine Entscheidung auf Basis von Zahlen und Pilot-Ergebnissen – nicht von Einschätzungen.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EINSCHÄTZUNG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Vorläufig – auf Basis der heute bekannten Rahmenbedingungen.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94415" cy="2926080"/>
          </a:xfrm>
          <a:prstGeom prst="rect">
            <a:avLst/>
          </a:prstGeom>
          <a:solidFill>
            <a:srgbClr val="000E2F"/>
          </a:solidFill>
          <a:ln w="12700">
            <a:solidFill>
              <a:srgbClr val="000E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den einmaligen Kosten liegen beide Optionen nah beieinander. </a:t>
            </a:r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Unterschied machen die laufenden Kosten.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8892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6E6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den heute bekannten Rahmenbedingungen – vielen Kohlhammer-spezifischen Funktionen, eingeschränkt genutzten Enterprise-Erweiterungen und dem Wunsch nach schlankem Betrieb – spricht die Kostenlogik eher für anyPIM.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8404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Pimcore bleibt die wirtschaftlichere Wahl, wenn Kohlhammer die Plattform künftig deutlich breiter nutzen will.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92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221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Belastbar wird die Einschätzung mit der Fünf-Jahres-Rechnung aus Schritt 2. Wir erstellen sie für beide Optionen – auf Wunsch gemeinsam mit Kohlhammer.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6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ANHANG: VORLAGE FÜNF-JAHRES-RECHNUNG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3327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beide Optionen mit identischen Annahmen auszufüllen. Beträge in Euro.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PIM-Kostenbetrachtung Kohlhammer  ·  Entscheidungsgrundlage  ·  September 2026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463040"/>
                <a:gridCol w="1463040"/>
                <a:gridCol w="1463040"/>
                <a:gridCol w="249631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Kostenposition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einmalig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Pimcore p. 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einmalig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anyPIM p. 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 / Quelle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E2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Umstieg (Upgrade bzw. Einführung)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Datenübernahme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Kohlhammer-Funktionen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Infrastruktur-Aufbau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Schulung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Softwarelizenz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Release-Pflege und Updates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 und Hosting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Pflege Kohlhammer-Funktionen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18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über fünf Jahre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Angaben zu Pimcore nach öffentlich verfügbaren Informationen (pimcore.com: Wechsel zur POCL, Community Edition, Enterprise Open Core). Konkrete Lizenzkonditionen vor einer Entscheidung beim Hersteller anfragen.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PIM-Kostenbetrachtung Kohlhammer</dc:title>
  <dc:subject>PptxGenJS Presentation</dc:subject>
  <dc:creator>incoxx GmbH</dc:creator>
  <cp:lastModifiedBy>incoxx GmbH</cp:lastModifiedBy>
  <cp:revision>1</cp:revision>
  <dcterms:created xsi:type="dcterms:W3CDTF">2026-09-28T18:18:57Z</dcterms:created>
  <dcterms:modified xsi:type="dcterms:W3CDTF">2026-09-28T18:18:57Z</dcterms:modified>
</cp:coreProperties>
</file>