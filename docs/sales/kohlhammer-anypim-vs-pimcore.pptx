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Kohlhammer pflegt Titeldaten seit Jahren in Pimcore 6, eingeführt und betreut von incoxx. Pimcore 6 ist am Ende seines Lebenszyklus. Heute geht es um die Frage: Upgrade auf das aktuelle Pimcore oder Wechsel auf anyPIM. Wir stellen beide Wege sachlich gegenüber und begründen unsere Empfehlung.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Weiterbetrieb von Pimcore 6 ist nur eine Übergangslösung. Die echte Wahl liegt zwischen Upgrade und Wechsel. Beide sind machbar – sie unterscheiden sich in Aufwand, laufenden Kosten und Zukunftssicherheit.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Pimcore 6 kann nicht direkt auf die aktuelle Version gehoben werden; der Weg führt über Pimcore 10 und 11. Seit 2025.1 gilt die POCL: kostenfrei nur bis 5 Mio. € Jahresumsatz (Quelle: pimcore.com, Blog zum Wechsel auf POCL). Konkrete Lizenzkonditionen vor der Entscheidung beim Hersteller anfragen.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Anforderungen sind aus dem Auftritt von kohlhammer.de und shop.kohlhammer.de abgeleitet. Entscheidend: ein Werk mit mehreren Ausgaben, parallele Ordnungen (Fachbereich, Reihe, Handel) und ein sehr gemischtes Programm.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Realer Titel aus dem Kohlhammer-Shop. In anyPIM ist das Werk das Elternprodukt, die drei Ausgaben sind Varianten. Vererbung ist pro Attribut steuerbar. Der Titel hängt in einer Master-Hierarchie und parallel in beliebig vielen Output-Hierarchien – ohne Dubletten. „Mehr aus der Reihe“ ergibt sich direkt aus der Reihen-Hierarchie.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Kacheln spiegeln die Service-Navigation von kohlhammer.de. Alles hier Genannte ist heute im Produkt vorhanden; ONIX ist bewusst ausgeklammert und wird auf der Folie „Was noch fehlt“ behandelt.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Zehn Argumente, jedes an einer vorhandenen Funktion festgemacht. Für Kohlhammer besonders relevant: Werk/Ausgabe-Vererbung, parallele Klassifikationen, Print aus PIM-Daten und die fehlenden Lizenzkosten.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Transparenz schafft Vertrauen: ONIX ist in beiden Systemen Zusatzaufwand. Bei anyPIM bauen wir es als Standardformat (5-Datei-Konvention über den MappingResolver), wovon Kohlhammer auch bei Updates profitiert.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Erster Teil des Vergleichs: alles, was den Weg dorthin und den laufenden Betrieb betrifft. Pimcore punktet bei der Datenkontinuität, anyPIM bei Kosten, Einführungsdauer und 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Zweiter Teil: Funktionen. Pimcore ist bei DAM, CMS und Ökosystem breiter aufgestellt. Für die Kernaufgabe Titeldaten liegt anyPIM bei Datenmodell, Klassifikationen und Print vorn.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Neutral ausgezählt: 7 zu 4 bei 5 Unentschieden. Wichtig ist die Gewichtung: Für Kohlhammer zählen Kosten, Einführungsaufwand und Print mehr als ein integriertes CMS, weil Website und Shop bestehen bleiben.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Offen ansprechen: incoxx hat ein Eigeninteresse, da anyPIM unser Produkt ist. Gleichzeitig kennen wir Pimcore bei Kohlhammer besser als jeder andere Partner und könnten das Upgrade ebenso umsetzen. Die Empfehlung folgt aus Aufwand, Lizenz und Funktionsabdeckung.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Zeiträume sind Richtwerte und werden in der Bestandsaufnahme geschärft. Der Pilot mit dem Fachbereich Brandschutz liefert eine belastbare Entscheidungsgrundlage auf echten Daten, bevor das ganze Programm umzieht.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Abschluss mit konkretem Vorschlag: Workshop und Pilot. So entscheidet Kohlhammer auf Basis eigener Daten, nicht auf Basis von Folien.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6E6E3"/>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0E2F"/>
          </a:solidFill>
          <a:ln w="12700">
            <a:solidFill>
              <a:srgbClr val="000E2F"/>
            </a:solidFill>
            <a:prstDash val="solid"/>
          </a:ln>
        </p:spPr>
      </p:sp>
      <p:sp>
        <p:nvSpPr>
          <p:cNvPr id="3" name="Text 1"/>
          <p:cNvSpPr txBox="1"/>
          <p:nvPr/>
        </p:nvSpPr>
        <p:spPr>
          <a:xfrm>
            <a:off x="548640" y="0"/>
            <a:ext cx="73152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anyPIM</a:t>
            </a:r>
            <a:pPr indent="0" marL="0">
              <a:buNone/>
            </a:pPr>
            <a:r>
              <a:rPr lang="en-US" sz="2400" dirty="0">
                <a:solidFill>
                  <a:srgbClr val="FFFFFF"/>
                </a:solidFill>
                <a:latin typeface="Arial" pitchFamily="34" charset="0"/>
                <a:ea typeface="Arial" pitchFamily="34" charset="-122"/>
                <a:cs typeface="Arial" pitchFamily="34" charset="-120"/>
              </a:rPr>
              <a:t>  für Kohlhammer</a:t>
            </a:r>
            <a:endParaRPr lang="en-US" sz="2400" dirty="0"/>
          </a:p>
        </p:txBody>
      </p:sp>
      <p:sp>
        <p:nvSpPr>
          <p:cNvPr id="4" name="Text 2"/>
          <p:cNvSpPr txBox="1"/>
          <p:nvPr/>
        </p:nvSpPr>
        <p:spPr>
          <a:xfrm>
            <a:off x="2148840" y="1417320"/>
            <a:ext cx="7315200" cy="914400"/>
          </a:xfrm>
          <a:prstGeom prst="rect">
            <a:avLst/>
          </a:prstGeom>
          <a:noFill/>
          <a:ln/>
        </p:spPr>
        <p:txBody>
          <a:bodyPr wrap="square" lIns="0" tIns="0" rIns="0" bIns="0" rtlCol="0" anchor="t"/>
          <a:lstStyle/>
          <a:p>
            <a:pPr indent="0" marL="0">
              <a:buNone/>
            </a:pPr>
            <a:r>
              <a:rPr lang="en-US" sz="6000" dirty="0">
                <a:solidFill>
                  <a:srgbClr val="2B3050"/>
                </a:solidFill>
                <a:latin typeface="Arial" pitchFamily="34" charset="0"/>
                <a:ea typeface="Arial" pitchFamily="34" charset="-122"/>
                <a:cs typeface="Arial" pitchFamily="34" charset="-120"/>
              </a:rPr>
              <a:t>Wissen braucht</a:t>
            </a:r>
            <a:endParaRPr lang="en-US" sz="6000" dirty="0"/>
          </a:p>
        </p:txBody>
      </p:sp>
      <p:sp>
        <p:nvSpPr>
          <p:cNvPr id="5" name="Text 3"/>
          <p:cNvSpPr txBox="1"/>
          <p:nvPr/>
        </p:nvSpPr>
        <p:spPr>
          <a:xfrm>
            <a:off x="1417320" y="2194560"/>
            <a:ext cx="9144000" cy="1737360"/>
          </a:xfrm>
          <a:prstGeom prst="rect">
            <a:avLst/>
          </a:prstGeom>
          <a:noFill/>
          <a:ln/>
        </p:spPr>
        <p:txBody>
          <a:bodyPr wrap="square" lIns="0" tIns="0" rIns="0" bIns="0" rtlCol="0" anchor="t"/>
          <a:lstStyle/>
          <a:p>
            <a:pPr indent="0" marL="0">
              <a:buNone/>
            </a:pPr>
            <a:r>
              <a:rPr lang="en-US" sz="12400" dirty="0">
                <a:solidFill>
                  <a:srgbClr val="2B3050"/>
                </a:solidFill>
                <a:latin typeface="Arial" pitchFamily="34" charset="0"/>
                <a:ea typeface="Arial" pitchFamily="34" charset="-122"/>
                <a:cs typeface="Arial" pitchFamily="34" charset="-120"/>
              </a:rPr>
              <a:t>Struktur.</a:t>
            </a:r>
            <a:endParaRPr lang="en-US" sz="12400" dirty="0"/>
          </a:p>
        </p:txBody>
      </p:sp>
      <p:sp>
        <p:nvSpPr>
          <p:cNvPr id="6" name="Text 4"/>
          <p:cNvSpPr txBox="1"/>
          <p:nvPr/>
        </p:nvSpPr>
        <p:spPr>
          <a:xfrm>
            <a:off x="548640" y="4480560"/>
            <a:ext cx="11094415" cy="548640"/>
          </a:xfrm>
          <a:prstGeom prst="rect">
            <a:avLst/>
          </a:prstGeom>
          <a:noFill/>
          <a:ln/>
        </p:spPr>
        <p:txBody>
          <a:bodyPr wrap="square" lIns="0" tIns="0" rIns="0" bIns="0" rtlCol="0" anchor="t"/>
          <a:lstStyle/>
          <a:p>
            <a:pPr indent="0" marL="0">
              <a:buNone/>
            </a:pPr>
            <a:r>
              <a:rPr lang="en-US" sz="2800" b="1" dirty="0">
                <a:solidFill>
                  <a:srgbClr val="000E2F"/>
                </a:solidFill>
                <a:latin typeface="Arial" pitchFamily="34" charset="0"/>
                <a:ea typeface="Arial" pitchFamily="34" charset="-122"/>
                <a:cs typeface="Arial" pitchFamily="34" charset="-120"/>
              </a:rPr>
              <a:t>Pimcore-Upgrade oder Wechsel zu anyPIM</a:t>
            </a:r>
            <a:endParaRPr lang="en-US" sz="2800" dirty="0"/>
          </a:p>
        </p:txBody>
      </p:sp>
      <p:sp>
        <p:nvSpPr>
          <p:cNvPr id="7" name="Text 5"/>
          <p:cNvSpPr txBox="1"/>
          <p:nvPr/>
        </p:nvSpPr>
        <p:spPr>
          <a:xfrm>
            <a:off x="548640" y="5074920"/>
            <a:ext cx="11094415" cy="365760"/>
          </a:xfrm>
          <a:prstGeom prst="rect">
            <a:avLst/>
          </a:prstGeom>
          <a:noFill/>
          <a:ln/>
        </p:spPr>
        <p:txBody>
          <a:bodyPr wrap="square" lIns="0" tIns="0" rIns="0" bIns="0" rtlCol="0" anchor="t"/>
          <a:lstStyle/>
          <a:p>
            <a:pPr indent="0" marL="0">
              <a:buNone/>
            </a:pPr>
            <a:r>
              <a:rPr lang="en-US" sz="1500" dirty="0">
                <a:solidFill>
                  <a:srgbClr val="1B2D5C"/>
                </a:solidFill>
                <a:latin typeface="Arial" pitchFamily="34" charset="0"/>
                <a:ea typeface="Arial" pitchFamily="34" charset="-122"/>
                <a:cs typeface="Arial" pitchFamily="34" charset="-120"/>
              </a:rPr>
              <a:t>Entscheidungsvorlage für die W. Kohlhammer GmbH  ·  incoxx GmbH  ·  September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DIE ENTSCHEIDUNG</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Drei denkbare Wege – zwei davon sind tragfähig.</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2</a:t>
            </a:r>
            <a:endParaRPr lang="en-US" sz="900" dirty="0"/>
          </a:p>
        </p:txBody>
      </p:sp>
      <p:sp>
        <p:nvSpPr>
          <p:cNvPr id="6" name="Shape 4"/>
          <p:cNvSpPr/>
          <p:nvPr/>
        </p:nvSpPr>
        <p:spPr>
          <a:xfrm>
            <a:off x="548640" y="1783080"/>
            <a:ext cx="3520440" cy="685800"/>
          </a:xfrm>
          <a:prstGeom prst="rect">
            <a:avLst/>
          </a:prstGeom>
          <a:solidFill>
            <a:srgbClr val="000E2F"/>
          </a:solidFill>
          <a:ln w="12700">
            <a:solidFill>
              <a:srgbClr val="000E2F"/>
            </a:solidFill>
            <a:prstDash val="solid"/>
          </a:ln>
        </p:spPr>
      </p:sp>
      <p:sp>
        <p:nvSpPr>
          <p:cNvPr id="7" name="Text 5"/>
          <p:cNvSpPr txBox="1"/>
          <p:nvPr/>
        </p:nvSpPr>
        <p:spPr>
          <a:xfrm>
            <a:off x="731520" y="1783080"/>
            <a:ext cx="2834640" cy="6858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Weiter mit Pimcore 6</a:t>
            </a:r>
            <a:endParaRPr lang="en-US" sz="1600" dirty="0"/>
          </a:p>
        </p:txBody>
      </p:sp>
      <p:sp>
        <p:nvSpPr>
          <p:cNvPr id="8" name="Text 6"/>
          <p:cNvSpPr txBox="1"/>
          <p:nvPr/>
        </p:nvSpPr>
        <p:spPr>
          <a:xfrm>
            <a:off x="3566160" y="1783080"/>
            <a:ext cx="365760" cy="68580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9" name="Shape 7"/>
          <p:cNvSpPr/>
          <p:nvPr/>
        </p:nvSpPr>
        <p:spPr>
          <a:xfrm>
            <a:off x="548640" y="2697480"/>
            <a:ext cx="2377440" cy="365760"/>
          </a:xfrm>
          <a:prstGeom prst="roundRect">
            <a:avLst>
              <a:gd name="adj" fmla="val 50000"/>
            </a:avLst>
          </a:prstGeom>
          <a:solidFill>
            <a:srgbClr val="EEF0F2"/>
          </a:solidFill>
          <a:ln w="12700">
            <a:solidFill>
              <a:srgbClr val="EEF0F2"/>
            </a:solidFill>
            <a:prstDash val="solid"/>
          </a:ln>
        </p:spPr>
      </p:sp>
      <p:sp>
        <p:nvSpPr>
          <p:cNvPr id="10" name="Text 8"/>
          <p:cNvSpPr txBox="1"/>
          <p:nvPr/>
        </p:nvSpPr>
        <p:spPr>
          <a:xfrm>
            <a:off x="548640" y="2697480"/>
            <a:ext cx="2377440" cy="365760"/>
          </a:xfrm>
          <a:prstGeom prst="rect">
            <a:avLst/>
          </a:prstGeom>
          <a:noFill/>
          <a:ln/>
        </p:spPr>
        <p:txBody>
          <a:bodyPr wrap="square" lIns="0" tIns="0" rIns="0" bIns="0" rtlCol="0" anchor="ctr"/>
          <a:lstStyle/>
          <a:p>
            <a:pPr algn="ctr" indent="0" marL="0">
              <a:buNone/>
            </a:pPr>
            <a:r>
              <a:rPr lang="en-US" sz="1200" b="1" dirty="0">
                <a:solidFill>
                  <a:srgbClr val="6B7280"/>
                </a:solidFill>
                <a:latin typeface="Arial" pitchFamily="34" charset="0"/>
                <a:ea typeface="Arial" pitchFamily="34" charset="-122"/>
                <a:cs typeface="Arial" pitchFamily="34" charset="-120"/>
              </a:rPr>
              <a:t>Keine Option</a:t>
            </a:r>
            <a:endParaRPr lang="en-US" sz="1200" dirty="0"/>
          </a:p>
        </p:txBody>
      </p:sp>
      <p:sp>
        <p:nvSpPr>
          <p:cNvPr id="11" name="Text 9"/>
          <p:cNvSpPr txBox="1"/>
          <p:nvPr/>
        </p:nvSpPr>
        <p:spPr>
          <a:xfrm>
            <a:off x="548640" y="3291840"/>
            <a:ext cx="3520440" cy="2194560"/>
          </a:xfrm>
          <a:prstGeom prst="rect">
            <a:avLst/>
          </a:prstGeom>
          <a:noFill/>
          <a:ln/>
        </p:spPr>
        <p:txBody>
          <a:bodyPr wrap="square" lIns="0" tIns="0" rIns="0" bIns="0" rtlCol="0" anchor="t"/>
          <a:lstStyle/>
          <a:p>
            <a:pPr indent="0" marL="0">
              <a:lnSpc>
                <a:spcPct val="115000"/>
              </a:lnSpc>
              <a:buNone/>
            </a:pPr>
            <a:r>
              <a:rPr lang="en-US" sz="1500" dirty="0">
                <a:solidFill>
                  <a:srgbClr val="16181D"/>
                </a:solidFill>
                <a:latin typeface="Arial" pitchFamily="34" charset="0"/>
                <a:ea typeface="Arial" pitchFamily="34" charset="-122"/>
                <a:cs typeface="Arial" pitchFamily="34" charset="-120"/>
              </a:rPr>
              <a:t>Pimcore 6 erhält keine Updates mehr und läuft auf einer PHP- und Symfony-Generation ohne Sicherheitsupdates. Das Betriebsrisiko wächst mit jedem Monat.</a:t>
            </a:r>
            <a:endParaRPr lang="en-US" sz="1500" dirty="0"/>
          </a:p>
        </p:txBody>
      </p:sp>
      <p:sp>
        <p:nvSpPr>
          <p:cNvPr id="12" name="Shape 10"/>
          <p:cNvSpPr/>
          <p:nvPr/>
        </p:nvSpPr>
        <p:spPr>
          <a:xfrm>
            <a:off x="4335628" y="1783080"/>
            <a:ext cx="3520440" cy="685800"/>
          </a:xfrm>
          <a:prstGeom prst="rect">
            <a:avLst/>
          </a:prstGeom>
          <a:solidFill>
            <a:srgbClr val="000E2F"/>
          </a:solidFill>
          <a:ln w="12700">
            <a:solidFill>
              <a:srgbClr val="000E2F"/>
            </a:solidFill>
            <a:prstDash val="solid"/>
          </a:ln>
        </p:spPr>
      </p:sp>
      <p:sp>
        <p:nvSpPr>
          <p:cNvPr id="13" name="Text 11"/>
          <p:cNvSpPr txBox="1"/>
          <p:nvPr/>
        </p:nvSpPr>
        <p:spPr>
          <a:xfrm>
            <a:off x="4518508" y="1783080"/>
            <a:ext cx="2834640" cy="6858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Upgrade auf aktuelles Pimcore</a:t>
            </a:r>
            <a:endParaRPr lang="en-US" sz="1600" dirty="0"/>
          </a:p>
        </p:txBody>
      </p:sp>
      <p:sp>
        <p:nvSpPr>
          <p:cNvPr id="14" name="Text 12"/>
          <p:cNvSpPr txBox="1"/>
          <p:nvPr/>
        </p:nvSpPr>
        <p:spPr>
          <a:xfrm>
            <a:off x="7353148" y="1783080"/>
            <a:ext cx="365760" cy="68580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5" name="Shape 13"/>
          <p:cNvSpPr/>
          <p:nvPr/>
        </p:nvSpPr>
        <p:spPr>
          <a:xfrm>
            <a:off x="4335628" y="2697480"/>
            <a:ext cx="2377440" cy="365760"/>
          </a:xfrm>
          <a:prstGeom prst="roundRect">
            <a:avLst>
              <a:gd name="adj" fmla="val 50000"/>
            </a:avLst>
          </a:prstGeom>
          <a:solidFill>
            <a:srgbClr val="E3E8F4"/>
          </a:solidFill>
          <a:ln w="12700">
            <a:solidFill>
              <a:srgbClr val="E3E8F4"/>
            </a:solidFill>
            <a:prstDash val="solid"/>
          </a:ln>
        </p:spPr>
      </p:sp>
      <p:sp>
        <p:nvSpPr>
          <p:cNvPr id="16" name="Text 14"/>
          <p:cNvSpPr txBox="1"/>
          <p:nvPr/>
        </p:nvSpPr>
        <p:spPr>
          <a:xfrm>
            <a:off x="4335628" y="2697480"/>
            <a:ext cx="2377440" cy="365760"/>
          </a:xfrm>
          <a:prstGeom prst="rect">
            <a:avLst/>
          </a:prstGeom>
          <a:noFill/>
          <a:ln/>
        </p:spPr>
        <p:txBody>
          <a:bodyPr wrap="square" lIns="0" tIns="0" rIns="0" bIns="0" rtlCol="0" anchor="ctr"/>
          <a:lstStyle/>
          <a:p>
            <a:pPr algn="ctr" indent="0" marL="0">
              <a:buNone/>
            </a:pPr>
            <a:r>
              <a:rPr lang="en-US" sz="1200" b="1" dirty="0">
                <a:solidFill>
                  <a:srgbClr val="1B2D5C"/>
                </a:solidFill>
                <a:latin typeface="Arial" pitchFamily="34" charset="0"/>
                <a:ea typeface="Arial" pitchFamily="34" charset="-122"/>
                <a:cs typeface="Arial" pitchFamily="34" charset="-120"/>
              </a:rPr>
              <a:t>Tragfähig, aufwendig</a:t>
            </a:r>
            <a:endParaRPr lang="en-US" sz="1200" dirty="0"/>
          </a:p>
        </p:txBody>
      </p:sp>
      <p:sp>
        <p:nvSpPr>
          <p:cNvPr id="17" name="Text 15"/>
          <p:cNvSpPr txBox="1"/>
          <p:nvPr/>
        </p:nvSpPr>
        <p:spPr>
          <a:xfrm>
            <a:off x="4335628" y="3291840"/>
            <a:ext cx="3520440" cy="2194560"/>
          </a:xfrm>
          <a:prstGeom prst="rect">
            <a:avLst/>
          </a:prstGeom>
          <a:noFill/>
          <a:ln/>
        </p:spPr>
        <p:txBody>
          <a:bodyPr wrap="square" lIns="0" tIns="0" rIns="0" bIns="0" rtlCol="0" anchor="t"/>
          <a:lstStyle/>
          <a:p>
            <a:pPr indent="0" marL="0">
              <a:lnSpc>
                <a:spcPct val="115000"/>
              </a:lnSpc>
              <a:buNone/>
            </a:pPr>
            <a:r>
              <a:rPr lang="en-US" sz="1500" dirty="0">
                <a:solidFill>
                  <a:srgbClr val="16181D"/>
                </a:solidFill>
                <a:latin typeface="Arial" pitchFamily="34" charset="0"/>
                <a:ea typeface="Arial" pitchFamily="34" charset="-122"/>
                <a:cs typeface="Arial" pitchFamily="34" charset="-120"/>
              </a:rPr>
              <a:t>Schrittweise über mehrere Hauptversionen, Eigenentwicklungen auf jeder Stufe anpassen, neue Oberfläche – und erstmals laufende Lizenzkosten.</a:t>
            </a:r>
            <a:endParaRPr lang="en-US" sz="1500" dirty="0"/>
          </a:p>
        </p:txBody>
      </p:sp>
      <p:sp>
        <p:nvSpPr>
          <p:cNvPr id="18" name="Shape 16"/>
          <p:cNvSpPr/>
          <p:nvPr/>
        </p:nvSpPr>
        <p:spPr>
          <a:xfrm>
            <a:off x="8122615" y="1783080"/>
            <a:ext cx="3520440" cy="685800"/>
          </a:xfrm>
          <a:prstGeom prst="rect">
            <a:avLst/>
          </a:prstGeom>
          <a:solidFill>
            <a:srgbClr val="000E2F"/>
          </a:solidFill>
          <a:ln w="12700">
            <a:solidFill>
              <a:srgbClr val="000E2F"/>
            </a:solidFill>
            <a:prstDash val="solid"/>
          </a:ln>
        </p:spPr>
      </p:sp>
      <p:sp>
        <p:nvSpPr>
          <p:cNvPr id="19" name="Text 17"/>
          <p:cNvSpPr txBox="1"/>
          <p:nvPr/>
        </p:nvSpPr>
        <p:spPr>
          <a:xfrm>
            <a:off x="8305495" y="1783080"/>
            <a:ext cx="2834640" cy="6858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Wechsel zu anyPIM</a:t>
            </a:r>
            <a:endParaRPr lang="en-US" sz="1600" dirty="0"/>
          </a:p>
        </p:txBody>
      </p:sp>
      <p:sp>
        <p:nvSpPr>
          <p:cNvPr id="20" name="Text 18"/>
          <p:cNvSpPr txBox="1"/>
          <p:nvPr/>
        </p:nvSpPr>
        <p:spPr>
          <a:xfrm>
            <a:off x="11140135" y="1783080"/>
            <a:ext cx="365760" cy="68580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1" name="Shape 19"/>
          <p:cNvSpPr/>
          <p:nvPr/>
        </p:nvSpPr>
        <p:spPr>
          <a:xfrm>
            <a:off x="8122615" y="2697480"/>
            <a:ext cx="2377440" cy="365760"/>
          </a:xfrm>
          <a:prstGeom prst="roundRect">
            <a:avLst>
              <a:gd name="adj" fmla="val 50000"/>
            </a:avLst>
          </a:prstGeom>
          <a:solidFill>
            <a:srgbClr val="DFF3EA"/>
          </a:solidFill>
          <a:ln w="12700">
            <a:solidFill>
              <a:srgbClr val="DFF3EA"/>
            </a:solidFill>
            <a:prstDash val="solid"/>
          </a:ln>
        </p:spPr>
      </p:sp>
      <p:sp>
        <p:nvSpPr>
          <p:cNvPr id="22" name="Text 20"/>
          <p:cNvSpPr txBox="1"/>
          <p:nvPr/>
        </p:nvSpPr>
        <p:spPr>
          <a:xfrm>
            <a:off x="8122615" y="2697480"/>
            <a:ext cx="2377440" cy="365760"/>
          </a:xfrm>
          <a:prstGeom prst="rect">
            <a:avLst/>
          </a:prstGeom>
          <a:noFill/>
          <a:ln/>
        </p:spPr>
        <p:txBody>
          <a:bodyPr wrap="square" lIns="0" tIns="0" rIns="0" bIns="0" rtlCol="0" anchor="ctr"/>
          <a:lstStyle/>
          <a:p>
            <a:pPr algn="ctr" indent="0" marL="0">
              <a:buNone/>
            </a:pPr>
            <a:r>
              <a:rPr lang="en-US" sz="1200" b="1" dirty="0">
                <a:solidFill>
                  <a:srgbClr val="0F7A4D"/>
                </a:solidFill>
                <a:latin typeface="Arial" pitchFamily="34" charset="0"/>
                <a:ea typeface="Arial" pitchFamily="34" charset="-122"/>
                <a:cs typeface="Arial" pitchFamily="34" charset="-120"/>
              </a:rPr>
              <a:t>Tragfähig · Empfehlung</a:t>
            </a:r>
            <a:endParaRPr lang="en-US" sz="1200" dirty="0"/>
          </a:p>
        </p:txBody>
      </p:sp>
      <p:sp>
        <p:nvSpPr>
          <p:cNvPr id="23" name="Text 21"/>
          <p:cNvSpPr txBox="1"/>
          <p:nvPr/>
        </p:nvSpPr>
        <p:spPr>
          <a:xfrm>
            <a:off x="8122615" y="3291840"/>
            <a:ext cx="3520440" cy="2194560"/>
          </a:xfrm>
          <a:prstGeom prst="rect">
            <a:avLst/>
          </a:prstGeom>
          <a:noFill/>
          <a:ln/>
        </p:spPr>
        <p:txBody>
          <a:bodyPr wrap="square" lIns="0" tIns="0" rIns="0" bIns="0" rtlCol="0" anchor="t"/>
          <a:lstStyle/>
          <a:p>
            <a:pPr indent="0" marL="0">
              <a:lnSpc>
                <a:spcPct val="115000"/>
              </a:lnSpc>
              <a:buNone/>
            </a:pPr>
            <a:r>
              <a:rPr lang="en-US" sz="1500" dirty="0">
                <a:solidFill>
                  <a:srgbClr val="16181D"/>
                </a:solidFill>
                <a:latin typeface="Arial" pitchFamily="34" charset="0"/>
                <a:ea typeface="Arial" pitchFamily="34" charset="-122"/>
                <a:cs typeface="Arial" pitchFamily="34" charset="-120"/>
              </a:rPr>
              <a:t>Einmalige Datenübernahme aus Pimcore 6, danach Standardfunktionen statt Eigenentwicklungen. Keine Lizenzgebühr, schlankerer Betrieb.</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WAS „UPGRADE“ BEI PIMCORE 6 HEISST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Kein Versionssprung, sondern ein Weg über mehrere Hauptversionen.</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3</a:t>
            </a:r>
            <a:endParaRPr lang="en-US" sz="900" dirty="0"/>
          </a:p>
        </p:txBody>
      </p:sp>
      <p:sp>
        <p:nvSpPr>
          <p:cNvPr id="6" name="Shape 4"/>
          <p:cNvSpPr/>
          <p:nvPr/>
        </p:nvSpPr>
        <p:spPr>
          <a:xfrm>
            <a:off x="548640" y="1783080"/>
            <a:ext cx="1051560" cy="1051560"/>
          </a:xfrm>
          <a:prstGeom prst="ellipse">
            <a:avLst/>
          </a:prstGeom>
          <a:solidFill>
            <a:srgbClr val="FFFFFF"/>
          </a:solidFill>
          <a:ln w="25400">
            <a:solidFill>
              <a:srgbClr val="1B2D5C"/>
            </a:solidFill>
            <a:prstDash val="solid"/>
          </a:ln>
        </p:spPr>
      </p:sp>
      <p:sp>
        <p:nvSpPr>
          <p:cNvPr id="7" name="Text 5"/>
          <p:cNvSpPr txBox="1"/>
          <p:nvPr/>
        </p:nvSpPr>
        <p:spPr>
          <a:xfrm>
            <a:off x="548640" y="1783080"/>
            <a:ext cx="1051560" cy="1051560"/>
          </a:xfrm>
          <a:prstGeom prst="rect">
            <a:avLst/>
          </a:prstGeom>
          <a:noFill/>
          <a:ln/>
        </p:spPr>
        <p:txBody>
          <a:bodyPr wrap="square" lIns="0" tIns="0" rIns="0" bIns="0" rtlCol="0" anchor="ctr"/>
          <a:lstStyle/>
          <a:p>
            <a:pPr algn="ctr" indent="0" marL="0">
              <a:buNone/>
            </a:pPr>
            <a:r>
              <a:rPr lang="en-US" sz="3000" dirty="0">
                <a:solidFill>
                  <a:srgbClr val="1B2D5C"/>
                </a:solidFill>
                <a:latin typeface="Arial" pitchFamily="34" charset="0"/>
                <a:ea typeface="Arial" pitchFamily="34" charset="-122"/>
                <a:cs typeface="Arial" pitchFamily="34" charset="-120"/>
              </a:rPr>
              <a:t>6</a:t>
            </a:r>
            <a:endParaRPr lang="en-US" sz="3000" dirty="0"/>
          </a:p>
        </p:txBody>
      </p:sp>
      <p:sp>
        <p:nvSpPr>
          <p:cNvPr id="8" name="Text 6"/>
          <p:cNvSpPr txBox="1"/>
          <p:nvPr/>
        </p:nvSpPr>
        <p:spPr>
          <a:xfrm>
            <a:off x="365760" y="2926080"/>
            <a:ext cx="1417320" cy="640080"/>
          </a:xfrm>
          <a:prstGeom prst="rect">
            <a:avLst/>
          </a:prstGeom>
          <a:noFill/>
          <a:ln/>
        </p:spPr>
        <p:txBody>
          <a:bodyPr wrap="square" lIns="0" tIns="0" rIns="0" bIns="0" rtlCol="0" anchor="t"/>
          <a:lstStyle/>
          <a:p>
            <a:pPr algn="ctr" indent="0" marL="0">
              <a:buNone/>
            </a:pPr>
            <a:r>
              <a:rPr lang="en-US" sz="1100" dirty="0">
                <a:solidFill>
                  <a:srgbClr val="4B5563"/>
                </a:solidFill>
                <a:latin typeface="Arial" pitchFamily="34" charset="0"/>
                <a:ea typeface="Arial" pitchFamily="34" charset="-122"/>
                <a:cs typeface="Arial" pitchFamily="34" charset="-120"/>
              </a:rPr>
              <a:t>Ausgangsstand</a:t>
            </a:r>
            <a:endParaRPr lang="en-US" sz="1100" dirty="0"/>
          </a:p>
        </p:txBody>
      </p:sp>
      <p:sp>
        <p:nvSpPr>
          <p:cNvPr id="9" name="Text 7"/>
          <p:cNvSpPr txBox="1"/>
          <p:nvPr/>
        </p:nvSpPr>
        <p:spPr>
          <a:xfrm>
            <a:off x="1600200" y="1783080"/>
            <a:ext cx="502920" cy="1051560"/>
          </a:xfrm>
          <a:prstGeom prst="rect">
            <a:avLst/>
          </a:prstGeom>
          <a:noFill/>
          <a:ln/>
        </p:spPr>
        <p:txBody>
          <a:bodyPr wrap="square" lIns="0" tIns="0" rIns="0" bIns="0" rtlCol="0" anchor="ctr"/>
          <a:lstStyle/>
          <a:p>
            <a:pPr algn="ctr" indent="0" marL="0">
              <a:buNone/>
            </a:pPr>
            <a:r>
              <a:rPr lang="en-US" sz="2200" dirty="0">
                <a:solidFill>
                  <a:srgbClr val="1B2D5C"/>
                </a:solidFill>
                <a:latin typeface="Arial" pitchFamily="34" charset="0"/>
                <a:ea typeface="Arial" pitchFamily="34" charset="-122"/>
                <a:cs typeface="Arial" pitchFamily="34" charset="-120"/>
              </a:rPr>
              <a:t>→</a:t>
            </a:r>
            <a:endParaRPr lang="en-US" sz="2200" dirty="0"/>
          </a:p>
        </p:txBody>
      </p:sp>
      <p:sp>
        <p:nvSpPr>
          <p:cNvPr id="10" name="Shape 8"/>
          <p:cNvSpPr/>
          <p:nvPr/>
        </p:nvSpPr>
        <p:spPr>
          <a:xfrm>
            <a:off x="2103120" y="1783080"/>
            <a:ext cx="1051560" cy="1051560"/>
          </a:xfrm>
          <a:prstGeom prst="ellipse">
            <a:avLst/>
          </a:prstGeom>
          <a:solidFill>
            <a:srgbClr val="FFFFFF"/>
          </a:solidFill>
          <a:ln w="25400">
            <a:solidFill>
              <a:srgbClr val="1B2D5C"/>
            </a:solidFill>
            <a:prstDash val="solid"/>
          </a:ln>
        </p:spPr>
      </p:sp>
      <p:sp>
        <p:nvSpPr>
          <p:cNvPr id="11" name="Text 9"/>
          <p:cNvSpPr txBox="1"/>
          <p:nvPr/>
        </p:nvSpPr>
        <p:spPr>
          <a:xfrm>
            <a:off x="2103120" y="1783080"/>
            <a:ext cx="1051560" cy="1051560"/>
          </a:xfrm>
          <a:prstGeom prst="rect">
            <a:avLst/>
          </a:prstGeom>
          <a:noFill/>
          <a:ln/>
        </p:spPr>
        <p:txBody>
          <a:bodyPr wrap="square" lIns="0" tIns="0" rIns="0" bIns="0" rtlCol="0" anchor="ctr"/>
          <a:lstStyle/>
          <a:p>
            <a:pPr algn="ctr" indent="0" marL="0">
              <a:buNone/>
            </a:pPr>
            <a:r>
              <a:rPr lang="en-US" sz="3000" dirty="0">
                <a:solidFill>
                  <a:srgbClr val="1B2D5C"/>
                </a:solidFill>
                <a:latin typeface="Arial" pitchFamily="34" charset="0"/>
                <a:ea typeface="Arial" pitchFamily="34" charset="-122"/>
                <a:cs typeface="Arial" pitchFamily="34" charset="-120"/>
              </a:rPr>
              <a:t>10</a:t>
            </a:r>
            <a:endParaRPr lang="en-US" sz="3000" dirty="0"/>
          </a:p>
        </p:txBody>
      </p:sp>
      <p:sp>
        <p:nvSpPr>
          <p:cNvPr id="12" name="Text 10"/>
          <p:cNvSpPr txBox="1"/>
          <p:nvPr/>
        </p:nvSpPr>
        <p:spPr>
          <a:xfrm>
            <a:off x="1920240" y="2926080"/>
            <a:ext cx="1417320" cy="640080"/>
          </a:xfrm>
          <a:prstGeom prst="rect">
            <a:avLst/>
          </a:prstGeom>
          <a:noFill/>
          <a:ln/>
        </p:spPr>
        <p:txBody>
          <a:bodyPr wrap="square" lIns="0" tIns="0" rIns="0" bIns="0" rtlCol="0" anchor="t"/>
          <a:lstStyle/>
          <a:p>
            <a:pPr algn="ctr" indent="0" marL="0">
              <a:buNone/>
            </a:pPr>
            <a:r>
              <a:rPr lang="en-US" sz="1100" dirty="0">
                <a:solidFill>
                  <a:srgbClr val="4B5563"/>
                </a:solidFill>
                <a:latin typeface="Arial" pitchFamily="34" charset="0"/>
                <a:ea typeface="Arial" pitchFamily="34" charset="-122"/>
                <a:cs typeface="Arial" pitchFamily="34" charset="-120"/>
              </a:rPr>
              <a:t>Symfony 5,</a:t>
            </a:r>
            <a:endParaRPr lang="en-US" sz="1100" dirty="0"/>
          </a:p>
          <a:p>
            <a:pPr algn="ctr" indent="0" marL="0">
              <a:buNone/>
            </a:pPr>
            <a:r>
              <a:rPr lang="en-US" sz="1100" dirty="0">
                <a:solidFill>
                  <a:srgbClr val="4B5563"/>
                </a:solidFill>
                <a:latin typeface="Arial" pitchFamily="34" charset="0"/>
                <a:ea typeface="Arial" pitchFamily="34" charset="-122"/>
                <a:cs typeface="Arial" pitchFamily="34" charset="-120"/>
              </a:rPr>
              <a:t>PHP 8</a:t>
            </a:r>
            <a:endParaRPr lang="en-US" sz="1100" dirty="0"/>
          </a:p>
        </p:txBody>
      </p:sp>
      <p:sp>
        <p:nvSpPr>
          <p:cNvPr id="13" name="Text 11"/>
          <p:cNvSpPr txBox="1"/>
          <p:nvPr/>
        </p:nvSpPr>
        <p:spPr>
          <a:xfrm>
            <a:off x="3154680" y="1783080"/>
            <a:ext cx="502920" cy="1051560"/>
          </a:xfrm>
          <a:prstGeom prst="rect">
            <a:avLst/>
          </a:prstGeom>
          <a:noFill/>
          <a:ln/>
        </p:spPr>
        <p:txBody>
          <a:bodyPr wrap="square" lIns="0" tIns="0" rIns="0" bIns="0" rtlCol="0" anchor="ctr"/>
          <a:lstStyle/>
          <a:p>
            <a:pPr algn="ctr" indent="0" marL="0">
              <a:buNone/>
            </a:pPr>
            <a:r>
              <a:rPr lang="en-US" sz="2200" dirty="0">
                <a:solidFill>
                  <a:srgbClr val="1B2D5C"/>
                </a:solidFill>
                <a:latin typeface="Arial" pitchFamily="34" charset="0"/>
                <a:ea typeface="Arial" pitchFamily="34" charset="-122"/>
                <a:cs typeface="Arial" pitchFamily="34" charset="-120"/>
              </a:rPr>
              <a:t>→</a:t>
            </a:r>
            <a:endParaRPr lang="en-US" sz="2200" dirty="0"/>
          </a:p>
        </p:txBody>
      </p:sp>
      <p:sp>
        <p:nvSpPr>
          <p:cNvPr id="14" name="Shape 12"/>
          <p:cNvSpPr/>
          <p:nvPr/>
        </p:nvSpPr>
        <p:spPr>
          <a:xfrm>
            <a:off x="3657600" y="1783080"/>
            <a:ext cx="1051560" cy="1051560"/>
          </a:xfrm>
          <a:prstGeom prst="ellipse">
            <a:avLst/>
          </a:prstGeom>
          <a:solidFill>
            <a:srgbClr val="FFFFFF"/>
          </a:solidFill>
          <a:ln w="25400">
            <a:solidFill>
              <a:srgbClr val="1B2D5C"/>
            </a:solidFill>
            <a:prstDash val="solid"/>
          </a:ln>
        </p:spPr>
      </p:sp>
      <p:sp>
        <p:nvSpPr>
          <p:cNvPr id="15" name="Text 13"/>
          <p:cNvSpPr txBox="1"/>
          <p:nvPr/>
        </p:nvSpPr>
        <p:spPr>
          <a:xfrm>
            <a:off x="3657600" y="1783080"/>
            <a:ext cx="1051560" cy="1051560"/>
          </a:xfrm>
          <a:prstGeom prst="rect">
            <a:avLst/>
          </a:prstGeom>
          <a:noFill/>
          <a:ln/>
        </p:spPr>
        <p:txBody>
          <a:bodyPr wrap="square" lIns="0" tIns="0" rIns="0" bIns="0" rtlCol="0" anchor="ctr"/>
          <a:lstStyle/>
          <a:p>
            <a:pPr algn="ctr" indent="0" marL="0">
              <a:buNone/>
            </a:pPr>
            <a:r>
              <a:rPr lang="en-US" sz="3000" dirty="0">
                <a:solidFill>
                  <a:srgbClr val="1B2D5C"/>
                </a:solidFill>
                <a:latin typeface="Arial" pitchFamily="34" charset="0"/>
                <a:ea typeface="Arial" pitchFamily="34" charset="-122"/>
                <a:cs typeface="Arial" pitchFamily="34" charset="-120"/>
              </a:rPr>
              <a:t>11</a:t>
            </a:r>
            <a:endParaRPr lang="en-US" sz="3000" dirty="0"/>
          </a:p>
        </p:txBody>
      </p:sp>
      <p:sp>
        <p:nvSpPr>
          <p:cNvPr id="16" name="Text 14"/>
          <p:cNvSpPr txBox="1"/>
          <p:nvPr/>
        </p:nvSpPr>
        <p:spPr>
          <a:xfrm>
            <a:off x="3474720" y="2926080"/>
            <a:ext cx="1417320" cy="640080"/>
          </a:xfrm>
          <a:prstGeom prst="rect">
            <a:avLst/>
          </a:prstGeom>
          <a:noFill/>
          <a:ln/>
        </p:spPr>
        <p:txBody>
          <a:bodyPr wrap="square" lIns="0" tIns="0" rIns="0" bIns="0" rtlCol="0" anchor="t"/>
          <a:lstStyle/>
          <a:p>
            <a:pPr algn="ctr" indent="0" marL="0">
              <a:buNone/>
            </a:pPr>
            <a:r>
              <a:rPr lang="en-US" sz="1100" dirty="0">
                <a:solidFill>
                  <a:srgbClr val="4B5563"/>
                </a:solidFill>
                <a:latin typeface="Arial" pitchFamily="34" charset="0"/>
                <a:ea typeface="Arial" pitchFamily="34" charset="-122"/>
                <a:cs typeface="Arial" pitchFamily="34" charset="-120"/>
              </a:rPr>
              <a:t>Symfony 6,</a:t>
            </a:r>
            <a:endParaRPr lang="en-US" sz="1100" dirty="0"/>
          </a:p>
          <a:p>
            <a:pPr algn="ctr" indent="0" marL="0">
              <a:buNone/>
            </a:pPr>
            <a:r>
              <a:rPr lang="en-US" sz="1100" dirty="0">
                <a:solidFill>
                  <a:srgbClr val="4B5563"/>
                </a:solidFill>
                <a:latin typeface="Arial" pitchFamily="34" charset="0"/>
                <a:ea typeface="Arial" pitchFamily="34" charset="-122"/>
                <a:cs typeface="Arial" pitchFamily="34" charset="-120"/>
              </a:rPr>
              <a:t>Bundles ausgelagert</a:t>
            </a:r>
            <a:endParaRPr lang="en-US" sz="1100" dirty="0"/>
          </a:p>
        </p:txBody>
      </p:sp>
      <p:sp>
        <p:nvSpPr>
          <p:cNvPr id="17" name="Text 15"/>
          <p:cNvSpPr txBox="1"/>
          <p:nvPr/>
        </p:nvSpPr>
        <p:spPr>
          <a:xfrm>
            <a:off x="4709160" y="1783080"/>
            <a:ext cx="502920" cy="1051560"/>
          </a:xfrm>
          <a:prstGeom prst="rect">
            <a:avLst/>
          </a:prstGeom>
          <a:noFill/>
          <a:ln/>
        </p:spPr>
        <p:txBody>
          <a:bodyPr wrap="square" lIns="0" tIns="0" rIns="0" bIns="0" rtlCol="0" anchor="ctr"/>
          <a:lstStyle/>
          <a:p>
            <a:pPr algn="ctr" indent="0" marL="0">
              <a:buNone/>
            </a:pPr>
            <a:r>
              <a:rPr lang="en-US" sz="2200" dirty="0">
                <a:solidFill>
                  <a:srgbClr val="1B2D5C"/>
                </a:solidFill>
                <a:latin typeface="Arial" pitchFamily="34" charset="0"/>
                <a:ea typeface="Arial" pitchFamily="34" charset="-122"/>
                <a:cs typeface="Arial" pitchFamily="34" charset="-120"/>
              </a:rPr>
              <a:t>→</a:t>
            </a:r>
            <a:endParaRPr lang="en-US" sz="2200" dirty="0"/>
          </a:p>
        </p:txBody>
      </p:sp>
      <p:sp>
        <p:nvSpPr>
          <p:cNvPr id="18" name="Shape 16"/>
          <p:cNvSpPr/>
          <p:nvPr/>
        </p:nvSpPr>
        <p:spPr>
          <a:xfrm>
            <a:off x="5212080" y="1783080"/>
            <a:ext cx="1051560" cy="1051560"/>
          </a:xfrm>
          <a:prstGeom prst="ellipse">
            <a:avLst/>
          </a:prstGeom>
          <a:solidFill>
            <a:srgbClr val="1B2D5C"/>
          </a:solidFill>
          <a:ln w="25400">
            <a:solidFill>
              <a:srgbClr val="1B2D5C"/>
            </a:solidFill>
            <a:prstDash val="solid"/>
          </a:ln>
        </p:spPr>
      </p:sp>
      <p:sp>
        <p:nvSpPr>
          <p:cNvPr id="19" name="Text 17"/>
          <p:cNvSpPr txBox="1"/>
          <p:nvPr/>
        </p:nvSpPr>
        <p:spPr>
          <a:xfrm>
            <a:off x="5212080" y="1783080"/>
            <a:ext cx="1051560" cy="105156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2025+</a:t>
            </a:r>
            <a:endParaRPr lang="en-US" sz="2000" dirty="0"/>
          </a:p>
        </p:txBody>
      </p:sp>
      <p:sp>
        <p:nvSpPr>
          <p:cNvPr id="20" name="Text 18"/>
          <p:cNvSpPr txBox="1"/>
          <p:nvPr/>
        </p:nvSpPr>
        <p:spPr>
          <a:xfrm>
            <a:off x="5029200" y="2926080"/>
            <a:ext cx="1417320" cy="640080"/>
          </a:xfrm>
          <a:prstGeom prst="rect">
            <a:avLst/>
          </a:prstGeom>
          <a:noFill/>
          <a:ln/>
        </p:spPr>
        <p:txBody>
          <a:bodyPr wrap="square" lIns="0" tIns="0" rIns="0" bIns="0" rtlCol="0" anchor="t"/>
          <a:lstStyle/>
          <a:p>
            <a:pPr algn="ctr" indent="0" marL="0">
              <a:buNone/>
            </a:pPr>
            <a:r>
              <a:rPr lang="en-US" sz="1100" dirty="0">
                <a:solidFill>
                  <a:srgbClr val="4B5563"/>
                </a:solidFill>
                <a:latin typeface="Arial" pitchFamily="34" charset="0"/>
                <a:ea typeface="Arial" pitchFamily="34" charset="-122"/>
                <a:cs typeface="Arial" pitchFamily="34" charset="-120"/>
              </a:rPr>
              <a:t>POCL-Lizenz,</a:t>
            </a:r>
            <a:endParaRPr lang="en-US" sz="1100" dirty="0"/>
          </a:p>
          <a:p>
            <a:pPr algn="ctr" indent="0" marL="0">
              <a:buNone/>
            </a:pPr>
            <a:r>
              <a:rPr lang="en-US" sz="1100" dirty="0">
                <a:solidFill>
                  <a:srgbClr val="4B5563"/>
                </a:solidFill>
                <a:latin typeface="Arial" pitchFamily="34" charset="0"/>
                <a:ea typeface="Arial" pitchFamily="34" charset="-122"/>
                <a:cs typeface="Arial" pitchFamily="34" charset="-120"/>
              </a:rPr>
              <a:t>Pimcore Studio</a:t>
            </a:r>
            <a:endParaRPr lang="en-US" sz="1100" dirty="0"/>
          </a:p>
        </p:txBody>
      </p:sp>
      <p:sp>
        <p:nvSpPr>
          <p:cNvPr id="21" name="Text 19"/>
          <p:cNvSpPr txBox="1"/>
          <p:nvPr/>
        </p:nvSpPr>
        <p:spPr>
          <a:xfrm>
            <a:off x="548640" y="3794760"/>
            <a:ext cx="5852160" cy="237744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Jede Stufe bringt neue PHP- und Symfony-Anforderungen – Eigenentwicklungen müssen jedes Mal angepasst werden.</a:t>
            </a:r>
            <a:endParaRPr lang="en-US" sz="1400" dirty="0"/>
          </a:p>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Die Plattform ist umgebaut: Funktionen in separate Bundles ausgelagert, neue Oberfläche Pimcore Studio, Suchindex auf OpenSearch bzw. Elasticsearch.</a:t>
            </a:r>
            <a:endParaRPr lang="en-US" sz="1400" dirty="0"/>
          </a:p>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Pimcore 6 lief unter GPL. Das aktuelle Pimcore steht unter der Pimcore Open Core License.</a:t>
            </a:r>
            <a:endParaRPr lang="en-US" sz="1400" dirty="0"/>
          </a:p>
        </p:txBody>
      </p:sp>
      <p:sp>
        <p:nvSpPr>
          <p:cNvPr id="22" name="Shape 20"/>
          <p:cNvSpPr/>
          <p:nvPr/>
        </p:nvSpPr>
        <p:spPr>
          <a:xfrm>
            <a:off x="6903720" y="1783080"/>
            <a:ext cx="4739335" cy="2834640"/>
          </a:xfrm>
          <a:prstGeom prst="rect">
            <a:avLst/>
          </a:prstGeom>
          <a:solidFill>
            <a:srgbClr val="C6E6E3"/>
          </a:solidFill>
          <a:ln w="12700">
            <a:solidFill>
              <a:srgbClr val="C6E6E3"/>
            </a:solidFill>
            <a:prstDash val="solid"/>
          </a:ln>
        </p:spPr>
      </p:sp>
      <p:sp>
        <p:nvSpPr>
          <p:cNvPr id="23" name="Text 21"/>
          <p:cNvSpPr txBox="1"/>
          <p:nvPr/>
        </p:nvSpPr>
        <p:spPr>
          <a:xfrm>
            <a:off x="7223760" y="2011680"/>
            <a:ext cx="4114800" cy="1005840"/>
          </a:xfrm>
          <a:prstGeom prst="rect">
            <a:avLst/>
          </a:prstGeom>
          <a:noFill/>
          <a:ln/>
        </p:spPr>
        <p:txBody>
          <a:bodyPr wrap="square" lIns="0" tIns="0" rIns="0" bIns="0" rtlCol="0" anchor="t"/>
          <a:lstStyle/>
          <a:p>
            <a:pPr indent="0" marL="0">
              <a:buNone/>
            </a:pPr>
            <a:r>
              <a:rPr lang="en-US" sz="6000" dirty="0">
                <a:solidFill>
                  <a:srgbClr val="000E2F"/>
                </a:solidFill>
                <a:latin typeface="Arial" pitchFamily="34" charset="0"/>
                <a:ea typeface="Arial" pitchFamily="34" charset="-122"/>
                <a:cs typeface="Arial" pitchFamily="34" charset="-120"/>
              </a:rPr>
              <a:t>5 Mio. €</a:t>
            </a:r>
            <a:endParaRPr lang="en-US" sz="6000" dirty="0"/>
          </a:p>
        </p:txBody>
      </p:sp>
      <p:sp>
        <p:nvSpPr>
          <p:cNvPr id="24" name="Text 22"/>
          <p:cNvSpPr txBox="1"/>
          <p:nvPr/>
        </p:nvSpPr>
        <p:spPr>
          <a:xfrm>
            <a:off x="7223760" y="3108960"/>
            <a:ext cx="4114800" cy="1371600"/>
          </a:xfrm>
          <a:prstGeom prst="rect">
            <a:avLst/>
          </a:prstGeom>
          <a:noFill/>
          <a:ln/>
        </p:spPr>
        <p:txBody>
          <a:bodyPr wrap="square" lIns="0" tIns="0" rIns="0" bIns="0" rtlCol="0" anchor="t"/>
          <a:lstStyle/>
          <a:p>
            <a:pPr indent="0" marL="0">
              <a:lnSpc>
                <a:spcPct val="110000"/>
              </a:lnSpc>
              <a:buNone/>
            </a:pPr>
            <a:r>
              <a:rPr lang="en-US" sz="1300" dirty="0">
                <a:solidFill>
                  <a:srgbClr val="16181D"/>
                </a:solidFill>
                <a:latin typeface="Arial" pitchFamily="34" charset="0"/>
                <a:ea typeface="Arial" pitchFamily="34" charset="-122"/>
                <a:cs typeface="Arial" pitchFamily="34" charset="-120"/>
              </a:rPr>
              <a:t>Umsatzgrenze der kostenfreien Pimcore Community Edition seit Version 2025.1. Darüber ist eine kommerzielle Lizenz nötig – für ein Verlagshaus in der Größe von Kohlhammer eine neue laufende Kostenposition.</a:t>
            </a:r>
            <a:endParaRPr lang="en-US" sz="1300" dirty="0"/>
          </a:p>
        </p:txBody>
      </p:sp>
      <p:sp>
        <p:nvSpPr>
          <p:cNvPr id="25" name="Text 23"/>
          <p:cNvSpPr txBox="1"/>
          <p:nvPr/>
        </p:nvSpPr>
        <p:spPr>
          <a:xfrm>
            <a:off x="6903720" y="4892040"/>
            <a:ext cx="4739335" cy="1188720"/>
          </a:xfrm>
          <a:prstGeom prst="rect">
            <a:avLst/>
          </a:prstGeom>
          <a:noFill/>
          <a:ln/>
        </p:spPr>
        <p:txBody>
          <a:bodyPr wrap="square" lIns="0" tIns="0" rIns="0" bIns="0" rtlCol="0" anchor="t"/>
          <a:lstStyle/>
          <a:p>
            <a:pPr indent="0" marL="0">
              <a:lnSpc>
                <a:spcPct val="110000"/>
              </a:lnSpc>
              <a:buNone/>
            </a:pPr>
            <a:r>
              <a:rPr lang="en-US" sz="1500" b="1" dirty="0">
                <a:solidFill>
                  <a:srgbClr val="1B2D5C"/>
                </a:solidFill>
                <a:latin typeface="Arial" pitchFamily="34" charset="0"/>
                <a:ea typeface="Arial" pitchFamily="34" charset="-122"/>
                <a:cs typeface="Arial" pitchFamily="34" charset="-120"/>
              </a:rPr>
              <a:t>Fazit: </a:t>
            </a:r>
            <a:pPr indent="0" marL="0">
              <a:lnSpc>
                <a:spcPct val="110000"/>
              </a:lnSpc>
              <a:buNone/>
            </a:pPr>
            <a:r>
              <a:rPr lang="en-US" sz="1500" dirty="0">
                <a:solidFill>
                  <a:srgbClr val="1B2D5C"/>
                </a:solidFill>
                <a:latin typeface="Arial" pitchFamily="34" charset="0"/>
                <a:ea typeface="Arial" pitchFamily="34" charset="-122"/>
                <a:cs typeface="Arial" pitchFamily="34" charset="-120"/>
              </a:rPr>
              <a:t>Das Upgrade ist in der Praxis ein Neuprojekt auf derselben Marke. Damit ist jetzt der richtige Zeitpunkt, die Systemfrage offen zu stellen.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AUSGANGSLAGE</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Was das Programm von einem PIM verlangt – schon im öffentlichen Auftritt ablesbar.</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4</a:t>
            </a:r>
            <a:endParaRPr lang="en-US" sz="900" dirty="0"/>
          </a:p>
        </p:txBody>
      </p:sp>
      <p:sp>
        <p:nvSpPr>
          <p:cNvPr id="6" name="Shape 4"/>
          <p:cNvSpPr/>
          <p:nvPr/>
        </p:nvSpPr>
        <p:spPr>
          <a:xfrm>
            <a:off x="548640" y="1700784"/>
            <a:ext cx="182880" cy="182880"/>
          </a:xfrm>
          <a:prstGeom prst="rect">
            <a:avLst/>
          </a:prstGeom>
          <a:solidFill>
            <a:srgbClr val="000E2F"/>
          </a:solidFill>
          <a:ln w="12700">
            <a:solidFill>
              <a:srgbClr val="000E2F"/>
            </a:solidFill>
            <a:prstDash val="solid"/>
          </a:ln>
        </p:spPr>
      </p:sp>
      <p:sp>
        <p:nvSpPr>
          <p:cNvPr id="7" name="Text 5"/>
          <p:cNvSpPr txBox="1"/>
          <p:nvPr/>
        </p:nvSpPr>
        <p:spPr>
          <a:xfrm>
            <a:off x="960120" y="1645920"/>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Fachbereiche als Baum</a:t>
            </a:r>
            <a:endParaRPr lang="en-US" sz="1600" dirty="0"/>
          </a:p>
        </p:txBody>
      </p:sp>
      <p:sp>
        <p:nvSpPr>
          <p:cNvPr id="8" name="Text 6"/>
          <p:cNvSpPr txBox="1"/>
          <p:nvPr/>
        </p:nvSpPr>
        <p:spPr>
          <a:xfrm>
            <a:off x="960120" y="1956816"/>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z. B. Brandschutz › Bautechnik / Vorbeugender Brandschutz, Brandeinsatz, Dienstvorschriften</a:t>
            </a:r>
            <a:endParaRPr lang="en-US" sz="1200" dirty="0"/>
          </a:p>
        </p:txBody>
      </p:sp>
      <p:sp>
        <p:nvSpPr>
          <p:cNvPr id="9" name="Shape 7"/>
          <p:cNvSpPr/>
          <p:nvPr/>
        </p:nvSpPr>
        <p:spPr>
          <a:xfrm>
            <a:off x="548640" y="2459736"/>
            <a:ext cx="182880" cy="182880"/>
          </a:xfrm>
          <a:prstGeom prst="rect">
            <a:avLst/>
          </a:prstGeom>
          <a:solidFill>
            <a:srgbClr val="000E2F"/>
          </a:solidFill>
          <a:ln w="12700">
            <a:solidFill>
              <a:srgbClr val="000E2F"/>
            </a:solidFill>
            <a:prstDash val="solid"/>
          </a:ln>
        </p:spPr>
      </p:sp>
      <p:sp>
        <p:nvSpPr>
          <p:cNvPr id="10" name="Text 8"/>
          <p:cNvSpPr txBox="1"/>
          <p:nvPr/>
        </p:nvSpPr>
        <p:spPr>
          <a:xfrm>
            <a:off x="960120" y="2404872"/>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Ein Werk, mehrere Ausgaben</a:t>
            </a:r>
            <a:endParaRPr lang="en-US" sz="1600" dirty="0"/>
          </a:p>
        </p:txBody>
      </p:sp>
      <p:sp>
        <p:nvSpPr>
          <p:cNvPr id="11" name="Text 9"/>
          <p:cNvSpPr txBox="1"/>
          <p:nvPr/>
        </p:nvSpPr>
        <p:spPr>
          <a:xfrm>
            <a:off x="960120" y="2715768"/>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Print, eBook (PDF), eBook (ePub) – eigene Preise und Kennungen, gemeinsamer Inhalt</a:t>
            </a:r>
            <a:endParaRPr lang="en-US" sz="1200" dirty="0"/>
          </a:p>
        </p:txBody>
      </p:sp>
      <p:sp>
        <p:nvSpPr>
          <p:cNvPr id="12" name="Shape 10"/>
          <p:cNvSpPr/>
          <p:nvPr/>
        </p:nvSpPr>
        <p:spPr>
          <a:xfrm>
            <a:off x="548640" y="3218688"/>
            <a:ext cx="182880" cy="182880"/>
          </a:xfrm>
          <a:prstGeom prst="rect">
            <a:avLst/>
          </a:prstGeom>
          <a:solidFill>
            <a:srgbClr val="000E2F"/>
          </a:solidFill>
          <a:ln w="12700">
            <a:solidFill>
              <a:srgbClr val="000E2F"/>
            </a:solidFill>
            <a:prstDash val="solid"/>
          </a:ln>
        </p:spPr>
      </p:sp>
      <p:sp>
        <p:nvSpPr>
          <p:cNvPr id="13" name="Text 11"/>
          <p:cNvSpPr txBox="1"/>
          <p:nvPr/>
        </p:nvSpPr>
        <p:spPr>
          <a:xfrm>
            <a:off x="960120" y="3163824"/>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Reihen und Bände</a:t>
            </a:r>
            <a:endParaRPr lang="en-US" sz="1600" dirty="0"/>
          </a:p>
        </p:txBody>
      </p:sp>
      <p:sp>
        <p:nvSpPr>
          <p:cNvPr id="14" name="Text 12"/>
          <p:cNvSpPr txBox="1"/>
          <p:nvPr/>
        </p:nvSpPr>
        <p:spPr>
          <a:xfrm>
            <a:off x="960120" y="3474720"/>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„Die Roten Hefte, Band 75“ samt „Mehr aus der Reihe“ im Shop</a:t>
            </a:r>
            <a:endParaRPr lang="en-US" sz="1200" dirty="0"/>
          </a:p>
        </p:txBody>
      </p:sp>
      <p:sp>
        <p:nvSpPr>
          <p:cNvPr id="15" name="Shape 13"/>
          <p:cNvSpPr/>
          <p:nvPr/>
        </p:nvSpPr>
        <p:spPr>
          <a:xfrm>
            <a:off x="548640" y="3977640"/>
            <a:ext cx="182880" cy="182880"/>
          </a:xfrm>
          <a:prstGeom prst="rect">
            <a:avLst/>
          </a:prstGeom>
          <a:solidFill>
            <a:srgbClr val="000E2F"/>
          </a:solidFill>
          <a:ln w="12700">
            <a:solidFill>
              <a:srgbClr val="000E2F"/>
            </a:solidFill>
            <a:prstDash val="solid"/>
          </a:ln>
        </p:spPr>
      </p:sp>
      <p:sp>
        <p:nvSpPr>
          <p:cNvPr id="16" name="Text 14"/>
          <p:cNvSpPr txBox="1"/>
          <p:nvPr/>
        </p:nvSpPr>
        <p:spPr>
          <a:xfrm>
            <a:off x="960120" y="3922776"/>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Bibliografische Tiefe</a:t>
            </a:r>
            <a:endParaRPr lang="en-US" sz="1600" dirty="0"/>
          </a:p>
        </p:txBody>
      </p:sp>
      <p:sp>
        <p:nvSpPr>
          <p:cNvPr id="17" name="Text 15"/>
          <p:cNvSpPr txBox="1"/>
          <p:nvPr/>
        </p:nvSpPr>
        <p:spPr>
          <a:xfrm>
            <a:off x="960120" y="4233672"/>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Auflage, Jahr, Seiten, Abbildungen, Tabellen, Einband, Format, ISBN, Lieferstatus</a:t>
            </a:r>
            <a:endParaRPr lang="en-US" sz="1200" dirty="0"/>
          </a:p>
        </p:txBody>
      </p:sp>
      <p:sp>
        <p:nvSpPr>
          <p:cNvPr id="18" name="Shape 16"/>
          <p:cNvSpPr/>
          <p:nvPr/>
        </p:nvSpPr>
        <p:spPr>
          <a:xfrm>
            <a:off x="548640" y="4736592"/>
            <a:ext cx="182880" cy="182880"/>
          </a:xfrm>
          <a:prstGeom prst="rect">
            <a:avLst/>
          </a:prstGeom>
          <a:solidFill>
            <a:srgbClr val="000E2F"/>
          </a:solidFill>
          <a:ln w="12700">
            <a:solidFill>
              <a:srgbClr val="000E2F"/>
            </a:solidFill>
            <a:prstDash val="solid"/>
          </a:ln>
        </p:spPr>
      </p:sp>
      <p:sp>
        <p:nvSpPr>
          <p:cNvPr id="19" name="Text 17"/>
          <p:cNvSpPr txBox="1"/>
          <p:nvPr/>
        </p:nvSpPr>
        <p:spPr>
          <a:xfrm>
            <a:off x="960120" y="4681728"/>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Heterogenes Programm</a:t>
            </a:r>
            <a:endParaRPr lang="en-US" sz="1600" dirty="0"/>
          </a:p>
        </p:txBody>
      </p:sp>
      <p:sp>
        <p:nvSpPr>
          <p:cNvPr id="20" name="Text 18"/>
          <p:cNvSpPr txBox="1"/>
          <p:nvPr/>
        </p:nvSpPr>
        <p:spPr>
          <a:xfrm>
            <a:off x="960120" y="4992624"/>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Bücher, Zeitschriften, Formulare, Formularsoftware, Verlag für Ärzte / Schulen, Seminare</a:t>
            </a:r>
            <a:endParaRPr lang="en-US" sz="1200" dirty="0"/>
          </a:p>
        </p:txBody>
      </p:sp>
      <p:sp>
        <p:nvSpPr>
          <p:cNvPr id="21" name="Shape 19"/>
          <p:cNvSpPr/>
          <p:nvPr/>
        </p:nvSpPr>
        <p:spPr>
          <a:xfrm>
            <a:off x="548640" y="5495544"/>
            <a:ext cx="182880" cy="182880"/>
          </a:xfrm>
          <a:prstGeom prst="rect">
            <a:avLst/>
          </a:prstGeom>
          <a:solidFill>
            <a:srgbClr val="000E2F"/>
          </a:solidFill>
          <a:ln w="12700">
            <a:solidFill>
              <a:srgbClr val="000E2F"/>
            </a:solidFill>
            <a:prstDash val="solid"/>
          </a:ln>
        </p:spPr>
      </p:sp>
      <p:sp>
        <p:nvSpPr>
          <p:cNvPr id="22" name="Text 20"/>
          <p:cNvSpPr txBox="1"/>
          <p:nvPr/>
        </p:nvSpPr>
        <p:spPr>
          <a:xfrm>
            <a:off x="960120" y="5440680"/>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Viele Abnehmer derselben Daten</a:t>
            </a:r>
            <a:endParaRPr lang="en-US" sz="1600" dirty="0"/>
          </a:p>
        </p:txBody>
      </p:sp>
      <p:sp>
        <p:nvSpPr>
          <p:cNvPr id="23" name="Text 21"/>
          <p:cNvSpPr txBox="1"/>
          <p:nvPr/>
        </p:nvSpPr>
        <p:spPr>
          <a:xfrm>
            <a:off x="960120" y="5751576"/>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Shop, Buchhandel, Bibliotheken, Presse, Foreign Rights &amp; Licensing, Mediadaten</a:t>
            </a:r>
            <a:endParaRPr lang="en-US" sz="1200" dirty="0"/>
          </a:p>
        </p:txBody>
      </p:sp>
      <p:sp>
        <p:nvSpPr>
          <p:cNvPr id="24" name="Text 22"/>
          <p:cNvSpPr txBox="1"/>
          <p:nvPr/>
        </p:nvSpPr>
        <p:spPr>
          <a:xfrm>
            <a:off x="7955280" y="1645920"/>
            <a:ext cx="3657600" cy="274320"/>
          </a:xfrm>
          <a:prstGeom prst="rect">
            <a:avLst/>
          </a:prstGeom>
          <a:noFill/>
          <a:ln/>
        </p:spPr>
        <p:txBody>
          <a:bodyPr wrap="square" lIns="0" tIns="0" rIns="0" bIns="0" rtlCol="0" anchor="t"/>
          <a:lstStyle/>
          <a:p>
            <a:pPr indent="0" marL="0">
              <a:buNone/>
            </a:pPr>
            <a:r>
              <a:rPr lang="en-US" sz="1100" b="1" spc="100" kern="0" dirty="0">
                <a:solidFill>
                  <a:srgbClr val="4B5563"/>
                </a:solidFill>
                <a:latin typeface="Arial" pitchFamily="34" charset="0"/>
                <a:ea typeface="Arial" pitchFamily="34" charset="-122"/>
                <a:cs typeface="Arial" pitchFamily="34" charset="-120"/>
              </a:rPr>
              <a:t>PRODUKTARTEN IM PROGRAMM</a:t>
            </a:r>
            <a:endParaRPr lang="en-US" sz="1100" dirty="0"/>
          </a:p>
        </p:txBody>
      </p:sp>
      <p:sp>
        <p:nvSpPr>
          <p:cNvPr id="25" name="Shape 23"/>
          <p:cNvSpPr/>
          <p:nvPr/>
        </p:nvSpPr>
        <p:spPr>
          <a:xfrm>
            <a:off x="7955280" y="2103120"/>
            <a:ext cx="2651760" cy="420624"/>
          </a:xfrm>
          <a:prstGeom prst="roundRect">
            <a:avLst>
              <a:gd name="adj" fmla="val 50000"/>
            </a:avLst>
          </a:prstGeom>
          <a:solidFill>
            <a:srgbClr val="EEF0F2"/>
          </a:solidFill>
          <a:ln w="12700">
            <a:solidFill>
              <a:srgbClr val="EEF0F2"/>
            </a:solidFill>
            <a:prstDash val="solid"/>
          </a:ln>
        </p:spPr>
      </p:sp>
      <p:sp>
        <p:nvSpPr>
          <p:cNvPr id="26" name="Text 24"/>
          <p:cNvSpPr txBox="1"/>
          <p:nvPr/>
        </p:nvSpPr>
        <p:spPr>
          <a:xfrm>
            <a:off x="8183880" y="210312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Buch</a:t>
            </a:r>
            <a:endParaRPr lang="en-US" sz="1400" dirty="0"/>
          </a:p>
        </p:txBody>
      </p:sp>
      <p:sp>
        <p:nvSpPr>
          <p:cNvPr id="27" name="Text 25"/>
          <p:cNvSpPr txBox="1"/>
          <p:nvPr/>
        </p:nvSpPr>
        <p:spPr>
          <a:xfrm>
            <a:off x="10149840" y="210312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28" name="Shape 26"/>
          <p:cNvSpPr/>
          <p:nvPr/>
        </p:nvSpPr>
        <p:spPr>
          <a:xfrm>
            <a:off x="7955280" y="2651760"/>
            <a:ext cx="2651760" cy="420624"/>
          </a:xfrm>
          <a:prstGeom prst="roundRect">
            <a:avLst>
              <a:gd name="adj" fmla="val 50000"/>
            </a:avLst>
          </a:prstGeom>
          <a:solidFill>
            <a:srgbClr val="EEF0F2"/>
          </a:solidFill>
          <a:ln w="12700">
            <a:solidFill>
              <a:srgbClr val="EEF0F2"/>
            </a:solidFill>
            <a:prstDash val="solid"/>
          </a:ln>
        </p:spPr>
      </p:sp>
      <p:sp>
        <p:nvSpPr>
          <p:cNvPr id="29" name="Text 27"/>
          <p:cNvSpPr txBox="1"/>
          <p:nvPr/>
        </p:nvSpPr>
        <p:spPr>
          <a:xfrm>
            <a:off x="8183880" y="265176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eBook (PDF)</a:t>
            </a:r>
            <a:endParaRPr lang="en-US" sz="1400" dirty="0"/>
          </a:p>
        </p:txBody>
      </p:sp>
      <p:sp>
        <p:nvSpPr>
          <p:cNvPr id="30" name="Text 28"/>
          <p:cNvSpPr txBox="1"/>
          <p:nvPr/>
        </p:nvSpPr>
        <p:spPr>
          <a:xfrm>
            <a:off x="10149840" y="265176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31" name="Shape 29"/>
          <p:cNvSpPr/>
          <p:nvPr/>
        </p:nvSpPr>
        <p:spPr>
          <a:xfrm>
            <a:off x="7955280" y="3200400"/>
            <a:ext cx="2651760" cy="420624"/>
          </a:xfrm>
          <a:prstGeom prst="roundRect">
            <a:avLst>
              <a:gd name="adj" fmla="val 50000"/>
            </a:avLst>
          </a:prstGeom>
          <a:solidFill>
            <a:srgbClr val="EEF0F2"/>
          </a:solidFill>
          <a:ln w="12700">
            <a:solidFill>
              <a:srgbClr val="EEF0F2"/>
            </a:solidFill>
            <a:prstDash val="solid"/>
          </a:ln>
        </p:spPr>
      </p:sp>
      <p:sp>
        <p:nvSpPr>
          <p:cNvPr id="32" name="Text 30"/>
          <p:cNvSpPr txBox="1"/>
          <p:nvPr/>
        </p:nvSpPr>
        <p:spPr>
          <a:xfrm>
            <a:off x="8183880" y="320040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eBook (ePub)</a:t>
            </a:r>
            <a:endParaRPr lang="en-US" sz="1400" dirty="0"/>
          </a:p>
        </p:txBody>
      </p:sp>
      <p:sp>
        <p:nvSpPr>
          <p:cNvPr id="33" name="Text 31"/>
          <p:cNvSpPr txBox="1"/>
          <p:nvPr/>
        </p:nvSpPr>
        <p:spPr>
          <a:xfrm>
            <a:off x="10149840" y="320040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34" name="Shape 32"/>
          <p:cNvSpPr/>
          <p:nvPr/>
        </p:nvSpPr>
        <p:spPr>
          <a:xfrm>
            <a:off x="7955280" y="3749040"/>
            <a:ext cx="2651760" cy="420624"/>
          </a:xfrm>
          <a:prstGeom prst="roundRect">
            <a:avLst>
              <a:gd name="adj" fmla="val 50000"/>
            </a:avLst>
          </a:prstGeom>
          <a:solidFill>
            <a:srgbClr val="EEF0F2"/>
          </a:solidFill>
          <a:ln w="12700">
            <a:solidFill>
              <a:srgbClr val="EEF0F2"/>
            </a:solidFill>
            <a:prstDash val="solid"/>
          </a:ln>
        </p:spPr>
      </p:sp>
      <p:sp>
        <p:nvSpPr>
          <p:cNvPr id="35" name="Text 33"/>
          <p:cNvSpPr txBox="1"/>
          <p:nvPr/>
        </p:nvSpPr>
        <p:spPr>
          <a:xfrm>
            <a:off x="8183880" y="374904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Zeitschrift</a:t>
            </a:r>
            <a:endParaRPr lang="en-US" sz="1400" dirty="0"/>
          </a:p>
        </p:txBody>
      </p:sp>
      <p:sp>
        <p:nvSpPr>
          <p:cNvPr id="36" name="Text 34"/>
          <p:cNvSpPr txBox="1"/>
          <p:nvPr/>
        </p:nvSpPr>
        <p:spPr>
          <a:xfrm>
            <a:off x="10149840" y="374904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37" name="Shape 35"/>
          <p:cNvSpPr/>
          <p:nvPr/>
        </p:nvSpPr>
        <p:spPr>
          <a:xfrm>
            <a:off x="7955280" y="4297680"/>
            <a:ext cx="2651760" cy="420624"/>
          </a:xfrm>
          <a:prstGeom prst="roundRect">
            <a:avLst>
              <a:gd name="adj" fmla="val 50000"/>
            </a:avLst>
          </a:prstGeom>
          <a:solidFill>
            <a:srgbClr val="EEF0F2"/>
          </a:solidFill>
          <a:ln w="12700">
            <a:solidFill>
              <a:srgbClr val="EEF0F2"/>
            </a:solidFill>
            <a:prstDash val="solid"/>
          </a:ln>
        </p:spPr>
      </p:sp>
      <p:sp>
        <p:nvSpPr>
          <p:cNvPr id="38" name="Text 36"/>
          <p:cNvSpPr txBox="1"/>
          <p:nvPr/>
        </p:nvSpPr>
        <p:spPr>
          <a:xfrm>
            <a:off x="8183880" y="429768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Formular</a:t>
            </a:r>
            <a:endParaRPr lang="en-US" sz="1400" dirty="0"/>
          </a:p>
        </p:txBody>
      </p:sp>
      <p:sp>
        <p:nvSpPr>
          <p:cNvPr id="39" name="Text 37"/>
          <p:cNvSpPr txBox="1"/>
          <p:nvPr/>
        </p:nvSpPr>
        <p:spPr>
          <a:xfrm>
            <a:off x="10149840" y="429768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40" name="Shape 38"/>
          <p:cNvSpPr/>
          <p:nvPr/>
        </p:nvSpPr>
        <p:spPr>
          <a:xfrm>
            <a:off x="7955280" y="4846320"/>
            <a:ext cx="2651760" cy="420624"/>
          </a:xfrm>
          <a:prstGeom prst="roundRect">
            <a:avLst>
              <a:gd name="adj" fmla="val 50000"/>
            </a:avLst>
          </a:prstGeom>
          <a:solidFill>
            <a:srgbClr val="EEF0F2"/>
          </a:solidFill>
          <a:ln w="12700">
            <a:solidFill>
              <a:srgbClr val="EEF0F2"/>
            </a:solidFill>
            <a:prstDash val="solid"/>
          </a:ln>
        </p:spPr>
      </p:sp>
      <p:sp>
        <p:nvSpPr>
          <p:cNvPr id="41" name="Text 39"/>
          <p:cNvSpPr txBox="1"/>
          <p:nvPr/>
        </p:nvSpPr>
        <p:spPr>
          <a:xfrm>
            <a:off x="8183880" y="484632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Formularsoftware</a:t>
            </a:r>
            <a:endParaRPr lang="en-US" sz="1400" dirty="0"/>
          </a:p>
        </p:txBody>
      </p:sp>
      <p:sp>
        <p:nvSpPr>
          <p:cNvPr id="42" name="Text 40"/>
          <p:cNvSpPr txBox="1"/>
          <p:nvPr/>
        </p:nvSpPr>
        <p:spPr>
          <a:xfrm>
            <a:off x="10149840" y="484632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43" name="Shape 41"/>
          <p:cNvSpPr/>
          <p:nvPr/>
        </p:nvSpPr>
        <p:spPr>
          <a:xfrm>
            <a:off x="7955280" y="5394960"/>
            <a:ext cx="2651760" cy="420624"/>
          </a:xfrm>
          <a:prstGeom prst="roundRect">
            <a:avLst>
              <a:gd name="adj" fmla="val 50000"/>
            </a:avLst>
          </a:prstGeom>
          <a:solidFill>
            <a:srgbClr val="EEF0F2"/>
          </a:solidFill>
          <a:ln w="12700">
            <a:solidFill>
              <a:srgbClr val="EEF0F2"/>
            </a:solidFill>
            <a:prstDash val="solid"/>
          </a:ln>
        </p:spPr>
      </p:sp>
      <p:sp>
        <p:nvSpPr>
          <p:cNvPr id="44" name="Text 42"/>
          <p:cNvSpPr txBox="1"/>
          <p:nvPr/>
        </p:nvSpPr>
        <p:spPr>
          <a:xfrm>
            <a:off x="8183880" y="539496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Seminar</a:t>
            </a:r>
            <a:endParaRPr lang="en-US" sz="1400" dirty="0"/>
          </a:p>
        </p:txBody>
      </p:sp>
      <p:sp>
        <p:nvSpPr>
          <p:cNvPr id="45" name="Text 43"/>
          <p:cNvSpPr txBox="1"/>
          <p:nvPr/>
        </p:nvSpPr>
        <p:spPr>
          <a:xfrm>
            <a:off x="10149840" y="539496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EIN TITEL, DREI AUSGABEN</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Einmal am Werk gepflegt – die Ausgaben überschreiben nur, was wirklich abweicht.</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5</a:t>
            </a:r>
            <a:endParaRPr lang="en-US" sz="900" dirty="0"/>
          </a:p>
        </p:txBody>
      </p:sp>
      <p:sp>
        <p:nvSpPr>
          <p:cNvPr id="6" name="Shape 4"/>
          <p:cNvSpPr/>
          <p:nvPr/>
        </p:nvSpPr>
        <p:spPr>
          <a:xfrm>
            <a:off x="548640" y="1600200"/>
            <a:ext cx="2377440" cy="3346704"/>
          </a:xfrm>
          <a:prstGeom prst="rect">
            <a:avLst/>
          </a:prstGeom>
          <a:solidFill>
            <a:srgbClr val="E2211C"/>
          </a:solidFill>
          <a:ln w="12700">
            <a:solidFill>
              <a:srgbClr val="E2211C"/>
            </a:solidFill>
            <a:prstDash val="solid"/>
          </a:ln>
          <a:effectLst>
            <a:outerShdw sx="100000" sy="100000" kx="0" ky="0" algn="bl" rotWithShape="0" blurRad="101600" dist="38100" dir="5400000">
              <a:srgbClr val="000000">
                <a:alpha val="20000"/>
              </a:srgbClr>
            </a:outerShdw>
          </a:effectLst>
        </p:spPr>
      </p:sp>
      <p:sp>
        <p:nvSpPr>
          <p:cNvPr id="7" name="Shape 5"/>
          <p:cNvSpPr/>
          <p:nvPr/>
        </p:nvSpPr>
        <p:spPr>
          <a:xfrm>
            <a:off x="548640" y="1600200"/>
            <a:ext cx="2377440" cy="237744"/>
          </a:xfrm>
          <a:prstGeom prst="rect">
            <a:avLst/>
          </a:prstGeom>
          <a:solidFill>
            <a:srgbClr val="F29400"/>
          </a:solidFill>
          <a:ln w="12700">
            <a:solidFill>
              <a:srgbClr val="F29400"/>
            </a:solidFill>
            <a:prstDash val="solid"/>
          </a:ln>
        </p:spPr>
      </p:sp>
      <p:sp>
        <p:nvSpPr>
          <p:cNvPr id="8" name="Text 6"/>
          <p:cNvSpPr txBox="1"/>
          <p:nvPr/>
        </p:nvSpPr>
        <p:spPr>
          <a:xfrm>
            <a:off x="658368" y="1600200"/>
            <a:ext cx="2194560" cy="237744"/>
          </a:xfrm>
          <a:prstGeom prst="rect">
            <a:avLst/>
          </a:prstGeom>
          <a:noFill/>
          <a:ln/>
        </p:spPr>
        <p:txBody>
          <a:bodyPr wrap="square" lIns="0" tIns="0" rIns="0" bIns="0" rtlCol="0" anchor="ctr"/>
          <a:lstStyle/>
          <a:p>
            <a:pPr indent="0" marL="0">
              <a:buNone/>
            </a:pPr>
            <a:r>
              <a:rPr lang="en-US" sz="800" dirty="0">
                <a:solidFill>
                  <a:srgbClr val="FFFFFF"/>
                </a:solidFill>
                <a:latin typeface="Arial" pitchFamily="34" charset="0"/>
                <a:ea typeface="Arial" pitchFamily="34" charset="-122"/>
                <a:cs typeface="Arial" pitchFamily="34" charset="-120"/>
              </a:rPr>
              <a:t>Vorbeugender Brandschutz</a:t>
            </a:r>
            <a:endParaRPr lang="en-US" sz="800" dirty="0"/>
          </a:p>
        </p:txBody>
      </p:sp>
      <p:sp>
        <p:nvSpPr>
          <p:cNvPr id="9" name="Text 7"/>
          <p:cNvSpPr txBox="1"/>
          <p:nvPr/>
        </p:nvSpPr>
        <p:spPr>
          <a:xfrm>
            <a:off x="658368" y="1947672"/>
            <a:ext cx="2194560" cy="2743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DIE ROTEN HEFTE </a:t>
            </a:r>
            <a:pPr indent="0" marL="0">
              <a:buNone/>
            </a:pPr>
            <a:r>
              <a:rPr lang="en-US" sz="1300" dirty="0">
                <a:solidFill>
                  <a:srgbClr val="FFFFFF"/>
                </a:solidFill>
                <a:latin typeface="Arial" pitchFamily="34" charset="0"/>
                <a:ea typeface="Arial" pitchFamily="34" charset="-122"/>
                <a:cs typeface="Arial" pitchFamily="34" charset="-120"/>
              </a:rPr>
              <a:t>75</a:t>
            </a:r>
            <a:endParaRPr lang="en-US" sz="1300" dirty="0"/>
          </a:p>
        </p:txBody>
      </p:sp>
      <p:sp>
        <p:nvSpPr>
          <p:cNvPr id="10" name="Text 8"/>
          <p:cNvSpPr txBox="1"/>
          <p:nvPr/>
        </p:nvSpPr>
        <p:spPr>
          <a:xfrm>
            <a:off x="658368" y="2286000"/>
            <a:ext cx="2194560" cy="228600"/>
          </a:xfrm>
          <a:prstGeom prst="rect">
            <a:avLst/>
          </a:prstGeom>
          <a:noFill/>
          <a:ln/>
        </p:spPr>
        <p:txBody>
          <a:bodyPr wrap="square" lIns="0" tIns="0" rIns="0" bIns="0" rtlCol="0" anchor="t"/>
          <a:lstStyle/>
          <a:p>
            <a:pPr indent="0" marL="0">
              <a:buNone/>
            </a:pPr>
            <a:r>
              <a:rPr lang="en-US" sz="800" dirty="0">
                <a:solidFill>
                  <a:srgbClr val="FFFFFF"/>
                </a:solidFill>
                <a:latin typeface="Arial" pitchFamily="34" charset="0"/>
                <a:ea typeface="Arial" pitchFamily="34" charset="-122"/>
                <a:cs typeface="Arial" pitchFamily="34" charset="-120"/>
              </a:rPr>
              <a:t>Frieder Kircher / Rainer Sonntag</a:t>
            </a:r>
            <a:endParaRPr lang="en-US" sz="800" dirty="0"/>
          </a:p>
        </p:txBody>
      </p:sp>
      <p:sp>
        <p:nvSpPr>
          <p:cNvPr id="11" name="Text 9"/>
          <p:cNvSpPr txBox="1"/>
          <p:nvPr/>
        </p:nvSpPr>
        <p:spPr>
          <a:xfrm>
            <a:off x="658368" y="2651760"/>
            <a:ext cx="2194560" cy="822960"/>
          </a:xfrm>
          <a:prstGeom prst="rect">
            <a:avLst/>
          </a:prstGeom>
          <a:noFill/>
          <a:ln/>
        </p:spPr>
        <p:txBody>
          <a:bodyPr wrap="square" lIns="0" tIns="0" rIns="0" bIns="0" rtlCol="0" anchor="t"/>
          <a:lstStyle/>
          <a:p>
            <a:pPr indent="0" marL="0">
              <a:buNone/>
            </a:pPr>
            <a:r>
              <a:rPr lang="en-US" sz="1900" dirty="0">
                <a:solidFill>
                  <a:srgbClr val="FFFFFF"/>
                </a:solidFill>
                <a:latin typeface="Arial" pitchFamily="34" charset="0"/>
                <a:ea typeface="Arial" pitchFamily="34" charset="-122"/>
                <a:cs typeface="Arial" pitchFamily="34" charset="-120"/>
              </a:rPr>
              <a:t>Vorbeugender Brandschutz</a:t>
            </a:r>
            <a:endParaRPr lang="en-US" sz="1900" dirty="0"/>
          </a:p>
        </p:txBody>
      </p:sp>
      <p:sp>
        <p:nvSpPr>
          <p:cNvPr id="12" name="Text 10"/>
          <p:cNvSpPr txBox="1"/>
          <p:nvPr/>
        </p:nvSpPr>
        <p:spPr>
          <a:xfrm>
            <a:off x="658368" y="4599432"/>
            <a:ext cx="2157984" cy="228600"/>
          </a:xfrm>
          <a:prstGeom prst="rect">
            <a:avLst/>
          </a:prstGeom>
          <a:noFill/>
          <a:ln/>
        </p:spPr>
        <p:txBody>
          <a:bodyPr wrap="square" lIns="0" tIns="0" rIns="0" bIns="0" rtlCol="0" anchor="t"/>
          <a:lstStyle/>
          <a:p>
            <a:pPr algn="r" indent="0" marL="0">
              <a:buNone/>
            </a:pPr>
            <a:r>
              <a:rPr lang="en-US" sz="800" dirty="0">
                <a:solidFill>
                  <a:srgbClr val="FFFFFF"/>
                </a:solidFill>
                <a:latin typeface="Arial" pitchFamily="34" charset="0"/>
                <a:ea typeface="Arial" pitchFamily="34" charset="-122"/>
                <a:cs typeface="Arial" pitchFamily="34" charset="-120"/>
              </a:rPr>
              <a:t>2., aktualisierte Auflage</a:t>
            </a:r>
            <a:endParaRPr lang="en-US" sz="800" dirty="0"/>
          </a:p>
        </p:txBody>
      </p:sp>
      <p:sp>
        <p:nvSpPr>
          <p:cNvPr id="13" name="Text 11"/>
          <p:cNvSpPr txBox="1"/>
          <p:nvPr/>
        </p:nvSpPr>
        <p:spPr>
          <a:xfrm>
            <a:off x="548640" y="5038344"/>
            <a:ext cx="2377440" cy="228600"/>
          </a:xfrm>
          <a:prstGeom prst="rect">
            <a:avLst/>
          </a:prstGeom>
          <a:noFill/>
          <a:ln/>
        </p:spPr>
        <p:txBody>
          <a:bodyPr wrap="square" lIns="0" tIns="0" rIns="0" bIns="0" rtlCol="0" anchor="t"/>
          <a:lstStyle/>
          <a:p>
            <a:pPr algn="ctr" indent="0" marL="0">
              <a:buNone/>
            </a:pPr>
            <a:r>
              <a:rPr lang="en-US" sz="1000" dirty="0">
                <a:solidFill>
                  <a:srgbClr val="4B5563"/>
                </a:solidFill>
                <a:latin typeface="Arial" pitchFamily="34" charset="0"/>
                <a:ea typeface="Arial" pitchFamily="34" charset="-122"/>
                <a:cs typeface="Arial" pitchFamily="34" charset="-120"/>
              </a:rPr>
              <a:t>Schematische Darstellung</a:t>
            </a:r>
            <a:endParaRPr lang="en-US" sz="1000" dirty="0"/>
          </a:p>
        </p:txBody>
      </p:sp>
      <p:sp>
        <p:nvSpPr>
          <p:cNvPr id="14" name="Text 12"/>
          <p:cNvSpPr txBox="1"/>
          <p:nvPr/>
        </p:nvSpPr>
        <p:spPr>
          <a:xfrm>
            <a:off x="3429000" y="1600200"/>
            <a:ext cx="8214055" cy="228600"/>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ELTERNPRODUKT · PRODUKTTYP „BUCH“</a:t>
            </a:r>
            <a:endParaRPr lang="en-US" sz="1000" dirty="0"/>
          </a:p>
        </p:txBody>
      </p:sp>
      <p:sp>
        <p:nvSpPr>
          <p:cNvPr id="15" name="Text 13"/>
          <p:cNvSpPr txBox="1"/>
          <p:nvPr/>
        </p:nvSpPr>
        <p:spPr>
          <a:xfrm>
            <a:off x="3429000" y="1828800"/>
            <a:ext cx="8214055" cy="365760"/>
          </a:xfrm>
          <a:prstGeom prst="rect">
            <a:avLst/>
          </a:prstGeom>
          <a:noFill/>
          <a:ln/>
        </p:spPr>
        <p:txBody>
          <a:bodyPr wrap="square" lIns="0" tIns="0" rIns="0" bIns="0" rtlCol="0" anchor="t"/>
          <a:lstStyle/>
          <a:p>
            <a:pPr indent="0" marL="0">
              <a:buNone/>
            </a:pPr>
            <a:r>
              <a:rPr lang="en-US" sz="1800" dirty="0">
                <a:solidFill>
                  <a:srgbClr val="16181D"/>
                </a:solidFill>
                <a:latin typeface="Arial" pitchFamily="34" charset="0"/>
                <a:ea typeface="Arial" pitchFamily="34" charset="-122"/>
                <a:cs typeface="Arial" pitchFamily="34" charset="-120"/>
              </a:rPr>
              <a:t>Werk: Vorbeugender Brandschutz</a:t>
            </a:r>
            <a:endParaRPr lang="en-US" sz="1800" dirty="0"/>
          </a:p>
        </p:txBody>
      </p:sp>
      <p:sp>
        <p:nvSpPr>
          <p:cNvPr id="16" name="Shape 14"/>
          <p:cNvSpPr/>
          <p:nvPr/>
        </p:nvSpPr>
        <p:spPr>
          <a:xfrm>
            <a:off x="3429000" y="2286000"/>
            <a:ext cx="8214055" cy="777240"/>
          </a:xfrm>
          <a:prstGeom prst="rect">
            <a:avLst/>
          </a:prstGeom>
          <a:solidFill>
            <a:srgbClr val="E4F3F1"/>
          </a:solidFill>
          <a:ln w="12700">
            <a:solidFill>
              <a:srgbClr val="E4F3F1"/>
            </a:solidFill>
            <a:prstDash val="solid"/>
          </a:ln>
        </p:spPr>
      </p:sp>
      <p:sp>
        <p:nvSpPr>
          <p:cNvPr id="17" name="Text 15"/>
          <p:cNvSpPr txBox="1"/>
          <p:nvPr/>
        </p:nvSpPr>
        <p:spPr>
          <a:xfrm>
            <a:off x="3611880" y="2286000"/>
            <a:ext cx="7848295" cy="777240"/>
          </a:xfrm>
          <a:prstGeom prst="rect">
            <a:avLst/>
          </a:prstGeom>
          <a:noFill/>
          <a:ln/>
        </p:spPr>
        <p:txBody>
          <a:bodyPr wrap="square" lIns="0" tIns="0" rIns="0" bIns="0" rtlCol="0" anchor="ctr"/>
          <a:lstStyle/>
          <a:p>
            <a:pPr indent="0" marL="0">
              <a:buNone/>
            </a:pPr>
            <a:r>
              <a:rPr lang="en-US" sz="1200" b="1" dirty="0">
                <a:solidFill>
                  <a:srgbClr val="16181D"/>
                </a:solidFill>
                <a:latin typeface="Arial" pitchFamily="34" charset="0"/>
                <a:ea typeface="Arial" pitchFamily="34" charset="-122"/>
                <a:cs typeface="Arial" pitchFamily="34" charset="-120"/>
              </a:rPr>
              <a:t>Einmal gepflegt, an alle Ausgaben vererbt: </a:t>
            </a:r>
            <a:pPr indent="0" marL="0">
              <a:buNone/>
            </a:pPr>
            <a:r>
              <a:rPr lang="en-US" sz="1200" dirty="0">
                <a:solidFill>
                  <a:srgbClr val="16181D"/>
                </a:solidFill>
                <a:latin typeface="Arial" pitchFamily="34" charset="0"/>
                <a:ea typeface="Arial" pitchFamily="34" charset="-122"/>
                <a:cs typeface="Arial" pitchFamily="34" charset="-120"/>
              </a:rPr>
              <a:t>AutorInnen, Reihe „Die Roten Hefte“, Band 75, Auflage, Erscheinungsjahr 2026, Umfang 164 Seiten / 36 Abb. / 9 Tab., Produktbeschreibung, Cover, Fachbereich.</a:t>
            </a:r>
            <a:endParaRPr lang="en-US" sz="1200" dirty="0"/>
          </a:p>
        </p:txBody>
      </p:sp>
      <p:sp>
        <p:nvSpPr>
          <p:cNvPr id="18" name="Text 16"/>
          <p:cNvSpPr txBox="1"/>
          <p:nvPr/>
        </p:nvSpPr>
        <p:spPr>
          <a:xfrm>
            <a:off x="3429000" y="3246120"/>
            <a:ext cx="8214055" cy="228600"/>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VARIANTEN · NUR ABWEICHUNGEN</a:t>
            </a:r>
            <a:endParaRPr lang="en-US" sz="1000" dirty="0"/>
          </a:p>
        </p:txBody>
      </p:sp>
      <p:sp>
        <p:nvSpPr>
          <p:cNvPr id="19" name="Shape 17"/>
          <p:cNvSpPr/>
          <p:nvPr/>
        </p:nvSpPr>
        <p:spPr>
          <a:xfrm>
            <a:off x="3429000" y="3520440"/>
            <a:ext cx="2616098" cy="1234440"/>
          </a:xfrm>
          <a:prstGeom prst="rect">
            <a:avLst/>
          </a:prstGeom>
          <a:solidFill>
            <a:srgbClr val="FFFFFF"/>
          </a:solidFill>
          <a:ln w="12700">
            <a:solidFill>
              <a:srgbClr val="D6DDE3"/>
            </a:solidFill>
            <a:prstDash val="solid"/>
          </a:ln>
        </p:spPr>
      </p:sp>
      <p:sp>
        <p:nvSpPr>
          <p:cNvPr id="20" name="Text 18"/>
          <p:cNvSpPr txBox="1"/>
          <p:nvPr/>
        </p:nvSpPr>
        <p:spPr>
          <a:xfrm>
            <a:off x="3566160" y="3611880"/>
            <a:ext cx="2341778" cy="274320"/>
          </a:xfrm>
          <a:prstGeom prst="rect">
            <a:avLst/>
          </a:prstGeom>
          <a:noFill/>
          <a:ln/>
        </p:spPr>
        <p:txBody>
          <a:bodyPr wrap="square" lIns="0" tIns="0" rIns="0" bIns="0" rtlCol="0" anchor="t"/>
          <a:lstStyle/>
          <a:p>
            <a:pPr indent="0" marL="0">
              <a:buNone/>
            </a:pPr>
            <a:r>
              <a:rPr lang="en-US" sz="1300" b="1" dirty="0">
                <a:solidFill>
                  <a:srgbClr val="1B2D5C"/>
                </a:solidFill>
                <a:latin typeface="Arial" pitchFamily="34" charset="0"/>
                <a:ea typeface="Arial" pitchFamily="34" charset="-122"/>
                <a:cs typeface="Arial" pitchFamily="34" charset="-120"/>
              </a:rPr>
              <a:t>Print</a:t>
            </a:r>
            <a:endParaRPr lang="en-US" sz="1300" dirty="0"/>
          </a:p>
        </p:txBody>
      </p:sp>
      <p:sp>
        <p:nvSpPr>
          <p:cNvPr id="21" name="Text 19"/>
          <p:cNvSpPr txBox="1"/>
          <p:nvPr/>
        </p:nvSpPr>
        <p:spPr>
          <a:xfrm>
            <a:off x="3566160" y="3913632"/>
            <a:ext cx="2387498" cy="8229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ISBN 978-3-17-040610-0</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19,00 € inkl. MwSt.</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kartoniert, 148 × 105 × 10 mm</a:t>
            </a:r>
            <a:endParaRPr lang="en-US" sz="1100" dirty="0"/>
          </a:p>
        </p:txBody>
      </p:sp>
      <p:sp>
        <p:nvSpPr>
          <p:cNvPr id="22" name="Shape 20"/>
          <p:cNvSpPr/>
          <p:nvPr/>
        </p:nvSpPr>
        <p:spPr>
          <a:xfrm>
            <a:off x="6227978" y="3520440"/>
            <a:ext cx="2616098" cy="1234440"/>
          </a:xfrm>
          <a:prstGeom prst="rect">
            <a:avLst/>
          </a:prstGeom>
          <a:solidFill>
            <a:srgbClr val="FFFFFF"/>
          </a:solidFill>
          <a:ln w="12700">
            <a:solidFill>
              <a:srgbClr val="D6DDE3"/>
            </a:solidFill>
            <a:prstDash val="solid"/>
          </a:ln>
        </p:spPr>
      </p:sp>
      <p:sp>
        <p:nvSpPr>
          <p:cNvPr id="23" name="Text 21"/>
          <p:cNvSpPr txBox="1"/>
          <p:nvPr/>
        </p:nvSpPr>
        <p:spPr>
          <a:xfrm>
            <a:off x="6365138" y="3611880"/>
            <a:ext cx="2341778" cy="274320"/>
          </a:xfrm>
          <a:prstGeom prst="rect">
            <a:avLst/>
          </a:prstGeom>
          <a:noFill/>
          <a:ln/>
        </p:spPr>
        <p:txBody>
          <a:bodyPr wrap="square" lIns="0" tIns="0" rIns="0" bIns="0" rtlCol="0" anchor="t"/>
          <a:lstStyle/>
          <a:p>
            <a:pPr indent="0" marL="0">
              <a:buNone/>
            </a:pPr>
            <a:r>
              <a:rPr lang="en-US" sz="1300" b="1" dirty="0">
                <a:solidFill>
                  <a:srgbClr val="1B2D5C"/>
                </a:solidFill>
                <a:latin typeface="Arial" pitchFamily="34" charset="0"/>
                <a:ea typeface="Arial" pitchFamily="34" charset="-122"/>
                <a:cs typeface="Arial" pitchFamily="34" charset="-120"/>
              </a:rPr>
              <a:t>eBook (PDF)</a:t>
            </a:r>
            <a:endParaRPr lang="en-US" sz="1300" dirty="0"/>
          </a:p>
        </p:txBody>
      </p:sp>
      <p:sp>
        <p:nvSpPr>
          <p:cNvPr id="24" name="Text 22"/>
          <p:cNvSpPr txBox="1"/>
          <p:nvPr/>
        </p:nvSpPr>
        <p:spPr>
          <a:xfrm>
            <a:off x="6365138" y="3913632"/>
            <a:ext cx="2387498" cy="8229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eigene ISBN</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eigener Preis</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Datei als Download-Asset</a:t>
            </a:r>
            <a:endParaRPr lang="en-US" sz="1100" dirty="0"/>
          </a:p>
        </p:txBody>
      </p:sp>
      <p:sp>
        <p:nvSpPr>
          <p:cNvPr id="25" name="Shape 23"/>
          <p:cNvSpPr/>
          <p:nvPr/>
        </p:nvSpPr>
        <p:spPr>
          <a:xfrm>
            <a:off x="9026957" y="3520440"/>
            <a:ext cx="2616098" cy="1234440"/>
          </a:xfrm>
          <a:prstGeom prst="rect">
            <a:avLst/>
          </a:prstGeom>
          <a:solidFill>
            <a:srgbClr val="FFFFFF"/>
          </a:solidFill>
          <a:ln w="12700">
            <a:solidFill>
              <a:srgbClr val="D6DDE3"/>
            </a:solidFill>
            <a:prstDash val="solid"/>
          </a:ln>
        </p:spPr>
      </p:sp>
      <p:sp>
        <p:nvSpPr>
          <p:cNvPr id="26" name="Text 24"/>
          <p:cNvSpPr txBox="1"/>
          <p:nvPr/>
        </p:nvSpPr>
        <p:spPr>
          <a:xfrm>
            <a:off x="9164117" y="3611880"/>
            <a:ext cx="2341778" cy="274320"/>
          </a:xfrm>
          <a:prstGeom prst="rect">
            <a:avLst/>
          </a:prstGeom>
          <a:noFill/>
          <a:ln/>
        </p:spPr>
        <p:txBody>
          <a:bodyPr wrap="square" lIns="0" tIns="0" rIns="0" bIns="0" rtlCol="0" anchor="t"/>
          <a:lstStyle/>
          <a:p>
            <a:pPr indent="0" marL="0">
              <a:buNone/>
            </a:pPr>
            <a:r>
              <a:rPr lang="en-US" sz="1300" b="1" dirty="0">
                <a:solidFill>
                  <a:srgbClr val="1B2D5C"/>
                </a:solidFill>
                <a:latin typeface="Arial" pitchFamily="34" charset="0"/>
                <a:ea typeface="Arial" pitchFamily="34" charset="-122"/>
                <a:cs typeface="Arial" pitchFamily="34" charset="-120"/>
              </a:rPr>
              <a:t>eBook (ePub)</a:t>
            </a:r>
            <a:endParaRPr lang="en-US" sz="1300" dirty="0"/>
          </a:p>
        </p:txBody>
      </p:sp>
      <p:sp>
        <p:nvSpPr>
          <p:cNvPr id="27" name="Text 25"/>
          <p:cNvSpPr txBox="1"/>
          <p:nvPr/>
        </p:nvSpPr>
        <p:spPr>
          <a:xfrm>
            <a:off x="9164117" y="3913632"/>
            <a:ext cx="2387498" cy="8229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eigene ISBN</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eigener Preis</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Datei als Download-Asset</a:t>
            </a:r>
            <a:endParaRPr lang="en-US" sz="1100" dirty="0"/>
          </a:p>
        </p:txBody>
      </p:sp>
      <p:sp>
        <p:nvSpPr>
          <p:cNvPr id="28" name="Text 26"/>
          <p:cNvSpPr txBox="1"/>
          <p:nvPr/>
        </p:nvSpPr>
        <p:spPr>
          <a:xfrm>
            <a:off x="3429000" y="4937760"/>
            <a:ext cx="8214055" cy="228600"/>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HIERARCHIEN · EIN TITEL, MEHRERE ORDNUNGEN</a:t>
            </a:r>
            <a:endParaRPr lang="en-US" sz="1000" dirty="0"/>
          </a:p>
        </p:txBody>
      </p:sp>
      <p:sp>
        <p:nvSpPr>
          <p:cNvPr id="29" name="Shape 27"/>
          <p:cNvSpPr/>
          <p:nvPr/>
        </p:nvSpPr>
        <p:spPr>
          <a:xfrm>
            <a:off x="3429000" y="5212080"/>
            <a:ext cx="1950644" cy="914400"/>
          </a:xfrm>
          <a:prstGeom prst="rect">
            <a:avLst/>
          </a:prstGeom>
          <a:solidFill>
            <a:srgbClr val="EEF0F2"/>
          </a:solidFill>
          <a:ln w="12700">
            <a:solidFill>
              <a:srgbClr val="EEF0F2"/>
            </a:solidFill>
            <a:prstDash val="solid"/>
          </a:ln>
        </p:spPr>
      </p:sp>
      <p:sp>
        <p:nvSpPr>
          <p:cNvPr id="30" name="Text 28"/>
          <p:cNvSpPr txBox="1"/>
          <p:nvPr/>
        </p:nvSpPr>
        <p:spPr>
          <a:xfrm>
            <a:off x="3538728" y="5285232"/>
            <a:ext cx="1731188" cy="201168"/>
          </a:xfrm>
          <a:prstGeom prst="rect">
            <a:avLst/>
          </a:prstGeom>
          <a:noFill/>
          <a:ln/>
        </p:spPr>
        <p:txBody>
          <a:bodyPr wrap="square" lIns="0" tIns="0" rIns="0" bIns="0" rtlCol="0" anchor="t"/>
          <a:lstStyle/>
          <a:p>
            <a:pPr indent="0" marL="0">
              <a:buNone/>
            </a:pPr>
            <a:r>
              <a:rPr lang="en-US" sz="900" b="1" dirty="0">
                <a:solidFill>
                  <a:srgbClr val="4B5563"/>
                </a:solidFill>
                <a:latin typeface="Arial" pitchFamily="34" charset="0"/>
                <a:ea typeface="Arial" pitchFamily="34" charset="-122"/>
                <a:cs typeface="Arial" pitchFamily="34" charset="-120"/>
              </a:rPr>
              <a:t>MASTER</a:t>
            </a:r>
            <a:endParaRPr lang="en-US" sz="900" dirty="0"/>
          </a:p>
        </p:txBody>
      </p:sp>
      <p:sp>
        <p:nvSpPr>
          <p:cNvPr id="31" name="Text 29"/>
          <p:cNvSpPr txBox="1"/>
          <p:nvPr/>
        </p:nvSpPr>
        <p:spPr>
          <a:xfrm>
            <a:off x="3538728" y="5504688"/>
            <a:ext cx="1731188" cy="548640"/>
          </a:xfrm>
          <a:prstGeom prst="rect">
            <a:avLst/>
          </a:prstGeom>
          <a:noFill/>
          <a:ln/>
        </p:spPr>
        <p:txBody>
          <a:bodyPr wrap="square" lIns="0" tIns="0" rIns="0" bIns="0" rtlCol="0" anchor="t"/>
          <a:lstStyle/>
          <a:p>
            <a:pPr indent="0" marL="0">
              <a:buNone/>
            </a:pPr>
            <a:r>
              <a:rPr lang="en-US" sz="1100" dirty="0">
                <a:solidFill>
                  <a:srgbClr val="16181D"/>
                </a:solidFill>
                <a:latin typeface="Arial" pitchFamily="34" charset="0"/>
                <a:ea typeface="Arial" pitchFamily="34" charset="-122"/>
                <a:cs typeface="Arial" pitchFamily="34" charset="-120"/>
              </a:rPr>
              <a:t>Brandschutz › Bautechnik / Vorb. Brandschutz</a:t>
            </a:r>
            <a:endParaRPr lang="en-US" sz="1100" dirty="0"/>
          </a:p>
        </p:txBody>
      </p:sp>
      <p:sp>
        <p:nvSpPr>
          <p:cNvPr id="32" name="Shape 30"/>
          <p:cNvSpPr/>
          <p:nvPr/>
        </p:nvSpPr>
        <p:spPr>
          <a:xfrm>
            <a:off x="5516804" y="5212080"/>
            <a:ext cx="1950644" cy="914400"/>
          </a:xfrm>
          <a:prstGeom prst="rect">
            <a:avLst/>
          </a:prstGeom>
          <a:solidFill>
            <a:srgbClr val="EEF0F2"/>
          </a:solidFill>
          <a:ln w="12700">
            <a:solidFill>
              <a:srgbClr val="EEF0F2"/>
            </a:solidFill>
            <a:prstDash val="solid"/>
          </a:ln>
        </p:spPr>
      </p:sp>
      <p:sp>
        <p:nvSpPr>
          <p:cNvPr id="33" name="Text 31"/>
          <p:cNvSpPr txBox="1"/>
          <p:nvPr/>
        </p:nvSpPr>
        <p:spPr>
          <a:xfrm>
            <a:off x="5626532" y="5285232"/>
            <a:ext cx="1731188" cy="201168"/>
          </a:xfrm>
          <a:prstGeom prst="rect">
            <a:avLst/>
          </a:prstGeom>
          <a:noFill/>
          <a:ln/>
        </p:spPr>
        <p:txBody>
          <a:bodyPr wrap="square" lIns="0" tIns="0" rIns="0" bIns="0" rtlCol="0" anchor="t"/>
          <a:lstStyle/>
          <a:p>
            <a:pPr indent="0" marL="0">
              <a:buNone/>
            </a:pPr>
            <a:r>
              <a:rPr lang="en-US" sz="900" b="1" dirty="0">
                <a:solidFill>
                  <a:srgbClr val="4B5563"/>
                </a:solidFill>
                <a:latin typeface="Arial" pitchFamily="34" charset="0"/>
                <a:ea typeface="Arial" pitchFamily="34" charset="-122"/>
                <a:cs typeface="Arial" pitchFamily="34" charset="-120"/>
              </a:rPr>
              <a:t>OUTPUT: SHOP</a:t>
            </a:r>
            <a:endParaRPr lang="en-US" sz="900" dirty="0"/>
          </a:p>
        </p:txBody>
      </p:sp>
      <p:sp>
        <p:nvSpPr>
          <p:cNvPr id="34" name="Text 32"/>
          <p:cNvSpPr txBox="1"/>
          <p:nvPr/>
        </p:nvSpPr>
        <p:spPr>
          <a:xfrm>
            <a:off x="5626532" y="5504688"/>
            <a:ext cx="1731188" cy="548640"/>
          </a:xfrm>
          <a:prstGeom prst="rect">
            <a:avLst/>
          </a:prstGeom>
          <a:noFill/>
          <a:ln/>
        </p:spPr>
        <p:txBody>
          <a:bodyPr wrap="square" lIns="0" tIns="0" rIns="0" bIns="0" rtlCol="0" anchor="t"/>
          <a:lstStyle/>
          <a:p>
            <a:pPr indent="0" marL="0">
              <a:buNone/>
            </a:pPr>
            <a:r>
              <a:rPr lang="en-US" sz="1100" dirty="0">
                <a:solidFill>
                  <a:srgbClr val="16181D"/>
                </a:solidFill>
                <a:latin typeface="Arial" pitchFamily="34" charset="0"/>
                <a:ea typeface="Arial" pitchFamily="34" charset="-122"/>
                <a:cs typeface="Arial" pitchFamily="34" charset="-120"/>
              </a:rPr>
              <a:t>Navigation und Filter des Shops</a:t>
            </a:r>
            <a:endParaRPr lang="en-US" sz="1100" dirty="0"/>
          </a:p>
        </p:txBody>
      </p:sp>
      <p:sp>
        <p:nvSpPr>
          <p:cNvPr id="35" name="Shape 33"/>
          <p:cNvSpPr/>
          <p:nvPr/>
        </p:nvSpPr>
        <p:spPr>
          <a:xfrm>
            <a:off x="7604608" y="5212080"/>
            <a:ext cx="1950644" cy="914400"/>
          </a:xfrm>
          <a:prstGeom prst="rect">
            <a:avLst/>
          </a:prstGeom>
          <a:solidFill>
            <a:srgbClr val="EEF0F2"/>
          </a:solidFill>
          <a:ln w="12700">
            <a:solidFill>
              <a:srgbClr val="EEF0F2"/>
            </a:solidFill>
            <a:prstDash val="solid"/>
          </a:ln>
        </p:spPr>
      </p:sp>
      <p:sp>
        <p:nvSpPr>
          <p:cNvPr id="36" name="Text 34"/>
          <p:cNvSpPr txBox="1"/>
          <p:nvPr/>
        </p:nvSpPr>
        <p:spPr>
          <a:xfrm>
            <a:off x="7714336" y="5285232"/>
            <a:ext cx="1731188" cy="201168"/>
          </a:xfrm>
          <a:prstGeom prst="rect">
            <a:avLst/>
          </a:prstGeom>
          <a:noFill/>
          <a:ln/>
        </p:spPr>
        <p:txBody>
          <a:bodyPr wrap="square" lIns="0" tIns="0" rIns="0" bIns="0" rtlCol="0" anchor="t"/>
          <a:lstStyle/>
          <a:p>
            <a:pPr indent="0" marL="0">
              <a:buNone/>
            </a:pPr>
            <a:r>
              <a:rPr lang="en-US" sz="900" b="1" dirty="0">
                <a:solidFill>
                  <a:srgbClr val="4B5563"/>
                </a:solidFill>
                <a:latin typeface="Arial" pitchFamily="34" charset="0"/>
                <a:ea typeface="Arial" pitchFamily="34" charset="-122"/>
                <a:cs typeface="Arial" pitchFamily="34" charset="-120"/>
              </a:rPr>
              <a:t>OUTPUT: REIHE</a:t>
            </a:r>
            <a:endParaRPr lang="en-US" sz="900" dirty="0"/>
          </a:p>
        </p:txBody>
      </p:sp>
      <p:sp>
        <p:nvSpPr>
          <p:cNvPr id="37" name="Text 35"/>
          <p:cNvSpPr txBox="1"/>
          <p:nvPr/>
        </p:nvSpPr>
        <p:spPr>
          <a:xfrm>
            <a:off x="7714336" y="5504688"/>
            <a:ext cx="1731188" cy="548640"/>
          </a:xfrm>
          <a:prstGeom prst="rect">
            <a:avLst/>
          </a:prstGeom>
          <a:noFill/>
          <a:ln/>
        </p:spPr>
        <p:txBody>
          <a:bodyPr wrap="square" lIns="0" tIns="0" rIns="0" bIns="0" rtlCol="0" anchor="t"/>
          <a:lstStyle/>
          <a:p>
            <a:pPr indent="0" marL="0">
              <a:buNone/>
            </a:pPr>
            <a:r>
              <a:rPr lang="en-US" sz="1100" dirty="0">
                <a:solidFill>
                  <a:srgbClr val="16181D"/>
                </a:solidFill>
                <a:latin typeface="Arial" pitchFamily="34" charset="0"/>
                <a:ea typeface="Arial" pitchFamily="34" charset="-122"/>
                <a:cs typeface="Arial" pitchFamily="34" charset="-120"/>
              </a:rPr>
              <a:t>Die Roten Hefte › Band 75</a:t>
            </a:r>
            <a:endParaRPr lang="en-US" sz="1100" dirty="0"/>
          </a:p>
        </p:txBody>
      </p:sp>
      <p:sp>
        <p:nvSpPr>
          <p:cNvPr id="38" name="Shape 36"/>
          <p:cNvSpPr/>
          <p:nvPr/>
        </p:nvSpPr>
        <p:spPr>
          <a:xfrm>
            <a:off x="9692411" y="5212080"/>
            <a:ext cx="1950644" cy="914400"/>
          </a:xfrm>
          <a:prstGeom prst="rect">
            <a:avLst/>
          </a:prstGeom>
          <a:solidFill>
            <a:srgbClr val="EEF0F2"/>
          </a:solidFill>
          <a:ln w="12700">
            <a:solidFill>
              <a:srgbClr val="EEF0F2"/>
            </a:solidFill>
            <a:prstDash val="solid"/>
          </a:ln>
        </p:spPr>
      </p:sp>
      <p:sp>
        <p:nvSpPr>
          <p:cNvPr id="39" name="Text 37"/>
          <p:cNvSpPr txBox="1"/>
          <p:nvPr/>
        </p:nvSpPr>
        <p:spPr>
          <a:xfrm>
            <a:off x="9802139" y="5285232"/>
            <a:ext cx="1731188" cy="201168"/>
          </a:xfrm>
          <a:prstGeom prst="rect">
            <a:avLst/>
          </a:prstGeom>
          <a:noFill/>
          <a:ln/>
        </p:spPr>
        <p:txBody>
          <a:bodyPr wrap="square" lIns="0" tIns="0" rIns="0" bIns="0" rtlCol="0" anchor="t"/>
          <a:lstStyle/>
          <a:p>
            <a:pPr indent="0" marL="0">
              <a:buNone/>
            </a:pPr>
            <a:r>
              <a:rPr lang="en-US" sz="900" b="1" dirty="0">
                <a:solidFill>
                  <a:srgbClr val="4B5563"/>
                </a:solidFill>
                <a:latin typeface="Arial" pitchFamily="34" charset="0"/>
                <a:ea typeface="Arial" pitchFamily="34" charset="-122"/>
                <a:cs typeface="Arial" pitchFamily="34" charset="-120"/>
              </a:rPr>
              <a:t>OUTPUT: HANDEL</a:t>
            </a:r>
            <a:endParaRPr lang="en-US" sz="900" dirty="0"/>
          </a:p>
        </p:txBody>
      </p:sp>
      <p:sp>
        <p:nvSpPr>
          <p:cNvPr id="40" name="Text 38"/>
          <p:cNvSpPr txBox="1"/>
          <p:nvPr/>
        </p:nvSpPr>
        <p:spPr>
          <a:xfrm>
            <a:off x="9802139" y="5504688"/>
            <a:ext cx="1731188" cy="548640"/>
          </a:xfrm>
          <a:prstGeom prst="rect">
            <a:avLst/>
          </a:prstGeom>
          <a:noFill/>
          <a:ln/>
        </p:spPr>
        <p:txBody>
          <a:bodyPr wrap="square" lIns="0" tIns="0" rIns="0" bIns="0" rtlCol="0" anchor="t"/>
          <a:lstStyle/>
          <a:p>
            <a:pPr indent="0" marL="0">
              <a:buNone/>
            </a:pPr>
            <a:r>
              <a:rPr lang="en-US" sz="1100" dirty="0">
                <a:solidFill>
                  <a:srgbClr val="16181D"/>
                </a:solidFill>
                <a:latin typeface="Arial" pitchFamily="34" charset="0"/>
                <a:ea typeface="Arial" pitchFamily="34" charset="-122"/>
                <a:cs typeface="Arial" pitchFamily="34" charset="-120"/>
              </a:rPr>
              <a:t>z. B. Thema / Warengruppe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IHRE BEREICHE – WAS ANYPIM LIEFERT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Die Servicebereiche von kohlhammer.de, zugeordnet zu Funktionen, die heute im Produkt vorhanden sind.</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6</a:t>
            </a:r>
            <a:endParaRPr lang="en-US" sz="900" dirty="0"/>
          </a:p>
        </p:txBody>
      </p:sp>
      <p:sp>
        <p:nvSpPr>
          <p:cNvPr id="6" name="Shape 4"/>
          <p:cNvSpPr/>
          <p:nvPr/>
        </p:nvSpPr>
        <p:spPr>
          <a:xfrm>
            <a:off x="548640" y="1600200"/>
            <a:ext cx="3520440" cy="502920"/>
          </a:xfrm>
          <a:prstGeom prst="rect">
            <a:avLst/>
          </a:prstGeom>
          <a:solidFill>
            <a:srgbClr val="000E2F"/>
          </a:solidFill>
          <a:ln w="12700">
            <a:solidFill>
              <a:srgbClr val="000E2F"/>
            </a:solidFill>
            <a:prstDash val="solid"/>
          </a:ln>
        </p:spPr>
      </p:sp>
      <p:sp>
        <p:nvSpPr>
          <p:cNvPr id="7" name="Text 5"/>
          <p:cNvSpPr txBox="1"/>
          <p:nvPr/>
        </p:nvSpPr>
        <p:spPr>
          <a:xfrm>
            <a:off x="731520" y="1600200"/>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Buchhandel</a:t>
            </a:r>
            <a:endParaRPr lang="en-US" sz="1400" dirty="0"/>
          </a:p>
        </p:txBody>
      </p:sp>
      <p:sp>
        <p:nvSpPr>
          <p:cNvPr id="8" name="Text 6"/>
          <p:cNvSpPr txBox="1"/>
          <p:nvPr/>
        </p:nvSpPr>
        <p:spPr>
          <a:xfrm>
            <a:off x="3566160" y="1600200"/>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9" name="Text 7"/>
          <p:cNvSpPr txBox="1"/>
          <p:nvPr/>
        </p:nvSpPr>
        <p:spPr>
          <a:xfrm>
            <a:off x="548640" y="2194560"/>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Geplante Export-Jobs per SFTP/Webhook, Excel/CSV/BMEcat, Delta-Export nur geänderter Titel. ONIX: siehe „Was noch fehlt“.</a:t>
            </a:r>
            <a:endParaRPr lang="en-US" sz="1150" dirty="0"/>
          </a:p>
        </p:txBody>
      </p:sp>
      <p:sp>
        <p:nvSpPr>
          <p:cNvPr id="10" name="Shape 8"/>
          <p:cNvSpPr/>
          <p:nvPr/>
        </p:nvSpPr>
        <p:spPr>
          <a:xfrm>
            <a:off x="4335628" y="1600200"/>
            <a:ext cx="3520440" cy="502920"/>
          </a:xfrm>
          <a:prstGeom prst="rect">
            <a:avLst/>
          </a:prstGeom>
          <a:solidFill>
            <a:srgbClr val="000E2F"/>
          </a:solidFill>
          <a:ln w="12700">
            <a:solidFill>
              <a:srgbClr val="000E2F"/>
            </a:solidFill>
            <a:prstDash val="solid"/>
          </a:ln>
        </p:spPr>
      </p:sp>
      <p:sp>
        <p:nvSpPr>
          <p:cNvPr id="11" name="Text 9"/>
          <p:cNvSpPr txBox="1"/>
          <p:nvPr/>
        </p:nvSpPr>
        <p:spPr>
          <a:xfrm>
            <a:off x="4518508" y="1600200"/>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Bibliotheken</a:t>
            </a:r>
            <a:endParaRPr lang="en-US" sz="1400" dirty="0"/>
          </a:p>
        </p:txBody>
      </p:sp>
      <p:sp>
        <p:nvSpPr>
          <p:cNvPr id="12" name="Text 10"/>
          <p:cNvSpPr txBox="1"/>
          <p:nvPr/>
        </p:nvSpPr>
        <p:spPr>
          <a:xfrm>
            <a:off x="7353148" y="1600200"/>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3" name="Text 11"/>
          <p:cNvSpPr txBox="1"/>
          <p:nvPr/>
        </p:nvSpPr>
        <p:spPr>
          <a:xfrm>
            <a:off x="4335628" y="2194560"/>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Öffentlicher Katalog mit Facettensuche und Offline-Katalog (statisches HTML) für Erwerbungsabteilungen.</a:t>
            </a:r>
            <a:endParaRPr lang="en-US" sz="1150" dirty="0"/>
          </a:p>
        </p:txBody>
      </p:sp>
      <p:sp>
        <p:nvSpPr>
          <p:cNvPr id="14" name="Shape 12"/>
          <p:cNvSpPr/>
          <p:nvPr/>
        </p:nvSpPr>
        <p:spPr>
          <a:xfrm>
            <a:off x="8122615" y="1600200"/>
            <a:ext cx="3520440" cy="502920"/>
          </a:xfrm>
          <a:prstGeom prst="rect">
            <a:avLst/>
          </a:prstGeom>
          <a:solidFill>
            <a:srgbClr val="000E2F"/>
          </a:solidFill>
          <a:ln w="12700">
            <a:solidFill>
              <a:srgbClr val="000E2F"/>
            </a:solidFill>
            <a:prstDash val="solid"/>
          </a:ln>
        </p:spPr>
      </p:sp>
      <p:sp>
        <p:nvSpPr>
          <p:cNvPr id="15" name="Text 13"/>
          <p:cNvSpPr txBox="1"/>
          <p:nvPr/>
        </p:nvSpPr>
        <p:spPr>
          <a:xfrm>
            <a:off x="8305495" y="1600200"/>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AutorInnen</a:t>
            </a:r>
            <a:endParaRPr lang="en-US" sz="1400" dirty="0"/>
          </a:p>
        </p:txBody>
      </p:sp>
      <p:sp>
        <p:nvSpPr>
          <p:cNvPr id="16" name="Text 14"/>
          <p:cNvSpPr txBox="1"/>
          <p:nvPr/>
        </p:nvSpPr>
        <p:spPr>
          <a:xfrm>
            <a:off x="11140135" y="1600200"/>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7" name="Text 15"/>
          <p:cNvSpPr txBox="1"/>
          <p:nvPr/>
        </p:nvSpPr>
        <p:spPr>
          <a:xfrm>
            <a:off x="8122615" y="2194560"/>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Zugangslinks ohne Benutzerkonto zur Ansicht und Freigabe von Titeldaten; Workflow-Aufgaben für die Rückläufe.</a:t>
            </a:r>
            <a:endParaRPr lang="en-US" sz="1150" dirty="0"/>
          </a:p>
        </p:txBody>
      </p:sp>
      <p:sp>
        <p:nvSpPr>
          <p:cNvPr id="18" name="Shape 16"/>
          <p:cNvSpPr/>
          <p:nvPr/>
        </p:nvSpPr>
        <p:spPr>
          <a:xfrm>
            <a:off x="548640" y="3172968"/>
            <a:ext cx="3520440" cy="502920"/>
          </a:xfrm>
          <a:prstGeom prst="rect">
            <a:avLst/>
          </a:prstGeom>
          <a:solidFill>
            <a:srgbClr val="000E2F"/>
          </a:solidFill>
          <a:ln w="12700">
            <a:solidFill>
              <a:srgbClr val="000E2F"/>
            </a:solidFill>
            <a:prstDash val="solid"/>
          </a:ln>
        </p:spPr>
      </p:sp>
      <p:sp>
        <p:nvSpPr>
          <p:cNvPr id="19" name="Text 17"/>
          <p:cNvSpPr txBox="1"/>
          <p:nvPr/>
        </p:nvSpPr>
        <p:spPr>
          <a:xfrm>
            <a:off x="731520" y="3172968"/>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Foreign Rights &amp; Licensing</a:t>
            </a:r>
            <a:endParaRPr lang="en-US" sz="1400" dirty="0"/>
          </a:p>
        </p:txBody>
      </p:sp>
      <p:sp>
        <p:nvSpPr>
          <p:cNvPr id="20" name="Text 18"/>
          <p:cNvSpPr txBox="1"/>
          <p:nvPr/>
        </p:nvSpPr>
        <p:spPr>
          <a:xfrm>
            <a:off x="3566160" y="3172968"/>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1" name="Text 19"/>
          <p:cNvSpPr txBox="1"/>
          <p:nvPr/>
        </p:nvSpPr>
        <p:spPr>
          <a:xfrm>
            <a:off x="548640" y="3767328"/>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Unbegrenzte Inhaltssprachen, DeepL-Connector, XLIFF-Austausch, befristete Katalog-Links für Lizenzpartner.</a:t>
            </a:r>
            <a:endParaRPr lang="en-US" sz="1150" dirty="0"/>
          </a:p>
        </p:txBody>
      </p:sp>
      <p:sp>
        <p:nvSpPr>
          <p:cNvPr id="22" name="Shape 20"/>
          <p:cNvSpPr/>
          <p:nvPr/>
        </p:nvSpPr>
        <p:spPr>
          <a:xfrm>
            <a:off x="4335628" y="3172968"/>
            <a:ext cx="3520440" cy="502920"/>
          </a:xfrm>
          <a:prstGeom prst="rect">
            <a:avLst/>
          </a:prstGeom>
          <a:solidFill>
            <a:srgbClr val="000E2F"/>
          </a:solidFill>
          <a:ln w="12700">
            <a:solidFill>
              <a:srgbClr val="000E2F"/>
            </a:solidFill>
            <a:prstDash val="solid"/>
          </a:ln>
        </p:spPr>
      </p:sp>
      <p:sp>
        <p:nvSpPr>
          <p:cNvPr id="23" name="Text 21"/>
          <p:cNvSpPr txBox="1"/>
          <p:nvPr/>
        </p:nvSpPr>
        <p:spPr>
          <a:xfrm>
            <a:off x="4518508" y="3172968"/>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Presse</a:t>
            </a:r>
            <a:endParaRPr lang="en-US" sz="1400" dirty="0"/>
          </a:p>
        </p:txBody>
      </p:sp>
      <p:sp>
        <p:nvSpPr>
          <p:cNvPr id="24" name="Text 22"/>
          <p:cNvSpPr txBox="1"/>
          <p:nvPr/>
        </p:nvSpPr>
        <p:spPr>
          <a:xfrm>
            <a:off x="7353148" y="3172968"/>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4335628" y="3767328"/>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Asset-Katalog mit Ordnern, Tags und Download: Cover, AutorInnenfotos, Leseproben – ohne E-Mail-Pingpong.</a:t>
            </a:r>
            <a:endParaRPr lang="en-US" sz="1150" dirty="0"/>
          </a:p>
        </p:txBody>
      </p:sp>
      <p:sp>
        <p:nvSpPr>
          <p:cNvPr id="26" name="Shape 24"/>
          <p:cNvSpPr/>
          <p:nvPr/>
        </p:nvSpPr>
        <p:spPr>
          <a:xfrm>
            <a:off x="8122615" y="3172968"/>
            <a:ext cx="3520440" cy="502920"/>
          </a:xfrm>
          <a:prstGeom prst="rect">
            <a:avLst/>
          </a:prstGeom>
          <a:solidFill>
            <a:srgbClr val="000E2F"/>
          </a:solidFill>
          <a:ln w="12700">
            <a:solidFill>
              <a:srgbClr val="000E2F"/>
            </a:solidFill>
            <a:prstDash val="solid"/>
          </a:ln>
        </p:spPr>
      </p:sp>
      <p:sp>
        <p:nvSpPr>
          <p:cNvPr id="27" name="Text 25"/>
          <p:cNvSpPr txBox="1"/>
          <p:nvPr/>
        </p:nvSpPr>
        <p:spPr>
          <a:xfrm>
            <a:off x="8305495" y="3172968"/>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Mediadaten</a:t>
            </a:r>
            <a:endParaRPr lang="en-US" sz="1400" dirty="0"/>
          </a:p>
        </p:txBody>
      </p:sp>
      <p:sp>
        <p:nvSpPr>
          <p:cNvPr id="28" name="Text 26"/>
          <p:cNvSpPr txBox="1"/>
          <p:nvPr/>
        </p:nvSpPr>
        <p:spPr>
          <a:xfrm>
            <a:off x="11140135" y="3172968"/>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9" name="Text 27"/>
          <p:cNvSpPr txBox="1"/>
          <p:nvPr/>
        </p:nvSpPr>
        <p:spPr>
          <a:xfrm>
            <a:off x="8122615" y="3767328"/>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PDF-Vorlagen aus PIM-Daten: Datenblätter, Preislisten und Mediadaten ohne manuelles Layout.</a:t>
            </a:r>
            <a:endParaRPr lang="en-US" sz="1150" dirty="0"/>
          </a:p>
        </p:txBody>
      </p:sp>
      <p:sp>
        <p:nvSpPr>
          <p:cNvPr id="30" name="Shape 28"/>
          <p:cNvSpPr/>
          <p:nvPr/>
        </p:nvSpPr>
        <p:spPr>
          <a:xfrm>
            <a:off x="548640" y="4745736"/>
            <a:ext cx="3520440" cy="502920"/>
          </a:xfrm>
          <a:prstGeom prst="rect">
            <a:avLst/>
          </a:prstGeom>
          <a:solidFill>
            <a:srgbClr val="000E2F"/>
          </a:solidFill>
          <a:ln w="12700">
            <a:solidFill>
              <a:srgbClr val="000E2F"/>
            </a:solidFill>
            <a:prstDash val="solid"/>
          </a:ln>
        </p:spPr>
      </p:sp>
      <p:sp>
        <p:nvSpPr>
          <p:cNvPr id="31" name="Text 29"/>
          <p:cNvSpPr txBox="1"/>
          <p:nvPr/>
        </p:nvSpPr>
        <p:spPr>
          <a:xfrm>
            <a:off x="731520" y="4745736"/>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Zeitschriften</a:t>
            </a:r>
            <a:endParaRPr lang="en-US" sz="1400" dirty="0"/>
          </a:p>
        </p:txBody>
      </p:sp>
      <p:sp>
        <p:nvSpPr>
          <p:cNvPr id="32" name="Text 30"/>
          <p:cNvSpPr txBox="1"/>
          <p:nvPr/>
        </p:nvSpPr>
        <p:spPr>
          <a:xfrm>
            <a:off x="3566160" y="4745736"/>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33" name="Text 31"/>
          <p:cNvSpPr txBox="1"/>
          <p:nvPr/>
        </p:nvSpPr>
        <p:spPr>
          <a:xfrm>
            <a:off x="548640" y="5340096"/>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Eigener Produkttyp mit eigenen Pflichtfeldern: ISSN, Erscheinungsweise, Abo-Preisarten, Staffelpreise.</a:t>
            </a:r>
            <a:endParaRPr lang="en-US" sz="1150" dirty="0"/>
          </a:p>
        </p:txBody>
      </p:sp>
      <p:sp>
        <p:nvSpPr>
          <p:cNvPr id="34" name="Shape 32"/>
          <p:cNvSpPr/>
          <p:nvPr/>
        </p:nvSpPr>
        <p:spPr>
          <a:xfrm>
            <a:off x="4335628" y="4745736"/>
            <a:ext cx="3520440" cy="502920"/>
          </a:xfrm>
          <a:prstGeom prst="rect">
            <a:avLst/>
          </a:prstGeom>
          <a:solidFill>
            <a:srgbClr val="000E2F"/>
          </a:solidFill>
          <a:ln w="12700">
            <a:solidFill>
              <a:srgbClr val="000E2F"/>
            </a:solidFill>
            <a:prstDash val="solid"/>
          </a:ln>
        </p:spPr>
      </p:sp>
      <p:sp>
        <p:nvSpPr>
          <p:cNvPr id="35" name="Text 33"/>
          <p:cNvSpPr txBox="1"/>
          <p:nvPr/>
        </p:nvSpPr>
        <p:spPr>
          <a:xfrm>
            <a:off x="4518508" y="4745736"/>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Formulare</a:t>
            </a:r>
            <a:endParaRPr lang="en-US" sz="1400" dirty="0"/>
          </a:p>
        </p:txBody>
      </p:sp>
      <p:sp>
        <p:nvSpPr>
          <p:cNvPr id="36" name="Text 34"/>
          <p:cNvSpPr txBox="1"/>
          <p:nvPr/>
        </p:nvSpPr>
        <p:spPr>
          <a:xfrm>
            <a:off x="7353148" y="4745736"/>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37" name="Text 35"/>
          <p:cNvSpPr txBox="1"/>
          <p:nvPr/>
        </p:nvSpPr>
        <p:spPr>
          <a:xfrm>
            <a:off x="4335628" y="5340096"/>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Produkttypen für Formular und Software; Formularsätze als Bundle, Varianten für Ausführungen.</a:t>
            </a:r>
            <a:endParaRPr lang="en-US" sz="1150" dirty="0"/>
          </a:p>
        </p:txBody>
      </p:sp>
      <p:sp>
        <p:nvSpPr>
          <p:cNvPr id="38" name="Shape 36"/>
          <p:cNvSpPr/>
          <p:nvPr/>
        </p:nvSpPr>
        <p:spPr>
          <a:xfrm>
            <a:off x="8122615" y="4745736"/>
            <a:ext cx="3520440" cy="502920"/>
          </a:xfrm>
          <a:prstGeom prst="rect">
            <a:avLst/>
          </a:prstGeom>
          <a:solidFill>
            <a:srgbClr val="000E2F"/>
          </a:solidFill>
          <a:ln w="12700">
            <a:solidFill>
              <a:srgbClr val="000E2F"/>
            </a:solidFill>
            <a:prstDash val="solid"/>
          </a:ln>
        </p:spPr>
      </p:sp>
      <p:sp>
        <p:nvSpPr>
          <p:cNvPr id="39" name="Text 37"/>
          <p:cNvSpPr txBox="1"/>
          <p:nvPr/>
        </p:nvSpPr>
        <p:spPr>
          <a:xfrm>
            <a:off x="8305495" y="4745736"/>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Seminare</a:t>
            </a:r>
            <a:endParaRPr lang="en-US" sz="1400" dirty="0"/>
          </a:p>
        </p:txBody>
      </p:sp>
      <p:sp>
        <p:nvSpPr>
          <p:cNvPr id="40" name="Text 38"/>
          <p:cNvSpPr txBox="1"/>
          <p:nvPr/>
        </p:nvSpPr>
        <p:spPr>
          <a:xfrm>
            <a:off x="11140135" y="4745736"/>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41" name="Text 39"/>
          <p:cNvSpPr txBox="1"/>
          <p:nvPr/>
        </p:nvSpPr>
        <p:spPr>
          <a:xfrm>
            <a:off x="8122615" y="5340096"/>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Produkttyp Schulung mit Terminen und Preisen – verknüpft mit der Begleitliteratur über Relationen.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ZEHN ARGUMENTE FÜR ANYPIM</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Jeweils mit dem Mechanismus dahinter – keine Versprechen, die das System heute nicht einlöst.</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7</a:t>
            </a:r>
            <a:endParaRPr lang="en-US" sz="900" dirty="0"/>
          </a:p>
        </p:txBody>
      </p:sp>
      <p:sp>
        <p:nvSpPr>
          <p:cNvPr id="6" name="Text 4"/>
          <p:cNvSpPr txBox="1"/>
          <p:nvPr/>
        </p:nvSpPr>
        <p:spPr>
          <a:xfrm>
            <a:off x="548640" y="1572768"/>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01 · WERK UND AUSGABE</a:t>
            </a:r>
            <a:endParaRPr lang="en-US" sz="1000" dirty="0"/>
          </a:p>
        </p:txBody>
      </p:sp>
      <p:sp>
        <p:nvSpPr>
          <p:cNvPr id="7" name="Text 5"/>
          <p:cNvSpPr txBox="1"/>
          <p:nvPr/>
        </p:nvSpPr>
        <p:spPr>
          <a:xfrm>
            <a:off x="548640" y="1810512"/>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Pflege einmal, Abweichung nur dort, wo sie ist</a:t>
            </a:r>
            <a:endParaRPr lang="en-US" sz="1500" dirty="0"/>
          </a:p>
        </p:txBody>
      </p:sp>
      <p:sp>
        <p:nvSpPr>
          <p:cNvPr id="8" name="Text 6"/>
          <p:cNvSpPr txBox="1"/>
          <p:nvPr/>
        </p:nvSpPr>
        <p:spPr>
          <a:xfrm>
            <a:off x="548640" y="2121408"/>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Vererbung Hierarchie → Produkt → Variante, pro Attribut steuerbar.</a:t>
            </a:r>
            <a:endParaRPr lang="en-US" sz="1200" dirty="0"/>
          </a:p>
        </p:txBody>
      </p:sp>
      <p:sp>
        <p:nvSpPr>
          <p:cNvPr id="9" name="Text 7"/>
          <p:cNvSpPr txBox="1"/>
          <p:nvPr/>
        </p:nvSpPr>
        <p:spPr>
          <a:xfrm>
            <a:off x="6324448" y="1572768"/>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02 · KLASSIFIKATIONEN</a:t>
            </a:r>
            <a:endParaRPr lang="en-US" sz="1000" dirty="0"/>
          </a:p>
        </p:txBody>
      </p:sp>
      <p:sp>
        <p:nvSpPr>
          <p:cNvPr id="10" name="Text 8"/>
          <p:cNvSpPr txBox="1"/>
          <p:nvPr/>
        </p:nvSpPr>
        <p:spPr>
          <a:xfrm>
            <a:off x="6324448" y="1810512"/>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Mehrere Ordnungen ohne Dubletten</a:t>
            </a:r>
            <a:endParaRPr lang="en-US" sz="1500" dirty="0"/>
          </a:p>
        </p:txBody>
      </p:sp>
      <p:sp>
        <p:nvSpPr>
          <p:cNvPr id="11" name="Text 9"/>
          <p:cNvSpPr txBox="1"/>
          <p:nvPr/>
        </p:nvSpPr>
        <p:spPr>
          <a:xfrm>
            <a:off x="6324448" y="2121408"/>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Master- und Output-Hierarchien, Attribut-Mappings mit Umrechnung.</a:t>
            </a:r>
            <a:endParaRPr lang="en-US" sz="1200" dirty="0"/>
          </a:p>
        </p:txBody>
      </p:sp>
      <p:sp>
        <p:nvSpPr>
          <p:cNvPr id="12" name="Text 10"/>
          <p:cNvSpPr txBox="1"/>
          <p:nvPr/>
        </p:nvSpPr>
        <p:spPr>
          <a:xfrm>
            <a:off x="548640" y="2514600"/>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03 · DATENMODELL</a:t>
            </a:r>
            <a:endParaRPr lang="en-US" sz="1000" dirty="0"/>
          </a:p>
        </p:txBody>
      </p:sp>
      <p:sp>
        <p:nvSpPr>
          <p:cNvPr id="13" name="Text 11"/>
          <p:cNvSpPr txBox="1"/>
          <p:nvPr/>
        </p:nvSpPr>
        <p:spPr>
          <a:xfrm>
            <a:off x="548640" y="2752344"/>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Fachabteilung statt Entwicklerticket</a:t>
            </a:r>
            <a:endParaRPr lang="en-US" sz="1500" dirty="0"/>
          </a:p>
        </p:txBody>
      </p:sp>
      <p:sp>
        <p:nvSpPr>
          <p:cNvPr id="14" name="Text 12"/>
          <p:cNvSpPr txBox="1"/>
          <p:nvPr/>
        </p:nvSpPr>
        <p:spPr>
          <a:xfrm>
            <a:off x="548640" y="3063240"/>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21 Datentypen, neue Attribute über die Oberfläche – ohne Deployment.</a:t>
            </a:r>
            <a:endParaRPr lang="en-US" sz="1200" dirty="0"/>
          </a:p>
        </p:txBody>
      </p:sp>
      <p:sp>
        <p:nvSpPr>
          <p:cNvPr id="15" name="Text 13"/>
          <p:cNvSpPr txBox="1"/>
          <p:nvPr/>
        </p:nvSpPr>
        <p:spPr>
          <a:xfrm>
            <a:off x="6324448" y="2514600"/>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04 · PRINT</a:t>
            </a:r>
            <a:endParaRPr lang="en-US" sz="1000" dirty="0"/>
          </a:p>
        </p:txBody>
      </p:sp>
      <p:sp>
        <p:nvSpPr>
          <p:cNvPr id="16" name="Text 14"/>
          <p:cNvSpPr txBox="1"/>
          <p:nvPr/>
        </p:nvSpPr>
        <p:spPr>
          <a:xfrm>
            <a:off x="6324448" y="2752344"/>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Vorschau und Prospekt aus denselben Daten</a:t>
            </a:r>
            <a:endParaRPr lang="en-US" sz="1500" dirty="0"/>
          </a:p>
        </p:txBody>
      </p:sp>
      <p:sp>
        <p:nvSpPr>
          <p:cNvPr id="17" name="Text 15"/>
          <p:cNvSpPr txBox="1"/>
          <p:nvPr/>
        </p:nvSpPr>
        <p:spPr>
          <a:xfrm>
            <a:off x="6324448" y="3063240"/>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PDF-Vorlagen, InDesign-Skript-Export und Publixx-Anbindung.</a:t>
            </a:r>
            <a:endParaRPr lang="en-US" sz="1200" dirty="0"/>
          </a:p>
        </p:txBody>
      </p:sp>
      <p:sp>
        <p:nvSpPr>
          <p:cNvPr id="18" name="Text 16"/>
          <p:cNvSpPr txBox="1"/>
          <p:nvPr/>
        </p:nvSpPr>
        <p:spPr>
          <a:xfrm>
            <a:off x="548640" y="3456432"/>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05 · SHOP UND WEB</a:t>
            </a:r>
            <a:endParaRPr lang="en-US" sz="1000" dirty="0"/>
          </a:p>
        </p:txBody>
      </p:sp>
      <p:sp>
        <p:nvSpPr>
          <p:cNvPr id="19" name="Text 17"/>
          <p:cNvSpPr txBox="1"/>
          <p:nvPr/>
        </p:nvSpPr>
        <p:spPr>
          <a:xfrm>
            <a:off x="548640" y="3694176"/>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Anbinden statt ersetzen</a:t>
            </a:r>
            <a:endParaRPr lang="en-US" sz="1500" dirty="0"/>
          </a:p>
        </p:txBody>
      </p:sp>
      <p:sp>
        <p:nvSpPr>
          <p:cNvPr id="20" name="Text 18"/>
          <p:cNvSpPr txBox="1"/>
          <p:nvPr/>
        </p:nvSpPr>
        <p:spPr>
          <a:xfrm>
            <a:off x="548640" y="4005072"/>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Shopware 6, Shopify, Katalog-Widget für CMS, umfassende REST-API.</a:t>
            </a:r>
            <a:endParaRPr lang="en-US" sz="1200" dirty="0"/>
          </a:p>
        </p:txBody>
      </p:sp>
      <p:sp>
        <p:nvSpPr>
          <p:cNvPr id="21" name="Text 19"/>
          <p:cNvSpPr txBox="1"/>
          <p:nvPr/>
        </p:nvSpPr>
        <p:spPr>
          <a:xfrm>
            <a:off x="6324448" y="3456432"/>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06 · SUCHE</a:t>
            </a:r>
            <a:endParaRPr lang="en-US" sz="1000" dirty="0"/>
          </a:p>
        </p:txBody>
      </p:sp>
      <p:sp>
        <p:nvSpPr>
          <p:cNvPr id="22" name="Text 20"/>
          <p:cNvSpPr txBox="1"/>
          <p:nvPr/>
        </p:nvSpPr>
        <p:spPr>
          <a:xfrm>
            <a:off x="6324448" y="3694176"/>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Gebaut für deutsche Fachsprache</a:t>
            </a:r>
            <a:endParaRPr lang="en-US" sz="1500" dirty="0"/>
          </a:p>
        </p:txBody>
      </p:sp>
      <p:sp>
        <p:nvSpPr>
          <p:cNvPr id="23" name="Text 21"/>
          <p:cNvSpPr txBox="1"/>
          <p:nvPr/>
        </p:nvSpPr>
        <p:spPr>
          <a:xfrm>
            <a:off x="6324448" y="4005072"/>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Fuzzy-Suche und Kölner Phonetik: „Kirchner“ findet „Kircher“.</a:t>
            </a:r>
            <a:endParaRPr lang="en-US" sz="1200" dirty="0"/>
          </a:p>
        </p:txBody>
      </p:sp>
      <p:sp>
        <p:nvSpPr>
          <p:cNvPr id="24" name="Text 22"/>
          <p:cNvSpPr txBox="1"/>
          <p:nvPr/>
        </p:nvSpPr>
        <p:spPr>
          <a:xfrm>
            <a:off x="548640" y="4398264"/>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07 · PROGRAMMPLANUNG</a:t>
            </a:r>
            <a:endParaRPr lang="en-US" sz="1000" dirty="0"/>
          </a:p>
        </p:txBody>
      </p:sp>
      <p:sp>
        <p:nvSpPr>
          <p:cNvPr id="25" name="Text 23"/>
          <p:cNvSpPr txBox="1"/>
          <p:nvPr/>
        </p:nvSpPr>
        <p:spPr>
          <a:xfrm>
            <a:off x="548640" y="4636008"/>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Erscheinungstermine im System</a:t>
            </a:r>
            <a:endParaRPr lang="en-US" sz="1500" dirty="0"/>
          </a:p>
        </p:txBody>
      </p:sp>
      <p:sp>
        <p:nvSpPr>
          <p:cNvPr id="26" name="Text 24"/>
          <p:cNvSpPr txBox="1"/>
          <p:nvPr/>
        </p:nvSpPr>
        <p:spPr>
          <a:xfrm>
            <a:off x="548640" y="4946904"/>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Versionen mit Veröffentlichungsdatum und Rollback, Planungskalender.</a:t>
            </a:r>
            <a:endParaRPr lang="en-US" sz="1200" dirty="0"/>
          </a:p>
        </p:txBody>
      </p:sp>
      <p:sp>
        <p:nvSpPr>
          <p:cNvPr id="27" name="Text 25"/>
          <p:cNvSpPr txBox="1"/>
          <p:nvPr/>
        </p:nvSpPr>
        <p:spPr>
          <a:xfrm>
            <a:off x="6324448" y="4398264"/>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08 · DATENQUALITÄT</a:t>
            </a:r>
            <a:endParaRPr lang="en-US" sz="1000" dirty="0"/>
          </a:p>
        </p:txBody>
      </p:sp>
      <p:sp>
        <p:nvSpPr>
          <p:cNvPr id="28" name="Text 26"/>
          <p:cNvSpPr txBox="1"/>
          <p:nvPr/>
        </p:nvSpPr>
        <p:spPr>
          <a:xfrm>
            <a:off x="6324448" y="4636008"/>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Vollständigkeit wird messbar</a:t>
            </a:r>
            <a:endParaRPr lang="en-US" sz="1500" dirty="0"/>
          </a:p>
        </p:txBody>
      </p:sp>
      <p:sp>
        <p:nvSpPr>
          <p:cNvPr id="29" name="Text 27"/>
          <p:cNvSpPr txBox="1"/>
          <p:nvPr/>
        </p:nvSpPr>
        <p:spPr>
          <a:xfrm>
            <a:off x="6324448" y="4946904"/>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Konformitätsprofile je Kanal, Reports, Journal und Audit-Trail.</a:t>
            </a:r>
            <a:endParaRPr lang="en-US" sz="1200" dirty="0"/>
          </a:p>
        </p:txBody>
      </p:sp>
      <p:sp>
        <p:nvSpPr>
          <p:cNvPr id="30" name="Text 28"/>
          <p:cNvSpPr txBox="1"/>
          <p:nvPr/>
        </p:nvSpPr>
        <p:spPr>
          <a:xfrm>
            <a:off x="548640" y="5340096"/>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09 · IMPORT</a:t>
            </a:r>
            <a:endParaRPr lang="en-US" sz="1000" dirty="0"/>
          </a:p>
        </p:txBody>
      </p:sp>
      <p:sp>
        <p:nvSpPr>
          <p:cNvPr id="31" name="Text 29"/>
          <p:cNvSpPr txBox="1"/>
          <p:nvPr/>
        </p:nvSpPr>
        <p:spPr>
          <a:xfrm>
            <a:off x="548640" y="5577840"/>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Bestand schnell übernehmen</a:t>
            </a:r>
            <a:endParaRPr lang="en-US" sz="1500" dirty="0"/>
          </a:p>
        </p:txBody>
      </p:sp>
      <p:sp>
        <p:nvSpPr>
          <p:cNvPr id="32" name="Text 30"/>
          <p:cNvSpPr txBox="1"/>
          <p:nvPr/>
        </p:nvSpPr>
        <p:spPr>
          <a:xfrm>
            <a:off x="548640" y="5888736"/>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Excel-Import mit dreistufiger Validierung, JSON-Voll-Import, BMEcat.</a:t>
            </a:r>
            <a:endParaRPr lang="en-US" sz="1200" dirty="0"/>
          </a:p>
        </p:txBody>
      </p:sp>
      <p:sp>
        <p:nvSpPr>
          <p:cNvPr id="33" name="Text 31"/>
          <p:cNvSpPr txBox="1"/>
          <p:nvPr/>
        </p:nvSpPr>
        <p:spPr>
          <a:xfrm>
            <a:off x="6324448" y="5340096"/>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10 · BETRIEB UND KOSTEN</a:t>
            </a:r>
            <a:endParaRPr lang="en-US" sz="1000" dirty="0"/>
          </a:p>
        </p:txBody>
      </p:sp>
      <p:sp>
        <p:nvSpPr>
          <p:cNvPr id="34" name="Text 32"/>
          <p:cNvSpPr txBox="1"/>
          <p:nvPr/>
        </p:nvSpPr>
        <p:spPr>
          <a:xfrm>
            <a:off x="6324448" y="5577840"/>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Keine Lizenzgebühr, volle Datenhoheit</a:t>
            </a:r>
            <a:endParaRPr lang="en-US" sz="1500" dirty="0"/>
          </a:p>
        </p:txBody>
      </p:sp>
      <p:sp>
        <p:nvSpPr>
          <p:cNvPr id="35" name="Text 33"/>
          <p:cNvSpPr txBox="1"/>
          <p:nvPr/>
        </p:nvSpPr>
        <p:spPr>
          <a:xfrm>
            <a:off x="6324448" y="5888736"/>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GPL-3.0, Standardstack PHP/Laravel, MySQL, Redis; SSO über Azure AD.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EHRLICH GESAGT: WAS HEUTE NOCH FEHLT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Drei Punkte, die in die Planung gehören – unabhängig vom gewählten System.</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8</a:t>
            </a:r>
            <a:endParaRPr lang="en-US" sz="900" dirty="0"/>
          </a:p>
        </p:txBody>
      </p:sp>
      <p:sp>
        <p:nvSpPr>
          <p:cNvPr id="6" name="Shape 4"/>
          <p:cNvSpPr/>
          <p:nvPr/>
        </p:nvSpPr>
        <p:spPr>
          <a:xfrm>
            <a:off x="548640" y="1691640"/>
            <a:ext cx="3520440" cy="3657600"/>
          </a:xfrm>
          <a:prstGeom prst="rect">
            <a:avLst/>
          </a:prstGeom>
          <a:solidFill>
            <a:srgbClr val="E4F3F1"/>
          </a:solidFill>
          <a:ln w="12700">
            <a:solidFill>
              <a:srgbClr val="E4F3F1"/>
            </a:solidFill>
            <a:prstDash val="solid"/>
          </a:ln>
        </p:spPr>
      </p:sp>
      <p:sp>
        <p:nvSpPr>
          <p:cNvPr id="7" name="Text 5"/>
          <p:cNvSpPr txBox="1"/>
          <p:nvPr/>
        </p:nvSpPr>
        <p:spPr>
          <a:xfrm>
            <a:off x="822960" y="1874520"/>
            <a:ext cx="1371600" cy="640080"/>
          </a:xfrm>
          <a:prstGeom prst="rect">
            <a:avLst/>
          </a:prstGeom>
          <a:noFill/>
          <a:ln/>
        </p:spPr>
        <p:txBody>
          <a:bodyPr wrap="square" lIns="0" tIns="0" rIns="0" bIns="0" rtlCol="0" anchor="t"/>
          <a:lstStyle/>
          <a:p>
            <a:pPr indent="0" marL="0">
              <a:buNone/>
            </a:pPr>
            <a:r>
              <a:rPr lang="en-US" sz="3600" dirty="0">
                <a:solidFill>
                  <a:srgbClr val="1B2D5C"/>
                </a:solidFill>
                <a:latin typeface="Arial" pitchFamily="34" charset="0"/>
                <a:ea typeface="Arial" pitchFamily="34" charset="-122"/>
                <a:cs typeface="Arial" pitchFamily="34" charset="-120"/>
              </a:rPr>
              <a:t>01</a:t>
            </a:r>
            <a:endParaRPr lang="en-US" sz="3600" dirty="0"/>
          </a:p>
        </p:txBody>
      </p:sp>
      <p:sp>
        <p:nvSpPr>
          <p:cNvPr id="8" name="Text 6"/>
          <p:cNvSpPr txBox="1"/>
          <p:nvPr/>
        </p:nvSpPr>
        <p:spPr>
          <a:xfrm>
            <a:off x="822960" y="2606040"/>
            <a:ext cx="2971800" cy="411480"/>
          </a:xfrm>
          <a:prstGeom prst="rect">
            <a:avLst/>
          </a:prstGeom>
          <a:noFill/>
          <a:ln/>
        </p:spPr>
        <p:txBody>
          <a:bodyPr wrap="square" lIns="0" tIns="0" rIns="0" bIns="0" rtlCol="0" anchor="t"/>
          <a:lstStyle/>
          <a:p>
            <a:pPr indent="0" marL="0">
              <a:buNone/>
            </a:pPr>
            <a:r>
              <a:rPr lang="en-US" sz="1900" b="1" dirty="0">
                <a:solidFill>
                  <a:srgbClr val="16181D"/>
                </a:solidFill>
                <a:latin typeface="Arial" pitchFamily="34" charset="0"/>
                <a:ea typeface="Arial" pitchFamily="34" charset="-122"/>
                <a:cs typeface="Arial" pitchFamily="34" charset="-120"/>
              </a:rPr>
              <a:t>ONIX 3.0</a:t>
            </a:r>
            <a:endParaRPr lang="en-US" sz="1900" dirty="0"/>
          </a:p>
        </p:txBody>
      </p:sp>
      <p:sp>
        <p:nvSpPr>
          <p:cNvPr id="9" name="Text 7"/>
          <p:cNvSpPr txBox="1"/>
          <p:nvPr/>
        </p:nvSpPr>
        <p:spPr>
          <a:xfrm>
            <a:off x="822960" y="3108960"/>
            <a:ext cx="2971800" cy="2103120"/>
          </a:xfrm>
          <a:prstGeom prst="rect">
            <a:avLst/>
          </a:prstGeom>
          <a:noFill/>
          <a:ln/>
        </p:spPr>
        <p:txBody>
          <a:bodyPr wrap="square" lIns="0" tIns="0" rIns="0" bIns="0" rtlCol="0" anchor="t"/>
          <a:lstStyle/>
          <a:p>
            <a:pPr indent="0" marL="0">
              <a:lnSpc>
                <a:spcPct val="112000"/>
              </a:lnSpc>
              <a:buNone/>
            </a:pPr>
            <a:r>
              <a:rPr lang="en-US" sz="1300" dirty="0">
                <a:solidFill>
                  <a:srgbClr val="16181D"/>
                </a:solidFill>
                <a:latin typeface="Arial" pitchFamily="34" charset="0"/>
                <a:ea typeface="Arial" pitchFamily="34" charset="-122"/>
                <a:cs typeface="Arial" pitchFamily="34" charset="-120"/>
              </a:rPr>
              <a:t>Für VLB und Barsortimente. In anyPIM nicht im Standard – Umsetzung als eigenes Exportformat über die vorhandene Mapping-Engine, auf demselben Weg wie BMEcat. Pimcore bringt ONIX ebenfalls nicht im Standardumfang mit.</a:t>
            </a:r>
            <a:endParaRPr lang="en-US" sz="1300" dirty="0"/>
          </a:p>
        </p:txBody>
      </p:sp>
      <p:sp>
        <p:nvSpPr>
          <p:cNvPr id="10" name="Shape 8"/>
          <p:cNvSpPr/>
          <p:nvPr/>
        </p:nvSpPr>
        <p:spPr>
          <a:xfrm>
            <a:off x="4335628" y="1691640"/>
            <a:ext cx="3520440" cy="3657600"/>
          </a:xfrm>
          <a:prstGeom prst="rect">
            <a:avLst/>
          </a:prstGeom>
          <a:solidFill>
            <a:srgbClr val="E4F3F1"/>
          </a:solidFill>
          <a:ln w="12700">
            <a:solidFill>
              <a:srgbClr val="E4F3F1"/>
            </a:solidFill>
            <a:prstDash val="solid"/>
          </a:ln>
        </p:spPr>
      </p:sp>
      <p:sp>
        <p:nvSpPr>
          <p:cNvPr id="11" name="Text 9"/>
          <p:cNvSpPr txBox="1"/>
          <p:nvPr/>
        </p:nvSpPr>
        <p:spPr>
          <a:xfrm>
            <a:off x="4609948" y="1874520"/>
            <a:ext cx="1371600" cy="640080"/>
          </a:xfrm>
          <a:prstGeom prst="rect">
            <a:avLst/>
          </a:prstGeom>
          <a:noFill/>
          <a:ln/>
        </p:spPr>
        <p:txBody>
          <a:bodyPr wrap="square" lIns="0" tIns="0" rIns="0" bIns="0" rtlCol="0" anchor="t"/>
          <a:lstStyle/>
          <a:p>
            <a:pPr indent="0" marL="0">
              <a:buNone/>
            </a:pPr>
            <a:r>
              <a:rPr lang="en-US" sz="3600" dirty="0">
                <a:solidFill>
                  <a:srgbClr val="1B2D5C"/>
                </a:solidFill>
                <a:latin typeface="Arial" pitchFamily="34" charset="0"/>
                <a:ea typeface="Arial" pitchFamily="34" charset="-122"/>
                <a:cs typeface="Arial" pitchFamily="34" charset="-120"/>
              </a:rPr>
              <a:t>02</a:t>
            </a:r>
            <a:endParaRPr lang="en-US" sz="3600" dirty="0"/>
          </a:p>
        </p:txBody>
      </p:sp>
      <p:sp>
        <p:nvSpPr>
          <p:cNvPr id="12" name="Text 10"/>
          <p:cNvSpPr txBox="1"/>
          <p:nvPr/>
        </p:nvSpPr>
        <p:spPr>
          <a:xfrm>
            <a:off x="4609948" y="2606040"/>
            <a:ext cx="2971800" cy="411480"/>
          </a:xfrm>
          <a:prstGeom prst="rect">
            <a:avLst/>
          </a:prstGeom>
          <a:noFill/>
          <a:ln/>
        </p:spPr>
        <p:txBody>
          <a:bodyPr wrap="square" lIns="0" tIns="0" rIns="0" bIns="0" rtlCol="0" anchor="t"/>
          <a:lstStyle/>
          <a:p>
            <a:pPr indent="0" marL="0">
              <a:buNone/>
            </a:pPr>
            <a:r>
              <a:rPr lang="en-US" sz="1900" b="1" dirty="0">
                <a:solidFill>
                  <a:srgbClr val="16181D"/>
                </a:solidFill>
                <a:latin typeface="Arial" pitchFamily="34" charset="0"/>
                <a:ea typeface="Arial" pitchFamily="34" charset="-122"/>
                <a:cs typeface="Arial" pitchFamily="34" charset="-120"/>
              </a:rPr>
              <a:t>Branchenklassifikationen</a:t>
            </a:r>
            <a:endParaRPr lang="en-US" sz="1900" dirty="0"/>
          </a:p>
        </p:txBody>
      </p:sp>
      <p:sp>
        <p:nvSpPr>
          <p:cNvPr id="13" name="Text 11"/>
          <p:cNvSpPr txBox="1"/>
          <p:nvPr/>
        </p:nvSpPr>
        <p:spPr>
          <a:xfrm>
            <a:off x="4609948" y="3108960"/>
            <a:ext cx="2971800" cy="2103120"/>
          </a:xfrm>
          <a:prstGeom prst="rect">
            <a:avLst/>
          </a:prstGeom>
          <a:noFill/>
          <a:ln/>
        </p:spPr>
        <p:txBody>
          <a:bodyPr wrap="square" lIns="0" tIns="0" rIns="0" bIns="0" rtlCol="0" anchor="t"/>
          <a:lstStyle/>
          <a:p>
            <a:pPr indent="0" marL="0">
              <a:lnSpc>
                <a:spcPct val="112000"/>
              </a:lnSpc>
              <a:buNone/>
            </a:pPr>
            <a:r>
              <a:rPr lang="en-US" sz="1300" dirty="0">
                <a:solidFill>
                  <a:srgbClr val="16181D"/>
                </a:solidFill>
                <a:latin typeface="Arial" pitchFamily="34" charset="0"/>
                <a:ea typeface="Arial" pitchFamily="34" charset="-122"/>
                <a:cs typeface="Arial" pitchFamily="34" charset="-120"/>
              </a:rPr>
              <a:t>Thema oder die Warengruppen-Systematik werden als Hierarchie importiert und über Attribut-Mappings befüllt. Ein vorkonfiguriertes Paket gibt es noch nicht.</a:t>
            </a:r>
            <a:endParaRPr lang="en-US" sz="1300" dirty="0"/>
          </a:p>
        </p:txBody>
      </p:sp>
      <p:sp>
        <p:nvSpPr>
          <p:cNvPr id="14" name="Shape 12"/>
          <p:cNvSpPr/>
          <p:nvPr/>
        </p:nvSpPr>
        <p:spPr>
          <a:xfrm>
            <a:off x="8122615" y="1691640"/>
            <a:ext cx="3520440" cy="3657600"/>
          </a:xfrm>
          <a:prstGeom prst="rect">
            <a:avLst/>
          </a:prstGeom>
          <a:solidFill>
            <a:srgbClr val="E4F3F1"/>
          </a:solidFill>
          <a:ln w="12700">
            <a:solidFill>
              <a:srgbClr val="E4F3F1"/>
            </a:solidFill>
            <a:prstDash val="solid"/>
          </a:ln>
        </p:spPr>
      </p:sp>
      <p:sp>
        <p:nvSpPr>
          <p:cNvPr id="15" name="Text 13"/>
          <p:cNvSpPr txBox="1"/>
          <p:nvPr/>
        </p:nvSpPr>
        <p:spPr>
          <a:xfrm>
            <a:off x="8396935" y="1874520"/>
            <a:ext cx="1371600" cy="640080"/>
          </a:xfrm>
          <a:prstGeom prst="rect">
            <a:avLst/>
          </a:prstGeom>
          <a:noFill/>
          <a:ln/>
        </p:spPr>
        <p:txBody>
          <a:bodyPr wrap="square" lIns="0" tIns="0" rIns="0" bIns="0" rtlCol="0" anchor="t"/>
          <a:lstStyle/>
          <a:p>
            <a:pPr indent="0" marL="0">
              <a:buNone/>
            </a:pPr>
            <a:r>
              <a:rPr lang="en-US" sz="3600" dirty="0">
                <a:solidFill>
                  <a:srgbClr val="1B2D5C"/>
                </a:solidFill>
                <a:latin typeface="Arial" pitchFamily="34" charset="0"/>
                <a:ea typeface="Arial" pitchFamily="34" charset="-122"/>
                <a:cs typeface="Arial" pitchFamily="34" charset="-120"/>
              </a:rPr>
              <a:t>03</a:t>
            </a:r>
            <a:endParaRPr lang="en-US" sz="3600" dirty="0"/>
          </a:p>
        </p:txBody>
      </p:sp>
      <p:sp>
        <p:nvSpPr>
          <p:cNvPr id="16" name="Text 14"/>
          <p:cNvSpPr txBox="1"/>
          <p:nvPr/>
        </p:nvSpPr>
        <p:spPr>
          <a:xfrm>
            <a:off x="8396935" y="2606040"/>
            <a:ext cx="2971800" cy="411480"/>
          </a:xfrm>
          <a:prstGeom prst="rect">
            <a:avLst/>
          </a:prstGeom>
          <a:noFill/>
          <a:ln/>
        </p:spPr>
        <p:txBody>
          <a:bodyPr wrap="square" lIns="0" tIns="0" rIns="0" bIns="0" rtlCol="0" anchor="t"/>
          <a:lstStyle/>
          <a:p>
            <a:pPr indent="0" marL="0">
              <a:buNone/>
            </a:pPr>
            <a:r>
              <a:rPr lang="en-US" sz="1900" b="1" dirty="0">
                <a:solidFill>
                  <a:srgbClr val="16181D"/>
                </a:solidFill>
                <a:latin typeface="Arial" pitchFamily="34" charset="0"/>
                <a:ea typeface="Arial" pitchFamily="34" charset="-122"/>
                <a:cs typeface="Arial" pitchFamily="34" charset="-120"/>
              </a:rPr>
              <a:t>Verlagssoftware</a:t>
            </a:r>
            <a:endParaRPr lang="en-US" sz="1900" dirty="0"/>
          </a:p>
        </p:txBody>
      </p:sp>
      <p:sp>
        <p:nvSpPr>
          <p:cNvPr id="17" name="Text 15"/>
          <p:cNvSpPr txBox="1"/>
          <p:nvPr/>
        </p:nvSpPr>
        <p:spPr>
          <a:xfrm>
            <a:off x="8396935" y="3108960"/>
            <a:ext cx="2971800" cy="2103120"/>
          </a:xfrm>
          <a:prstGeom prst="rect">
            <a:avLst/>
          </a:prstGeom>
          <a:noFill/>
          <a:ln/>
        </p:spPr>
        <p:txBody>
          <a:bodyPr wrap="square" lIns="0" tIns="0" rIns="0" bIns="0" rtlCol="0" anchor="t"/>
          <a:lstStyle/>
          <a:p>
            <a:pPr indent="0" marL="0">
              <a:lnSpc>
                <a:spcPct val="112000"/>
              </a:lnSpc>
              <a:buNone/>
            </a:pPr>
            <a:r>
              <a:rPr lang="en-US" sz="1300" dirty="0">
                <a:solidFill>
                  <a:srgbClr val="16181D"/>
                </a:solidFill>
                <a:latin typeface="Arial" pitchFamily="34" charset="0"/>
                <a:ea typeface="Arial" pitchFamily="34" charset="-122"/>
                <a:cs typeface="Arial" pitchFamily="34" charset="-120"/>
              </a:rPr>
              <a:t>Herstellung, Honorare und Rechte bleiben in der bestehenden Verlagssoftware. anyPIM ergänzt sie als führendes System für Titel- und Vermarktungsdaten – wie heute Pimcore 6.</a:t>
            </a:r>
            <a:endParaRPr lang="en-US" sz="1300" dirty="0"/>
          </a:p>
        </p:txBody>
      </p:sp>
      <p:sp>
        <p:nvSpPr>
          <p:cNvPr id="18" name="Text 16"/>
          <p:cNvSpPr txBox="1"/>
          <p:nvPr/>
        </p:nvSpPr>
        <p:spPr>
          <a:xfrm>
            <a:off x="548640" y="5577840"/>
            <a:ext cx="11094415" cy="457200"/>
          </a:xfrm>
          <a:prstGeom prst="rect">
            <a:avLst/>
          </a:prstGeom>
          <a:noFill/>
          <a:ln/>
        </p:spPr>
        <p:txBody>
          <a:bodyPr wrap="square" lIns="0" tIns="0" rIns="0" bIns="0" rtlCol="0" anchor="t"/>
          <a:lstStyle/>
          <a:p>
            <a:pPr indent="0" marL="0">
              <a:buNone/>
            </a:pPr>
            <a:r>
              <a:rPr lang="en-US" sz="1500" b="1" dirty="0">
                <a:solidFill>
                  <a:srgbClr val="E2211C"/>
                </a:solidFill>
                <a:latin typeface="Arial" pitchFamily="34" charset="0"/>
                <a:ea typeface="Arial" pitchFamily="34" charset="-122"/>
                <a:cs typeface="Arial" pitchFamily="34" charset="-120"/>
              </a:rPr>
              <a:t>→  </a:t>
            </a:r>
            <a:pPr indent="0" marL="0">
              <a:buNone/>
            </a:pPr>
            <a:r>
              <a:rPr lang="en-US" sz="1500" dirty="0">
                <a:solidFill>
                  <a:srgbClr val="1B2D5C"/>
                </a:solidFill>
                <a:latin typeface="Arial" pitchFamily="34" charset="0"/>
                <a:ea typeface="Arial" pitchFamily="34" charset="-122"/>
                <a:cs typeface="Arial" pitchFamily="34" charset="-120"/>
              </a:rPr>
              <a:t>Den ONIX-Export braucht Kohlhammer in beiden Szenarien. Bei anyPIM entsteht er als Standardformat des Produkts.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VERGLEICH I: WEG, KOSTEN, BETRIEB</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anyPIM gegenüber dem aktuellen Pimcore nach einem Upgrade von Pimcore 6.</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011680"/>
                <a:gridCol w="3886200"/>
                <a:gridCol w="3886200"/>
                <a:gridCol w="1307592"/>
              </a:tblGrid>
              <a:tr h="384048">
                <a:tc>
                  <a:txBody>
                    <a:bodyPr/>
                    <a:lstStyle/>
                    <a:p>
                      <a:pPr indent="0" marL="0">
                        <a:buNone/>
                      </a:pPr>
                      <a:r>
                        <a:rPr lang="en-US" sz="1300" dirty="0">
                          <a:solidFill>
                            <a:srgbClr val="FFFFFF"/>
                          </a:solidFill>
                          <a:latin typeface="Arial" pitchFamily="34" charset="0"/>
                          <a:ea typeface="Arial" pitchFamily="34" charset="-122"/>
                          <a:cs typeface="Arial" pitchFamily="34" charset="-120"/>
                        </a:rPr>
                        <a:t>Kriterium</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anyPIM</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Pimcore (aktuelle Version)</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Vorteil</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Weg von Pimcore 6</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Einmalige Datenübernahme per Export/Import; Standardfunktionen ersetzen Eigenentwicklungen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Upgrade über Version 10 und 11; Eigenentwicklungen je Stufe anpassen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je nach Eigenanteil</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Datenkontinuität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Datenübernahme nötig – mit dem Wissen aus 20 Jahren Betreuung gut planbar</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Daten bleiben in der Datenbank und werden je Version migriert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1B2D5C"/>
                          </a:solidFill>
                          <a:latin typeface="Arial" pitchFamily="34" charset="0"/>
                          <a:ea typeface="Arial" pitchFamily="34" charset="-122"/>
                          <a:cs typeface="Arial" pitchFamily="34" charset="-120"/>
                        </a:rPr>
                        <a:t>Pimcore</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Lizenz und Kosten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GPL-3.0, keine Lizenzgebühr – unabhängig von Umsatz und Nutzerzahl</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POCL seit 2025.1: kostenfrei nur bis 5 Mio. € Umsatz, darüber kommerzielle Lizenz</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Einführung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Konfiguration vorhandener Standardfunktionen, Pilot in Wochen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In der Regel Implementierungsprojekt, mehrere Monate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Infrastruktur</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PHP/Laravel, MySQL, Redis – Installation per Skript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Symfony, MySQL/MariaDB, Redis, zusätzlich OpenSearch/Elasticsearch</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Datenmodell ändern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Attribute zur Laufzeit über die Oberfläche, ohne Migration oder Deployment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Klassen-Editor erzeugt PHP-Klassen; Änderungen werden versioniert und ausgerollt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Abhängigkeit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Quellcode vollständig beim Kunden, Lizenz nicht nachträglich einschränkbar</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Selbst betreibbar; Lizenzmodell 2025 bereits einmal geändert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Ausrichtung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Spezialisiertes PIM mit Katalog-, Print- und Kanal-Ausgabe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Plattform aus PIM, MDM, DAM, CMS und Commerce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je nach Ziel</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VERGLEICH II: FUNKTIONEN FÜR VERLAGSDATEN</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Bewertet nach dem, was ein Fachverlag für Titeldaten braucht – nicht nach Funktionsbreite allgemein.</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011680"/>
                <a:gridCol w="3886200"/>
                <a:gridCol w="3886200"/>
                <a:gridCol w="1307592"/>
              </a:tblGrid>
              <a:tr h="384048">
                <a:tc>
                  <a:txBody>
                    <a:bodyPr/>
                    <a:lstStyle/>
                    <a:p>
                      <a:pPr indent="0" marL="0">
                        <a:buNone/>
                      </a:pPr>
                      <a:r>
                        <a:rPr lang="en-US" sz="1300" dirty="0">
                          <a:solidFill>
                            <a:srgbClr val="FFFFFF"/>
                          </a:solidFill>
                          <a:latin typeface="Arial" pitchFamily="34" charset="0"/>
                          <a:ea typeface="Arial" pitchFamily="34" charset="-122"/>
                          <a:cs typeface="Arial" pitchFamily="34" charset="-120"/>
                        </a:rPr>
                        <a:t>Kriterium</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anyPIM</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Pimcore (aktuelle Version)</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Vorteil</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Werk / Ausgabe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Vererbung Hierarchie → Produkt → Variante, pro Attribut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Objekt-Vererbung Eltern → Kind, Varianten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gleichauf</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Parallele Klassifikationen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Master- und Output-Hierarchien plus Attribut-Mapping im Standard</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Kategorien als Objekte, Classification Store – modellierbar, aber Projektarbeit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Print / Vorschau</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PDF-Vorlagen, InDesign-Skript-Export, Publixx im Produkt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Web-to-Print-Bundle, Ausprägung meist projektspezifisch</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Suche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PQL, Fuzzy, Kölner Phonetik, semantische Hybrid-Suche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Datenindex auf OpenSearch/Elasticsearch, sehr leistungsfähig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gleichauf</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Asset-Management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Medien mit Verwendungstypen, Renditions, Tags, Asset-Katalog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Vollwertiges DAM mit umfangreichem Metadatenmodell</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B2D5C"/>
                          </a:solidFill>
                          <a:latin typeface="Arial" pitchFamily="34" charset="0"/>
                          <a:ea typeface="Arial" pitchFamily="34" charset="-122"/>
                          <a:cs typeface="Arial" pitchFamily="34" charset="-120"/>
                        </a:rPr>
                        <a:t>Pimcore</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Website-CMS</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Kein eigenes CMS; Katalog-Widget für bestehende CMS</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Integriertes CMS / DXP</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1B2D5C"/>
                          </a:solidFill>
                          <a:latin typeface="Arial" pitchFamily="34" charset="0"/>
                          <a:ea typeface="Arial" pitchFamily="34" charset="-122"/>
                          <a:cs typeface="Arial" pitchFamily="34" charset="-120"/>
                        </a:rPr>
                        <a:t>Pimcore</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ONIX 3.0</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Nicht im Standard, Erweiterung über die Mapping-Engine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Nicht im Standard, Partnerlösung oder Eigenentwicklung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gleichauf</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Ökosystem</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Kleiner, direkter Draht zum Hersteller</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Große internationale Community, viele Partner und Erweiterungen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1B2D5C"/>
                          </a:solidFill>
                          <a:latin typeface="Arial" pitchFamily="34" charset="0"/>
                          <a:ea typeface="Arial" pitchFamily="34" charset="-122"/>
                          <a:cs typeface="Arial" pitchFamily="34" charset="-120"/>
                        </a:rPr>
                        <a:t>Pimcore</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BILANZ</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Ausgezählt über beide Vergleichsfolien.</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11</a:t>
            </a:r>
            <a:endParaRPr lang="en-US" sz="900" dirty="0"/>
          </a:p>
        </p:txBody>
      </p:sp>
      <p:sp>
        <p:nvSpPr>
          <p:cNvPr id="6" name="Shape 4"/>
          <p:cNvSpPr/>
          <p:nvPr/>
        </p:nvSpPr>
        <p:spPr>
          <a:xfrm>
            <a:off x="548640" y="1645920"/>
            <a:ext cx="3520440" cy="1463040"/>
          </a:xfrm>
          <a:prstGeom prst="rect">
            <a:avLst/>
          </a:prstGeom>
          <a:solidFill>
            <a:srgbClr val="FFFFFF"/>
          </a:solidFill>
          <a:ln w="12700">
            <a:solidFill>
              <a:srgbClr val="D6DDE3"/>
            </a:solidFill>
            <a:prstDash val="solid"/>
          </a:ln>
        </p:spPr>
      </p:sp>
      <p:sp>
        <p:nvSpPr>
          <p:cNvPr id="7" name="Text 5"/>
          <p:cNvSpPr txBox="1"/>
          <p:nvPr/>
        </p:nvSpPr>
        <p:spPr>
          <a:xfrm>
            <a:off x="777240" y="1737360"/>
            <a:ext cx="1097280" cy="1005840"/>
          </a:xfrm>
          <a:prstGeom prst="rect">
            <a:avLst/>
          </a:prstGeom>
          <a:noFill/>
          <a:ln/>
        </p:spPr>
        <p:txBody>
          <a:bodyPr wrap="square" lIns="0" tIns="0" rIns="0" bIns="0" rtlCol="0" anchor="t"/>
          <a:lstStyle/>
          <a:p>
            <a:pPr indent="0" marL="0">
              <a:buNone/>
            </a:pPr>
            <a:r>
              <a:rPr lang="en-US" sz="6000" dirty="0">
                <a:solidFill>
                  <a:srgbClr val="0F7A4D"/>
                </a:solidFill>
                <a:latin typeface="Arial" pitchFamily="34" charset="0"/>
                <a:ea typeface="Arial" pitchFamily="34" charset="-122"/>
                <a:cs typeface="Arial" pitchFamily="34" charset="-120"/>
              </a:rPr>
              <a:t>7</a:t>
            </a:r>
            <a:endParaRPr lang="en-US" sz="6000" dirty="0"/>
          </a:p>
        </p:txBody>
      </p:sp>
      <p:sp>
        <p:nvSpPr>
          <p:cNvPr id="8" name="Text 6"/>
          <p:cNvSpPr txBox="1"/>
          <p:nvPr/>
        </p:nvSpPr>
        <p:spPr>
          <a:xfrm>
            <a:off x="1874520" y="1920240"/>
            <a:ext cx="2057400" cy="457200"/>
          </a:xfrm>
          <a:prstGeom prst="rect">
            <a:avLst/>
          </a:prstGeom>
          <a:noFill/>
          <a:ln/>
        </p:spPr>
        <p:txBody>
          <a:bodyPr wrap="square" lIns="0" tIns="0" rIns="0" bIns="0" rtlCol="0" anchor="t"/>
          <a:lstStyle/>
          <a:p>
            <a:pPr indent="0" marL="0">
              <a:buNone/>
            </a:pPr>
            <a:r>
              <a:rPr lang="en-US" sz="1400" b="1" dirty="0">
                <a:solidFill>
                  <a:srgbClr val="16181D"/>
                </a:solidFill>
                <a:latin typeface="Arial" pitchFamily="34" charset="0"/>
                <a:ea typeface="Arial" pitchFamily="34" charset="-122"/>
                <a:cs typeface="Arial" pitchFamily="34" charset="-120"/>
              </a:rPr>
              <a:t>Kriterien mit Vorteil anyPIM</a:t>
            </a:r>
            <a:endParaRPr lang="en-US" sz="1400" dirty="0"/>
          </a:p>
        </p:txBody>
      </p:sp>
      <p:sp>
        <p:nvSpPr>
          <p:cNvPr id="9" name="Text 7"/>
          <p:cNvSpPr txBox="1"/>
          <p:nvPr/>
        </p:nvSpPr>
        <p:spPr>
          <a:xfrm>
            <a:off x="1874520" y="2395728"/>
            <a:ext cx="2057400" cy="548640"/>
          </a:xfrm>
          <a:prstGeom prst="rect">
            <a:avLst/>
          </a:prstGeom>
          <a:noFill/>
          <a:ln/>
        </p:spPr>
        <p:txBody>
          <a:bodyPr wrap="square" lIns="0" tIns="0" rIns="0" bIns="0" rtlCol="0" anchor="t"/>
          <a:lstStyle/>
          <a:p>
            <a:pPr indent="0" marL="0">
              <a:buNone/>
            </a:pPr>
            <a:r>
              <a:rPr lang="en-US" sz="1100" dirty="0">
                <a:solidFill>
                  <a:srgbClr val="4B5563"/>
                </a:solidFill>
                <a:latin typeface="Arial" pitchFamily="34" charset="0"/>
                <a:ea typeface="Arial" pitchFamily="34" charset="-122"/>
                <a:cs typeface="Arial" pitchFamily="34" charset="-120"/>
              </a:rPr>
              <a:t>Kosten, Datenmodell, Einführung, Print</a:t>
            </a:r>
            <a:endParaRPr lang="en-US" sz="1100" dirty="0"/>
          </a:p>
        </p:txBody>
      </p:sp>
      <p:sp>
        <p:nvSpPr>
          <p:cNvPr id="10" name="Shape 8"/>
          <p:cNvSpPr/>
          <p:nvPr/>
        </p:nvSpPr>
        <p:spPr>
          <a:xfrm>
            <a:off x="4335628" y="1645920"/>
            <a:ext cx="3520440" cy="1463040"/>
          </a:xfrm>
          <a:prstGeom prst="rect">
            <a:avLst/>
          </a:prstGeom>
          <a:solidFill>
            <a:srgbClr val="FFFFFF"/>
          </a:solidFill>
          <a:ln w="12700">
            <a:solidFill>
              <a:srgbClr val="D6DDE3"/>
            </a:solidFill>
            <a:prstDash val="solid"/>
          </a:ln>
        </p:spPr>
      </p:sp>
      <p:sp>
        <p:nvSpPr>
          <p:cNvPr id="11" name="Text 9"/>
          <p:cNvSpPr txBox="1"/>
          <p:nvPr/>
        </p:nvSpPr>
        <p:spPr>
          <a:xfrm>
            <a:off x="4564228" y="1737360"/>
            <a:ext cx="1097280" cy="1005840"/>
          </a:xfrm>
          <a:prstGeom prst="rect">
            <a:avLst/>
          </a:prstGeom>
          <a:noFill/>
          <a:ln/>
        </p:spPr>
        <p:txBody>
          <a:bodyPr wrap="square" lIns="0" tIns="0" rIns="0" bIns="0" rtlCol="0" anchor="t"/>
          <a:lstStyle/>
          <a:p>
            <a:pPr indent="0" marL="0">
              <a:buNone/>
            </a:pPr>
            <a:r>
              <a:rPr lang="en-US" sz="6000" dirty="0">
                <a:solidFill>
                  <a:srgbClr val="1B2D5C"/>
                </a:solidFill>
                <a:latin typeface="Arial" pitchFamily="34" charset="0"/>
                <a:ea typeface="Arial" pitchFamily="34" charset="-122"/>
                <a:cs typeface="Arial" pitchFamily="34" charset="-120"/>
              </a:rPr>
              <a:t>4</a:t>
            </a:r>
            <a:endParaRPr lang="en-US" sz="6000" dirty="0"/>
          </a:p>
        </p:txBody>
      </p:sp>
      <p:sp>
        <p:nvSpPr>
          <p:cNvPr id="12" name="Text 10"/>
          <p:cNvSpPr txBox="1"/>
          <p:nvPr/>
        </p:nvSpPr>
        <p:spPr>
          <a:xfrm>
            <a:off x="5661508" y="1920240"/>
            <a:ext cx="2057400" cy="457200"/>
          </a:xfrm>
          <a:prstGeom prst="rect">
            <a:avLst/>
          </a:prstGeom>
          <a:noFill/>
          <a:ln/>
        </p:spPr>
        <p:txBody>
          <a:bodyPr wrap="square" lIns="0" tIns="0" rIns="0" bIns="0" rtlCol="0" anchor="t"/>
          <a:lstStyle/>
          <a:p>
            <a:pPr indent="0" marL="0">
              <a:buNone/>
            </a:pPr>
            <a:r>
              <a:rPr lang="en-US" sz="1400" b="1" dirty="0">
                <a:solidFill>
                  <a:srgbClr val="16181D"/>
                </a:solidFill>
                <a:latin typeface="Arial" pitchFamily="34" charset="0"/>
                <a:ea typeface="Arial" pitchFamily="34" charset="-122"/>
                <a:cs typeface="Arial" pitchFamily="34" charset="-120"/>
              </a:rPr>
              <a:t>Kriterien mit Vorteil Pimcore</a:t>
            </a:r>
            <a:endParaRPr lang="en-US" sz="1400" dirty="0"/>
          </a:p>
        </p:txBody>
      </p:sp>
      <p:sp>
        <p:nvSpPr>
          <p:cNvPr id="13" name="Text 11"/>
          <p:cNvSpPr txBox="1"/>
          <p:nvPr/>
        </p:nvSpPr>
        <p:spPr>
          <a:xfrm>
            <a:off x="5661508" y="2395728"/>
            <a:ext cx="2057400" cy="548640"/>
          </a:xfrm>
          <a:prstGeom prst="rect">
            <a:avLst/>
          </a:prstGeom>
          <a:noFill/>
          <a:ln/>
        </p:spPr>
        <p:txBody>
          <a:bodyPr wrap="square" lIns="0" tIns="0" rIns="0" bIns="0" rtlCol="0" anchor="t"/>
          <a:lstStyle/>
          <a:p>
            <a:pPr indent="0" marL="0">
              <a:buNone/>
            </a:pPr>
            <a:r>
              <a:rPr lang="en-US" sz="1100" dirty="0">
                <a:solidFill>
                  <a:srgbClr val="4B5563"/>
                </a:solidFill>
                <a:latin typeface="Arial" pitchFamily="34" charset="0"/>
                <a:ea typeface="Arial" pitchFamily="34" charset="-122"/>
                <a:cs typeface="Arial" pitchFamily="34" charset="-120"/>
              </a:rPr>
              <a:t>Datenkontinuität, DAM, CMS, Ökosystem</a:t>
            </a:r>
            <a:endParaRPr lang="en-US" sz="1100" dirty="0"/>
          </a:p>
        </p:txBody>
      </p:sp>
      <p:sp>
        <p:nvSpPr>
          <p:cNvPr id="14" name="Shape 12"/>
          <p:cNvSpPr/>
          <p:nvPr/>
        </p:nvSpPr>
        <p:spPr>
          <a:xfrm>
            <a:off x="8122615" y="1645920"/>
            <a:ext cx="3520440" cy="1463040"/>
          </a:xfrm>
          <a:prstGeom prst="rect">
            <a:avLst/>
          </a:prstGeom>
          <a:solidFill>
            <a:srgbClr val="FFFFFF"/>
          </a:solidFill>
          <a:ln w="12700">
            <a:solidFill>
              <a:srgbClr val="D6DDE3"/>
            </a:solidFill>
            <a:prstDash val="solid"/>
          </a:ln>
        </p:spPr>
      </p:sp>
      <p:sp>
        <p:nvSpPr>
          <p:cNvPr id="15" name="Text 13"/>
          <p:cNvSpPr txBox="1"/>
          <p:nvPr/>
        </p:nvSpPr>
        <p:spPr>
          <a:xfrm>
            <a:off x="8351215" y="1737360"/>
            <a:ext cx="1097280" cy="1005840"/>
          </a:xfrm>
          <a:prstGeom prst="rect">
            <a:avLst/>
          </a:prstGeom>
          <a:noFill/>
          <a:ln/>
        </p:spPr>
        <p:txBody>
          <a:bodyPr wrap="square" lIns="0" tIns="0" rIns="0" bIns="0" rtlCol="0" anchor="t"/>
          <a:lstStyle/>
          <a:p>
            <a:pPr indent="0" marL="0">
              <a:buNone/>
            </a:pPr>
            <a:r>
              <a:rPr lang="en-US" sz="6000" dirty="0">
                <a:solidFill>
                  <a:srgbClr val="6B7280"/>
                </a:solidFill>
                <a:latin typeface="Arial" pitchFamily="34" charset="0"/>
                <a:ea typeface="Arial" pitchFamily="34" charset="-122"/>
                <a:cs typeface="Arial" pitchFamily="34" charset="-120"/>
              </a:rPr>
              <a:t>5</a:t>
            </a:r>
            <a:endParaRPr lang="en-US" sz="6000" dirty="0"/>
          </a:p>
        </p:txBody>
      </p:sp>
      <p:sp>
        <p:nvSpPr>
          <p:cNvPr id="16" name="Text 14"/>
          <p:cNvSpPr txBox="1"/>
          <p:nvPr/>
        </p:nvSpPr>
        <p:spPr>
          <a:xfrm>
            <a:off x="9448495" y="1920240"/>
            <a:ext cx="2057400" cy="457200"/>
          </a:xfrm>
          <a:prstGeom prst="rect">
            <a:avLst/>
          </a:prstGeom>
          <a:noFill/>
          <a:ln/>
        </p:spPr>
        <p:txBody>
          <a:bodyPr wrap="square" lIns="0" tIns="0" rIns="0" bIns="0" rtlCol="0" anchor="t"/>
          <a:lstStyle/>
          <a:p>
            <a:pPr indent="0" marL="0">
              <a:buNone/>
            </a:pPr>
            <a:r>
              <a:rPr lang="en-US" sz="1400" b="1" dirty="0">
                <a:solidFill>
                  <a:srgbClr val="16181D"/>
                </a:solidFill>
                <a:latin typeface="Arial" pitchFamily="34" charset="0"/>
                <a:ea typeface="Arial" pitchFamily="34" charset="-122"/>
                <a:cs typeface="Arial" pitchFamily="34" charset="-120"/>
              </a:rPr>
              <a:t>gleichauf oder abhängig</a:t>
            </a:r>
            <a:endParaRPr lang="en-US" sz="1400" dirty="0"/>
          </a:p>
        </p:txBody>
      </p:sp>
      <p:sp>
        <p:nvSpPr>
          <p:cNvPr id="17" name="Text 15"/>
          <p:cNvSpPr txBox="1"/>
          <p:nvPr/>
        </p:nvSpPr>
        <p:spPr>
          <a:xfrm>
            <a:off x="9448495" y="2395728"/>
            <a:ext cx="2057400" cy="548640"/>
          </a:xfrm>
          <a:prstGeom prst="rect">
            <a:avLst/>
          </a:prstGeom>
          <a:noFill/>
          <a:ln/>
        </p:spPr>
        <p:txBody>
          <a:bodyPr wrap="square" lIns="0" tIns="0" rIns="0" bIns="0" rtlCol="0" anchor="t"/>
          <a:lstStyle/>
          <a:p>
            <a:pPr indent="0" marL="0">
              <a:buNone/>
            </a:pPr>
            <a:r>
              <a:rPr lang="en-US" sz="1100" dirty="0">
                <a:solidFill>
                  <a:srgbClr val="4B5563"/>
                </a:solidFill>
                <a:latin typeface="Arial" pitchFamily="34" charset="0"/>
                <a:ea typeface="Arial" pitchFamily="34" charset="-122"/>
                <a:cs typeface="Arial" pitchFamily="34" charset="-120"/>
              </a:rPr>
              <a:t>von Ziel und Anteil an Eigenentwicklungen</a:t>
            </a:r>
            <a:endParaRPr lang="en-US" sz="1100" dirty="0"/>
          </a:p>
        </p:txBody>
      </p:sp>
      <p:sp>
        <p:nvSpPr>
          <p:cNvPr id="18" name="Shape 16"/>
          <p:cNvSpPr/>
          <p:nvPr/>
        </p:nvSpPr>
        <p:spPr>
          <a:xfrm>
            <a:off x="548640" y="3383280"/>
            <a:ext cx="5364328" cy="2743200"/>
          </a:xfrm>
          <a:prstGeom prst="rect">
            <a:avLst/>
          </a:prstGeom>
          <a:solidFill>
            <a:srgbClr val="E4F3F1"/>
          </a:solidFill>
          <a:ln w="12700">
            <a:solidFill>
              <a:srgbClr val="E4F3F1"/>
            </a:solidFill>
            <a:prstDash val="solid"/>
          </a:ln>
        </p:spPr>
      </p:sp>
      <p:sp>
        <p:nvSpPr>
          <p:cNvPr id="19" name="Text 17"/>
          <p:cNvSpPr txBox="1"/>
          <p:nvPr/>
        </p:nvSpPr>
        <p:spPr>
          <a:xfrm>
            <a:off x="822960" y="3566160"/>
            <a:ext cx="4815688"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anyPIM passt, wenn …</a:t>
            </a:r>
            <a:endParaRPr lang="en-US" sz="1700" dirty="0"/>
          </a:p>
        </p:txBody>
      </p:sp>
      <p:sp>
        <p:nvSpPr>
          <p:cNvPr id="20" name="Text 18"/>
          <p:cNvSpPr txBox="1"/>
          <p:nvPr/>
        </p:nvSpPr>
        <p:spPr>
          <a:xfrm>
            <a:off x="822960" y="4069080"/>
            <a:ext cx="4815688" cy="19202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6181D"/>
                </a:solidFill>
                <a:latin typeface="Arial" pitchFamily="34" charset="0"/>
                <a:ea typeface="Arial" pitchFamily="34" charset="-122"/>
                <a:cs typeface="Arial" pitchFamily="34" charset="-120"/>
              </a:rPr>
              <a:t>Titel- und Produktdaten zentral, schnell und schlank gepflegt werden sollen</a:t>
            </a:r>
            <a:endParaRPr lang="en-US" sz="1300" dirty="0"/>
          </a:p>
          <a:p>
            <a:pPr marL="342900" indent="-342900">
              <a:spcAft>
                <a:spcPts val="600"/>
              </a:spcAft>
              <a:buSzPct val="100000"/>
              <a:buChar char="•"/>
            </a:pPr>
            <a:r>
              <a:rPr lang="en-US" sz="1300" dirty="0">
                <a:solidFill>
                  <a:srgbClr val="16181D"/>
                </a:solidFill>
                <a:latin typeface="Arial" pitchFamily="34" charset="0"/>
                <a:ea typeface="Arial" pitchFamily="34" charset="-122"/>
                <a:cs typeface="Arial" pitchFamily="34" charset="-120"/>
              </a:rPr>
              <a:t>Shop, Website und Verlagssoftware bleiben und angebunden werden</a:t>
            </a:r>
            <a:endParaRPr lang="en-US" sz="1300" dirty="0"/>
          </a:p>
          <a:p>
            <a:pPr marL="342900" indent="-342900">
              <a:spcAft>
                <a:spcPts val="600"/>
              </a:spcAft>
              <a:buSzPct val="100000"/>
              <a:buChar char="•"/>
            </a:pPr>
            <a:r>
              <a:rPr lang="en-US" sz="1300" dirty="0">
                <a:solidFill>
                  <a:srgbClr val="16181D"/>
                </a:solidFill>
                <a:latin typeface="Arial" pitchFamily="34" charset="0"/>
                <a:ea typeface="Arial" pitchFamily="34" charset="-122"/>
                <a:cs typeface="Arial" pitchFamily="34" charset="-120"/>
              </a:rPr>
              <a:t>Vorschauen und Prospekte aus denselben Daten entstehen sollen</a:t>
            </a:r>
            <a:endParaRPr lang="en-US" sz="1300" dirty="0"/>
          </a:p>
          <a:p>
            <a:pPr marL="342900" indent="-342900">
              <a:spcAft>
                <a:spcPts val="600"/>
              </a:spcAft>
              <a:buSzPct val="100000"/>
              <a:buChar char="•"/>
            </a:pPr>
            <a:r>
              <a:rPr lang="en-US" sz="1300" dirty="0">
                <a:solidFill>
                  <a:srgbClr val="16181D"/>
                </a:solidFill>
                <a:latin typeface="Arial" pitchFamily="34" charset="0"/>
                <a:ea typeface="Arial" pitchFamily="34" charset="-122"/>
                <a:cs typeface="Arial" pitchFamily="34" charset="-120"/>
              </a:rPr>
              <a:t>Lizenzkosten und Herstellerabhängigkeit gering bleiben sollen</a:t>
            </a:r>
            <a:endParaRPr lang="en-US" sz="1300" dirty="0"/>
          </a:p>
        </p:txBody>
      </p:sp>
      <p:sp>
        <p:nvSpPr>
          <p:cNvPr id="21" name="Shape 19"/>
          <p:cNvSpPr/>
          <p:nvPr/>
        </p:nvSpPr>
        <p:spPr>
          <a:xfrm>
            <a:off x="6278728" y="3383280"/>
            <a:ext cx="5364328" cy="2743200"/>
          </a:xfrm>
          <a:prstGeom prst="rect">
            <a:avLst/>
          </a:prstGeom>
          <a:solidFill>
            <a:srgbClr val="F3F5F9"/>
          </a:solidFill>
          <a:ln w="12700">
            <a:solidFill>
              <a:srgbClr val="F3F5F9"/>
            </a:solidFill>
            <a:prstDash val="solid"/>
          </a:ln>
        </p:spPr>
      </p:sp>
      <p:sp>
        <p:nvSpPr>
          <p:cNvPr id="22" name="Text 20"/>
          <p:cNvSpPr txBox="1"/>
          <p:nvPr/>
        </p:nvSpPr>
        <p:spPr>
          <a:xfrm>
            <a:off x="6553048" y="3566160"/>
            <a:ext cx="4815688"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Das Pimcore-Upgrade passt, wenn …</a:t>
            </a:r>
            <a:endParaRPr lang="en-US" sz="1700" dirty="0"/>
          </a:p>
        </p:txBody>
      </p:sp>
      <p:sp>
        <p:nvSpPr>
          <p:cNvPr id="23" name="Text 21"/>
          <p:cNvSpPr txBox="1"/>
          <p:nvPr/>
        </p:nvSpPr>
        <p:spPr>
          <a:xfrm>
            <a:off x="6553048" y="4069080"/>
            <a:ext cx="4815688" cy="19202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6181D"/>
                </a:solidFill>
                <a:latin typeface="Arial" pitchFamily="34" charset="0"/>
                <a:ea typeface="Arial" pitchFamily="34" charset="-122"/>
                <a:cs typeface="Arial" pitchFamily="34" charset="-120"/>
              </a:rPr>
              <a:t>Website, DAM, PIM und Commerce auf einer Plattform zusammengeführt werden sollen</a:t>
            </a:r>
            <a:endParaRPr lang="en-US" sz="1300" dirty="0"/>
          </a:p>
          <a:p>
            <a:pPr marL="342900" indent="-342900">
              <a:spcAft>
                <a:spcPts val="600"/>
              </a:spcAft>
              <a:buSzPct val="100000"/>
              <a:buChar char="•"/>
            </a:pPr>
            <a:r>
              <a:rPr lang="en-US" sz="1300" dirty="0">
                <a:solidFill>
                  <a:srgbClr val="16181D"/>
                </a:solidFill>
                <a:latin typeface="Arial" pitchFamily="34" charset="0"/>
                <a:ea typeface="Arial" pitchFamily="34" charset="-122"/>
                <a:cs typeface="Arial" pitchFamily="34" charset="-120"/>
              </a:rPr>
              <a:t>die Eigenentwicklungen in Pimcore 6 gering und leicht portierbar sind</a:t>
            </a:r>
            <a:endParaRPr lang="en-US" sz="1300" dirty="0"/>
          </a:p>
          <a:p>
            <a:pPr marL="342900" indent="-342900">
              <a:spcAft>
                <a:spcPts val="600"/>
              </a:spcAft>
              <a:buSzPct val="100000"/>
              <a:buChar char="•"/>
            </a:pPr>
            <a:r>
              <a:rPr lang="en-US" sz="1300" dirty="0">
                <a:solidFill>
                  <a:srgbClr val="16181D"/>
                </a:solidFill>
                <a:latin typeface="Arial" pitchFamily="34" charset="0"/>
                <a:ea typeface="Arial" pitchFamily="34" charset="-122"/>
                <a:cs typeface="Arial" pitchFamily="34" charset="-120"/>
              </a:rPr>
              <a:t>ein großes Partner-Ökosystem Voraussetzung ist</a:t>
            </a:r>
            <a:endParaRPr lang="en-US" sz="1300" dirty="0"/>
          </a:p>
          <a:p>
            <a:pPr marL="342900" indent="-342900">
              <a:spcAft>
                <a:spcPts val="600"/>
              </a:spcAft>
              <a:buSzPct val="100000"/>
              <a:buChar char="•"/>
            </a:pPr>
            <a:r>
              <a:rPr lang="en-US" sz="1300" dirty="0">
                <a:solidFill>
                  <a:srgbClr val="16181D"/>
                </a:solidFill>
                <a:latin typeface="Arial" pitchFamily="34" charset="0"/>
                <a:ea typeface="Arial" pitchFamily="34" charset="-122"/>
                <a:cs typeface="Arial" pitchFamily="34" charset="-120"/>
              </a:rPr>
              <a:t>die kommerzielle Lizenz dauerhaft im Budget eingeplant ist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UNSERE ROLLE, TRANSPARENT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Wir können beide Wege gehen – und sagen deshalb offen, warum wir einen empfehlen.</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12</a:t>
            </a:r>
            <a:endParaRPr lang="en-US" sz="900" dirty="0"/>
          </a:p>
        </p:txBody>
      </p:sp>
      <p:sp>
        <p:nvSpPr>
          <p:cNvPr id="6" name="Shape 4"/>
          <p:cNvSpPr/>
          <p:nvPr/>
        </p:nvSpPr>
        <p:spPr>
          <a:xfrm>
            <a:off x="548640" y="1645920"/>
            <a:ext cx="4023360" cy="4434840"/>
          </a:xfrm>
          <a:prstGeom prst="rect">
            <a:avLst/>
          </a:prstGeom>
          <a:solidFill>
            <a:srgbClr val="000E2F"/>
          </a:solidFill>
          <a:ln w="12700">
            <a:solidFill>
              <a:srgbClr val="000E2F"/>
            </a:solidFill>
            <a:prstDash val="solid"/>
          </a:ln>
        </p:spPr>
      </p:sp>
      <p:sp>
        <p:nvSpPr>
          <p:cNvPr id="7" name="Text 5"/>
          <p:cNvSpPr txBox="1"/>
          <p:nvPr/>
        </p:nvSpPr>
        <p:spPr>
          <a:xfrm>
            <a:off x="914400" y="1920240"/>
            <a:ext cx="3474720" cy="1463040"/>
          </a:xfrm>
          <a:prstGeom prst="rect">
            <a:avLst/>
          </a:prstGeom>
          <a:noFill/>
          <a:ln/>
        </p:spPr>
        <p:txBody>
          <a:bodyPr wrap="square" lIns="0" tIns="0" rIns="0" bIns="0" rtlCol="0" anchor="t"/>
          <a:lstStyle/>
          <a:p>
            <a:pPr indent="0" marL="0">
              <a:buNone/>
            </a:pPr>
            <a:r>
              <a:rPr lang="en-US" sz="9600" dirty="0">
                <a:solidFill>
                  <a:srgbClr val="FFFFFF"/>
                </a:solidFill>
                <a:latin typeface="Arial" pitchFamily="34" charset="0"/>
                <a:ea typeface="Arial" pitchFamily="34" charset="-122"/>
                <a:cs typeface="Arial" pitchFamily="34" charset="-120"/>
              </a:rPr>
              <a:t>20+</a:t>
            </a:r>
            <a:endParaRPr lang="en-US" sz="9600" dirty="0"/>
          </a:p>
        </p:txBody>
      </p:sp>
      <p:sp>
        <p:nvSpPr>
          <p:cNvPr id="8" name="Text 6"/>
          <p:cNvSpPr txBox="1"/>
          <p:nvPr/>
        </p:nvSpPr>
        <p:spPr>
          <a:xfrm>
            <a:off x="914400" y="3474720"/>
            <a:ext cx="3291840" cy="73152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Jahre Betreuung von Kohlhammer durch incoxx</a:t>
            </a:r>
            <a:endParaRPr lang="en-US" sz="1700" dirty="0"/>
          </a:p>
        </p:txBody>
      </p:sp>
      <p:sp>
        <p:nvSpPr>
          <p:cNvPr id="9" name="Text 7"/>
          <p:cNvSpPr txBox="1"/>
          <p:nvPr/>
        </p:nvSpPr>
        <p:spPr>
          <a:xfrm>
            <a:off x="914400" y="4480560"/>
            <a:ext cx="3291840" cy="914400"/>
          </a:xfrm>
          <a:prstGeom prst="rect">
            <a:avLst/>
          </a:prstGeom>
          <a:noFill/>
          <a:ln/>
        </p:spPr>
        <p:txBody>
          <a:bodyPr wrap="square" lIns="0" tIns="0" rIns="0" bIns="0" rtlCol="0" anchor="t"/>
          <a:lstStyle/>
          <a:p>
            <a:pPr indent="0" marL="0">
              <a:buNone/>
            </a:pPr>
            <a:r>
              <a:rPr lang="en-US" sz="1300" dirty="0">
                <a:solidFill>
                  <a:srgbClr val="C6E6E3"/>
                </a:solidFill>
                <a:latin typeface="Arial" pitchFamily="34" charset="0"/>
                <a:ea typeface="Arial" pitchFamily="34" charset="-122"/>
                <a:cs typeface="Arial" pitchFamily="34" charset="-120"/>
              </a:rPr>
              <a:t>Pimcore 6 eingeführt und betrieben.</a:t>
            </a:r>
            <a:endParaRPr lang="en-US" sz="1300" dirty="0"/>
          </a:p>
          <a:p>
            <a:pPr indent="0" marL="0">
              <a:buNone/>
            </a:pPr>
            <a:r>
              <a:rPr lang="en-US" sz="1300" dirty="0">
                <a:solidFill>
                  <a:srgbClr val="C6E6E3"/>
                </a:solidFill>
                <a:latin typeface="Arial" pitchFamily="34" charset="0"/>
                <a:ea typeface="Arial" pitchFamily="34" charset="-122"/>
                <a:cs typeface="Arial" pitchFamily="34" charset="-120"/>
              </a:rPr>
              <a:t>anyPIM ist ein Produkt von incoxx.</a:t>
            </a:r>
            <a:endParaRPr lang="en-US" sz="1300" dirty="0"/>
          </a:p>
        </p:txBody>
      </p:sp>
      <p:sp>
        <p:nvSpPr>
          <p:cNvPr id="10" name="Shape 8"/>
          <p:cNvSpPr/>
          <p:nvPr/>
        </p:nvSpPr>
        <p:spPr>
          <a:xfrm>
            <a:off x="5029200" y="1755648"/>
            <a:ext cx="182880" cy="182880"/>
          </a:xfrm>
          <a:prstGeom prst="rect">
            <a:avLst/>
          </a:prstGeom>
          <a:solidFill>
            <a:srgbClr val="000E2F"/>
          </a:solidFill>
          <a:ln w="12700">
            <a:solidFill>
              <a:srgbClr val="000E2F"/>
            </a:solidFill>
            <a:prstDash val="solid"/>
          </a:ln>
        </p:spPr>
      </p:sp>
      <p:sp>
        <p:nvSpPr>
          <p:cNvPr id="11" name="Text 9"/>
          <p:cNvSpPr txBox="1"/>
          <p:nvPr/>
        </p:nvSpPr>
        <p:spPr>
          <a:xfrm>
            <a:off x="5440680" y="1691640"/>
            <a:ext cx="6202375" cy="347472"/>
          </a:xfrm>
          <a:prstGeom prst="rect">
            <a:avLst/>
          </a:prstGeom>
          <a:noFill/>
          <a:ln/>
        </p:spPr>
        <p:txBody>
          <a:bodyPr wrap="square" lIns="0" tIns="0" rIns="0" bIns="0" rtlCol="0" anchor="t"/>
          <a:lstStyle/>
          <a:p>
            <a:pPr indent="0" marL="0">
              <a:buNone/>
            </a:pPr>
            <a:r>
              <a:rPr lang="en-US" sz="1700" b="1" dirty="0">
                <a:solidFill>
                  <a:srgbClr val="16181D"/>
                </a:solidFill>
                <a:latin typeface="Arial" pitchFamily="34" charset="0"/>
                <a:ea typeface="Arial" pitchFamily="34" charset="-122"/>
                <a:cs typeface="Arial" pitchFamily="34" charset="-120"/>
              </a:rPr>
              <a:t>Wir kennen den Bestand</a:t>
            </a:r>
            <a:endParaRPr lang="en-US" sz="1700" dirty="0"/>
          </a:p>
        </p:txBody>
      </p:sp>
      <p:sp>
        <p:nvSpPr>
          <p:cNvPr id="12" name="Text 10"/>
          <p:cNvSpPr txBox="1"/>
          <p:nvPr/>
        </p:nvSpPr>
        <p:spPr>
          <a:xfrm>
            <a:off x="5440680" y="2075688"/>
            <a:ext cx="6202375" cy="1005840"/>
          </a:xfrm>
          <a:prstGeom prst="rect">
            <a:avLst/>
          </a:prstGeom>
          <a:noFill/>
          <a:ln/>
        </p:spPr>
        <p:txBody>
          <a:bodyPr wrap="square" lIns="0" tIns="0" rIns="0" bIns="0" rtlCol="0" anchor="t"/>
          <a:lstStyle/>
          <a:p>
            <a:pPr indent="0" marL="0">
              <a:lnSpc>
                <a:spcPct val="110000"/>
              </a:lnSpc>
              <a:buNone/>
            </a:pPr>
            <a:r>
              <a:rPr lang="en-US" sz="1300" dirty="0">
                <a:solidFill>
                  <a:srgbClr val="4B5563"/>
                </a:solidFill>
                <a:latin typeface="Arial" pitchFamily="34" charset="0"/>
                <a:ea typeface="Arial" pitchFamily="34" charset="-122"/>
                <a:cs typeface="Arial" pitchFamily="34" charset="-120"/>
              </a:rPr>
              <a:t>Klassen, Objekte, Eigenentwicklungen und Schnittstellen der Pimcore-6-Installation sind bei uns dokumentiert. Das senkt das Migrationsrisiko – bei anyPIM besonders, weil das Daten-Mapping nicht erst erarbeitet werden muss.</a:t>
            </a:r>
            <a:endParaRPr lang="en-US" sz="1300" dirty="0"/>
          </a:p>
        </p:txBody>
      </p:sp>
      <p:sp>
        <p:nvSpPr>
          <p:cNvPr id="13" name="Shape 11"/>
          <p:cNvSpPr/>
          <p:nvPr/>
        </p:nvSpPr>
        <p:spPr>
          <a:xfrm>
            <a:off x="5029200" y="3236976"/>
            <a:ext cx="182880" cy="182880"/>
          </a:xfrm>
          <a:prstGeom prst="rect">
            <a:avLst/>
          </a:prstGeom>
          <a:solidFill>
            <a:srgbClr val="000E2F"/>
          </a:solidFill>
          <a:ln w="12700">
            <a:solidFill>
              <a:srgbClr val="000E2F"/>
            </a:solidFill>
            <a:prstDash val="solid"/>
          </a:ln>
        </p:spPr>
      </p:sp>
      <p:sp>
        <p:nvSpPr>
          <p:cNvPr id="14" name="Text 12"/>
          <p:cNvSpPr txBox="1"/>
          <p:nvPr/>
        </p:nvSpPr>
        <p:spPr>
          <a:xfrm>
            <a:off x="5440680" y="3172968"/>
            <a:ext cx="6202375" cy="347472"/>
          </a:xfrm>
          <a:prstGeom prst="rect">
            <a:avLst/>
          </a:prstGeom>
          <a:noFill/>
          <a:ln/>
        </p:spPr>
        <p:txBody>
          <a:bodyPr wrap="square" lIns="0" tIns="0" rIns="0" bIns="0" rtlCol="0" anchor="t"/>
          <a:lstStyle/>
          <a:p>
            <a:pPr indent="0" marL="0">
              <a:buNone/>
            </a:pPr>
            <a:r>
              <a:rPr lang="en-US" sz="1700" b="1" dirty="0">
                <a:solidFill>
                  <a:srgbClr val="16181D"/>
                </a:solidFill>
                <a:latin typeface="Arial" pitchFamily="34" charset="0"/>
                <a:ea typeface="Arial" pitchFamily="34" charset="-122"/>
                <a:cs typeface="Arial" pitchFamily="34" charset="-120"/>
              </a:rPr>
              <a:t>Wir empfehlen anyPIM</a:t>
            </a:r>
            <a:endParaRPr lang="en-US" sz="1700" dirty="0"/>
          </a:p>
        </p:txBody>
      </p:sp>
      <p:sp>
        <p:nvSpPr>
          <p:cNvPr id="15" name="Text 13"/>
          <p:cNvSpPr txBox="1"/>
          <p:nvPr/>
        </p:nvSpPr>
        <p:spPr>
          <a:xfrm>
            <a:off x="5440680" y="3557016"/>
            <a:ext cx="6202375" cy="1005840"/>
          </a:xfrm>
          <a:prstGeom prst="rect">
            <a:avLst/>
          </a:prstGeom>
          <a:noFill/>
          <a:ln/>
        </p:spPr>
        <p:txBody>
          <a:bodyPr wrap="square" lIns="0" tIns="0" rIns="0" bIns="0" rtlCol="0" anchor="t"/>
          <a:lstStyle/>
          <a:p>
            <a:pPr indent="0" marL="0">
              <a:lnSpc>
                <a:spcPct val="110000"/>
              </a:lnSpc>
              <a:buNone/>
            </a:pPr>
            <a:r>
              <a:rPr lang="en-US" sz="1300" dirty="0">
                <a:solidFill>
                  <a:srgbClr val="4B5563"/>
                </a:solidFill>
                <a:latin typeface="Arial" pitchFamily="34" charset="0"/>
                <a:ea typeface="Arial" pitchFamily="34" charset="-122"/>
                <a:cs typeface="Arial" pitchFamily="34" charset="-120"/>
              </a:rPr>
              <a:t>Weil das Upgrade ohnehin einem Neuprojekt gleichkommt, erstmals Lizenzkosten auslöst und die heutigen Eigenentwicklungen in anyPIM weitgehend Standard sind.</a:t>
            </a:r>
            <a:endParaRPr lang="en-US" sz="1300" dirty="0"/>
          </a:p>
        </p:txBody>
      </p:sp>
      <p:sp>
        <p:nvSpPr>
          <p:cNvPr id="16" name="Shape 14"/>
          <p:cNvSpPr/>
          <p:nvPr/>
        </p:nvSpPr>
        <p:spPr>
          <a:xfrm>
            <a:off x="5029200" y="4718304"/>
            <a:ext cx="182880" cy="182880"/>
          </a:xfrm>
          <a:prstGeom prst="rect">
            <a:avLst/>
          </a:prstGeom>
          <a:solidFill>
            <a:srgbClr val="000E2F"/>
          </a:solidFill>
          <a:ln w="12700">
            <a:solidFill>
              <a:srgbClr val="000E2F"/>
            </a:solidFill>
            <a:prstDash val="solid"/>
          </a:ln>
        </p:spPr>
      </p:sp>
      <p:sp>
        <p:nvSpPr>
          <p:cNvPr id="17" name="Text 15"/>
          <p:cNvSpPr txBox="1"/>
          <p:nvPr/>
        </p:nvSpPr>
        <p:spPr>
          <a:xfrm>
            <a:off x="5440680" y="4654296"/>
            <a:ext cx="6202375" cy="347472"/>
          </a:xfrm>
          <a:prstGeom prst="rect">
            <a:avLst/>
          </a:prstGeom>
          <a:noFill/>
          <a:ln/>
        </p:spPr>
        <p:txBody>
          <a:bodyPr wrap="square" lIns="0" tIns="0" rIns="0" bIns="0" rtlCol="0" anchor="t"/>
          <a:lstStyle/>
          <a:p>
            <a:pPr indent="0" marL="0">
              <a:buNone/>
            </a:pPr>
            <a:r>
              <a:rPr lang="en-US" sz="1700" b="1" dirty="0">
                <a:solidFill>
                  <a:srgbClr val="16181D"/>
                </a:solidFill>
                <a:latin typeface="Arial" pitchFamily="34" charset="0"/>
                <a:ea typeface="Arial" pitchFamily="34" charset="-122"/>
                <a:cs typeface="Arial" pitchFamily="34" charset="-120"/>
              </a:rPr>
              <a:t>Wir bleiben Ansprechpartner</a:t>
            </a:r>
            <a:endParaRPr lang="en-US" sz="1700" dirty="0"/>
          </a:p>
        </p:txBody>
      </p:sp>
      <p:sp>
        <p:nvSpPr>
          <p:cNvPr id="18" name="Text 16"/>
          <p:cNvSpPr txBox="1"/>
          <p:nvPr/>
        </p:nvSpPr>
        <p:spPr>
          <a:xfrm>
            <a:off x="5440680" y="5038344"/>
            <a:ext cx="6202375" cy="1005840"/>
          </a:xfrm>
          <a:prstGeom prst="rect">
            <a:avLst/>
          </a:prstGeom>
          <a:noFill/>
          <a:ln/>
        </p:spPr>
        <p:txBody>
          <a:bodyPr wrap="square" lIns="0" tIns="0" rIns="0" bIns="0" rtlCol="0" anchor="t"/>
          <a:lstStyle/>
          <a:p>
            <a:pPr indent="0" marL="0">
              <a:lnSpc>
                <a:spcPct val="110000"/>
              </a:lnSpc>
              <a:buNone/>
            </a:pPr>
            <a:r>
              <a:rPr lang="en-US" sz="1300" dirty="0">
                <a:solidFill>
                  <a:srgbClr val="4B5563"/>
                </a:solidFill>
                <a:latin typeface="Arial" pitchFamily="34" charset="0"/>
                <a:ea typeface="Arial" pitchFamily="34" charset="-122"/>
                <a:cs typeface="Arial" pitchFamily="34" charset="-120"/>
              </a:rPr>
              <a:t>Gleicher Partner, gleiche Ansprechpersonen – mit direktem Einfluss auf die Weiterentwicklung des Produkts, etwa beim ONIX-Export.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VORGESCHLAGENER FAHRPLAN</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Richtwerte für den Workshop. Pimcore 6 läuft bis zur Umstellung weiter; ein Fachbereich dient als Pilot.</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13</a:t>
            </a:r>
            <a:endParaRPr lang="en-US" sz="900" dirty="0"/>
          </a:p>
        </p:txBody>
      </p:sp>
      <p:sp>
        <p:nvSpPr>
          <p:cNvPr id="6" name="Shape 4"/>
          <p:cNvSpPr/>
          <p:nvPr/>
        </p:nvSpPr>
        <p:spPr>
          <a:xfrm>
            <a:off x="640080" y="2377440"/>
            <a:ext cx="10911535" cy="0"/>
          </a:xfrm>
          <a:prstGeom prst="line">
            <a:avLst/>
          </a:prstGeom>
          <a:noFill/>
          <a:ln w="19050">
            <a:solidFill>
              <a:srgbClr val="1B2D5C"/>
            </a:solidFill>
            <a:prstDash val="solid"/>
          </a:ln>
        </p:spPr>
      </p:sp>
      <p:sp>
        <p:nvSpPr>
          <p:cNvPr id="7" name="Shape 5"/>
          <p:cNvSpPr/>
          <p:nvPr/>
        </p:nvSpPr>
        <p:spPr>
          <a:xfrm>
            <a:off x="548640" y="2240280"/>
            <a:ext cx="274320" cy="274320"/>
          </a:xfrm>
          <a:prstGeom prst="rect">
            <a:avLst/>
          </a:prstGeom>
          <a:solidFill>
            <a:srgbClr val="000E2F"/>
          </a:solidFill>
          <a:ln w="12700">
            <a:solidFill>
              <a:srgbClr val="000E2F"/>
            </a:solidFill>
            <a:prstDash val="solid"/>
          </a:ln>
        </p:spPr>
      </p:sp>
      <p:sp>
        <p:nvSpPr>
          <p:cNvPr id="8" name="Text 6"/>
          <p:cNvSpPr txBox="1"/>
          <p:nvPr/>
        </p:nvSpPr>
        <p:spPr>
          <a:xfrm>
            <a:off x="548640" y="2788920"/>
            <a:ext cx="2560320" cy="731520"/>
          </a:xfrm>
          <a:prstGeom prst="rect">
            <a:avLst/>
          </a:prstGeom>
          <a:noFill/>
          <a:ln/>
        </p:spPr>
        <p:txBody>
          <a:bodyPr wrap="square" lIns="0" tIns="0" rIns="0" bIns="0" rtlCol="0" anchor="t"/>
          <a:lstStyle/>
          <a:p>
            <a:pPr indent="0" marL="0">
              <a:buNone/>
            </a:pPr>
            <a:r>
              <a:rPr lang="en-US" sz="4000" dirty="0">
                <a:solidFill>
                  <a:srgbClr val="1B2D5C"/>
                </a:solidFill>
                <a:latin typeface="Arial" pitchFamily="34" charset="0"/>
                <a:ea typeface="Arial" pitchFamily="34" charset="-122"/>
                <a:cs typeface="Arial" pitchFamily="34" charset="-120"/>
              </a:rPr>
              <a:t>01</a:t>
            </a:r>
            <a:endParaRPr lang="en-US" sz="4000" dirty="0"/>
          </a:p>
        </p:txBody>
      </p:sp>
      <p:sp>
        <p:nvSpPr>
          <p:cNvPr id="9" name="Text 7"/>
          <p:cNvSpPr txBox="1"/>
          <p:nvPr/>
        </p:nvSpPr>
        <p:spPr>
          <a:xfrm>
            <a:off x="548640" y="3611880"/>
            <a:ext cx="2560320"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CA. 2 WOCHEN</a:t>
            </a:r>
            <a:endParaRPr lang="en-US" sz="1000" dirty="0"/>
          </a:p>
        </p:txBody>
      </p:sp>
      <p:sp>
        <p:nvSpPr>
          <p:cNvPr id="10" name="Text 8"/>
          <p:cNvSpPr txBox="1"/>
          <p:nvPr/>
        </p:nvSpPr>
        <p:spPr>
          <a:xfrm>
            <a:off x="548640" y="3931920"/>
            <a:ext cx="2560320" cy="384048"/>
          </a:xfrm>
          <a:prstGeom prst="rect">
            <a:avLst/>
          </a:prstGeom>
          <a:noFill/>
          <a:ln/>
        </p:spPr>
        <p:txBody>
          <a:bodyPr wrap="square" lIns="0" tIns="0" rIns="0" bIns="0" rtlCol="0" anchor="t"/>
          <a:lstStyle/>
          <a:p>
            <a:pPr indent="0" marL="0">
              <a:buNone/>
            </a:pPr>
            <a:r>
              <a:rPr lang="en-US" sz="1800" b="1" dirty="0">
                <a:solidFill>
                  <a:srgbClr val="16181D"/>
                </a:solidFill>
                <a:latin typeface="Arial" pitchFamily="34" charset="0"/>
                <a:ea typeface="Arial" pitchFamily="34" charset="-122"/>
                <a:cs typeface="Arial" pitchFamily="34" charset="-120"/>
              </a:rPr>
              <a:t>Bestandsaufnahme</a:t>
            </a:r>
            <a:endParaRPr lang="en-US" sz="1800" dirty="0"/>
          </a:p>
        </p:txBody>
      </p:sp>
      <p:sp>
        <p:nvSpPr>
          <p:cNvPr id="11" name="Text 9"/>
          <p:cNvSpPr txBox="1"/>
          <p:nvPr/>
        </p:nvSpPr>
        <p:spPr>
          <a:xfrm>
            <a:off x="548640" y="4434840"/>
            <a:ext cx="2560320" cy="1737360"/>
          </a:xfrm>
          <a:prstGeom prst="rect">
            <a:avLst/>
          </a:prstGeom>
          <a:noFill/>
          <a:ln/>
        </p:spPr>
        <p:txBody>
          <a:bodyPr wrap="square" lIns="0" tIns="0" rIns="0" bIns="0" rtlCol="0" anchor="t"/>
          <a:lstStyle/>
          <a:p>
            <a:pPr indent="0" marL="0">
              <a:lnSpc>
                <a:spcPct val="112000"/>
              </a:lnSpc>
              <a:buNone/>
            </a:pPr>
            <a:r>
              <a:rPr lang="en-US" sz="1400" dirty="0">
                <a:solidFill>
                  <a:srgbClr val="16181D"/>
                </a:solidFill>
                <a:latin typeface="Arial" pitchFamily="34" charset="0"/>
                <a:ea typeface="Arial" pitchFamily="34" charset="-122"/>
                <a:cs typeface="Arial" pitchFamily="34" charset="-120"/>
              </a:rPr>
              <a:t>Pimcore-6-Klassen, Eigenentwicklungen und Schnittstellen erfassen; Zielmodell mit Produkttypen, Attributen, Hierarchien und Ausgaben festlegen.</a:t>
            </a:r>
            <a:endParaRPr lang="en-US" sz="1400" dirty="0"/>
          </a:p>
        </p:txBody>
      </p:sp>
      <p:sp>
        <p:nvSpPr>
          <p:cNvPr id="12" name="Shape 10"/>
          <p:cNvSpPr/>
          <p:nvPr/>
        </p:nvSpPr>
        <p:spPr>
          <a:xfrm>
            <a:off x="3393338" y="2240280"/>
            <a:ext cx="274320" cy="274320"/>
          </a:xfrm>
          <a:prstGeom prst="rect">
            <a:avLst/>
          </a:prstGeom>
          <a:solidFill>
            <a:srgbClr val="000E2F"/>
          </a:solidFill>
          <a:ln w="12700">
            <a:solidFill>
              <a:srgbClr val="000E2F"/>
            </a:solidFill>
            <a:prstDash val="solid"/>
          </a:ln>
        </p:spPr>
      </p:sp>
      <p:sp>
        <p:nvSpPr>
          <p:cNvPr id="13" name="Text 11"/>
          <p:cNvSpPr txBox="1"/>
          <p:nvPr/>
        </p:nvSpPr>
        <p:spPr>
          <a:xfrm>
            <a:off x="3393338" y="2788920"/>
            <a:ext cx="2560320" cy="731520"/>
          </a:xfrm>
          <a:prstGeom prst="rect">
            <a:avLst/>
          </a:prstGeom>
          <a:noFill/>
          <a:ln/>
        </p:spPr>
        <p:txBody>
          <a:bodyPr wrap="square" lIns="0" tIns="0" rIns="0" bIns="0" rtlCol="0" anchor="t"/>
          <a:lstStyle/>
          <a:p>
            <a:pPr indent="0" marL="0">
              <a:buNone/>
            </a:pPr>
            <a:r>
              <a:rPr lang="en-US" sz="4000" dirty="0">
                <a:solidFill>
                  <a:srgbClr val="1B2D5C"/>
                </a:solidFill>
                <a:latin typeface="Arial" pitchFamily="34" charset="0"/>
                <a:ea typeface="Arial" pitchFamily="34" charset="-122"/>
                <a:cs typeface="Arial" pitchFamily="34" charset="-120"/>
              </a:rPr>
              <a:t>02</a:t>
            </a:r>
            <a:endParaRPr lang="en-US" sz="4000" dirty="0"/>
          </a:p>
        </p:txBody>
      </p:sp>
      <p:sp>
        <p:nvSpPr>
          <p:cNvPr id="14" name="Text 12"/>
          <p:cNvSpPr txBox="1"/>
          <p:nvPr/>
        </p:nvSpPr>
        <p:spPr>
          <a:xfrm>
            <a:off x="3393338" y="3611880"/>
            <a:ext cx="2560320"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CA. 4 WOCHEN</a:t>
            </a:r>
            <a:endParaRPr lang="en-US" sz="1000" dirty="0"/>
          </a:p>
        </p:txBody>
      </p:sp>
      <p:sp>
        <p:nvSpPr>
          <p:cNvPr id="15" name="Text 13"/>
          <p:cNvSpPr txBox="1"/>
          <p:nvPr/>
        </p:nvSpPr>
        <p:spPr>
          <a:xfrm>
            <a:off x="3393338" y="3931920"/>
            <a:ext cx="2560320" cy="384048"/>
          </a:xfrm>
          <a:prstGeom prst="rect">
            <a:avLst/>
          </a:prstGeom>
          <a:noFill/>
          <a:ln/>
        </p:spPr>
        <p:txBody>
          <a:bodyPr wrap="square" lIns="0" tIns="0" rIns="0" bIns="0" rtlCol="0" anchor="t"/>
          <a:lstStyle/>
          <a:p>
            <a:pPr indent="0" marL="0">
              <a:buNone/>
            </a:pPr>
            <a:r>
              <a:rPr lang="en-US" sz="1800" b="1" dirty="0">
                <a:solidFill>
                  <a:srgbClr val="16181D"/>
                </a:solidFill>
                <a:latin typeface="Arial" pitchFamily="34" charset="0"/>
                <a:ea typeface="Arial" pitchFamily="34" charset="-122"/>
                <a:cs typeface="Arial" pitchFamily="34" charset="-120"/>
              </a:rPr>
              <a:t>Pilot Brandschutz</a:t>
            </a:r>
            <a:endParaRPr lang="en-US" sz="1800" dirty="0"/>
          </a:p>
        </p:txBody>
      </p:sp>
      <p:sp>
        <p:nvSpPr>
          <p:cNvPr id="16" name="Text 14"/>
          <p:cNvSpPr txBox="1"/>
          <p:nvPr/>
        </p:nvSpPr>
        <p:spPr>
          <a:xfrm>
            <a:off x="3393338" y="4434840"/>
            <a:ext cx="2560320" cy="1737360"/>
          </a:xfrm>
          <a:prstGeom prst="rect">
            <a:avLst/>
          </a:prstGeom>
          <a:noFill/>
          <a:ln/>
        </p:spPr>
        <p:txBody>
          <a:bodyPr wrap="square" lIns="0" tIns="0" rIns="0" bIns="0" rtlCol="0" anchor="t"/>
          <a:lstStyle/>
          <a:p>
            <a:pPr indent="0" marL="0">
              <a:lnSpc>
                <a:spcPct val="112000"/>
              </a:lnSpc>
              <a:buNone/>
            </a:pPr>
            <a:r>
              <a:rPr lang="en-US" sz="1400" dirty="0">
                <a:solidFill>
                  <a:srgbClr val="16181D"/>
                </a:solidFill>
                <a:latin typeface="Arial" pitchFamily="34" charset="0"/>
                <a:ea typeface="Arial" pitchFamily="34" charset="-122"/>
                <a:cs typeface="Arial" pitchFamily="34" charset="-120"/>
              </a:rPr>
              <a:t>Titel des Fachbereichs aus Pimcore 6 übernehmen, Werk/Ausgabe-Struktur, Qualitätsprofile; Parallelbetrieb und Datenabgleich.</a:t>
            </a:r>
            <a:endParaRPr lang="en-US" sz="1400" dirty="0"/>
          </a:p>
        </p:txBody>
      </p:sp>
      <p:sp>
        <p:nvSpPr>
          <p:cNvPr id="17" name="Shape 15"/>
          <p:cNvSpPr/>
          <p:nvPr/>
        </p:nvSpPr>
        <p:spPr>
          <a:xfrm>
            <a:off x="6238037" y="2240280"/>
            <a:ext cx="274320" cy="274320"/>
          </a:xfrm>
          <a:prstGeom prst="rect">
            <a:avLst/>
          </a:prstGeom>
          <a:solidFill>
            <a:srgbClr val="000E2F"/>
          </a:solidFill>
          <a:ln w="12700">
            <a:solidFill>
              <a:srgbClr val="000E2F"/>
            </a:solidFill>
            <a:prstDash val="solid"/>
          </a:ln>
        </p:spPr>
      </p:sp>
      <p:sp>
        <p:nvSpPr>
          <p:cNvPr id="18" name="Text 16"/>
          <p:cNvSpPr txBox="1"/>
          <p:nvPr/>
        </p:nvSpPr>
        <p:spPr>
          <a:xfrm>
            <a:off x="6238037" y="2788920"/>
            <a:ext cx="2560320" cy="731520"/>
          </a:xfrm>
          <a:prstGeom prst="rect">
            <a:avLst/>
          </a:prstGeom>
          <a:noFill/>
          <a:ln/>
        </p:spPr>
        <p:txBody>
          <a:bodyPr wrap="square" lIns="0" tIns="0" rIns="0" bIns="0" rtlCol="0" anchor="t"/>
          <a:lstStyle/>
          <a:p>
            <a:pPr indent="0" marL="0">
              <a:buNone/>
            </a:pPr>
            <a:r>
              <a:rPr lang="en-US" sz="4000" dirty="0">
                <a:solidFill>
                  <a:srgbClr val="1B2D5C"/>
                </a:solidFill>
                <a:latin typeface="Arial" pitchFamily="34" charset="0"/>
                <a:ea typeface="Arial" pitchFamily="34" charset="-122"/>
                <a:cs typeface="Arial" pitchFamily="34" charset="-120"/>
              </a:rPr>
              <a:t>03</a:t>
            </a:r>
            <a:endParaRPr lang="en-US" sz="4000" dirty="0"/>
          </a:p>
        </p:txBody>
      </p:sp>
      <p:sp>
        <p:nvSpPr>
          <p:cNvPr id="19" name="Text 17"/>
          <p:cNvSpPr txBox="1"/>
          <p:nvPr/>
        </p:nvSpPr>
        <p:spPr>
          <a:xfrm>
            <a:off x="6238037" y="3611880"/>
            <a:ext cx="2560320"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CA. 4–6 WOCHEN</a:t>
            </a:r>
            <a:endParaRPr lang="en-US" sz="1000" dirty="0"/>
          </a:p>
        </p:txBody>
      </p:sp>
      <p:sp>
        <p:nvSpPr>
          <p:cNvPr id="20" name="Text 18"/>
          <p:cNvSpPr txBox="1"/>
          <p:nvPr/>
        </p:nvSpPr>
        <p:spPr>
          <a:xfrm>
            <a:off x="6238037" y="3931920"/>
            <a:ext cx="2560320" cy="384048"/>
          </a:xfrm>
          <a:prstGeom prst="rect">
            <a:avLst/>
          </a:prstGeom>
          <a:noFill/>
          <a:ln/>
        </p:spPr>
        <p:txBody>
          <a:bodyPr wrap="square" lIns="0" tIns="0" rIns="0" bIns="0" rtlCol="0" anchor="t"/>
          <a:lstStyle/>
          <a:p>
            <a:pPr indent="0" marL="0">
              <a:buNone/>
            </a:pPr>
            <a:r>
              <a:rPr lang="en-US" sz="1800" b="1" dirty="0">
                <a:solidFill>
                  <a:srgbClr val="16181D"/>
                </a:solidFill>
                <a:latin typeface="Arial" pitchFamily="34" charset="0"/>
                <a:ea typeface="Arial" pitchFamily="34" charset="-122"/>
                <a:cs typeface="Arial" pitchFamily="34" charset="-120"/>
              </a:rPr>
              <a:t>Kanäle</a:t>
            </a:r>
            <a:endParaRPr lang="en-US" sz="1800" dirty="0"/>
          </a:p>
        </p:txBody>
      </p:sp>
      <p:sp>
        <p:nvSpPr>
          <p:cNvPr id="21" name="Text 19"/>
          <p:cNvSpPr txBox="1"/>
          <p:nvPr/>
        </p:nvSpPr>
        <p:spPr>
          <a:xfrm>
            <a:off x="6238037" y="4434840"/>
            <a:ext cx="2560320" cy="1737360"/>
          </a:xfrm>
          <a:prstGeom prst="rect">
            <a:avLst/>
          </a:prstGeom>
          <a:noFill/>
          <a:ln/>
        </p:spPr>
        <p:txBody>
          <a:bodyPr wrap="square" lIns="0" tIns="0" rIns="0" bIns="0" rtlCol="0" anchor="t"/>
          <a:lstStyle/>
          <a:p>
            <a:pPr indent="0" marL="0">
              <a:lnSpc>
                <a:spcPct val="112000"/>
              </a:lnSpc>
              <a:buNone/>
            </a:pPr>
            <a:r>
              <a:rPr lang="en-US" sz="1400" dirty="0">
                <a:solidFill>
                  <a:srgbClr val="16181D"/>
                </a:solidFill>
                <a:latin typeface="Arial" pitchFamily="34" charset="0"/>
                <a:ea typeface="Arial" pitchFamily="34" charset="-122"/>
                <a:cs typeface="Arial" pitchFamily="34" charset="-120"/>
              </a:rPr>
              <a:t>Shop und Handel auf anyPIM umstellen, ONIX-Export, erste Vorschau als PDF, Zugangslinks für Presse und Partner.</a:t>
            </a:r>
            <a:endParaRPr lang="en-US" sz="1400" dirty="0"/>
          </a:p>
        </p:txBody>
      </p:sp>
      <p:sp>
        <p:nvSpPr>
          <p:cNvPr id="22" name="Shape 20"/>
          <p:cNvSpPr/>
          <p:nvPr/>
        </p:nvSpPr>
        <p:spPr>
          <a:xfrm>
            <a:off x="9082735" y="2240280"/>
            <a:ext cx="274320" cy="274320"/>
          </a:xfrm>
          <a:prstGeom prst="rect">
            <a:avLst/>
          </a:prstGeom>
          <a:solidFill>
            <a:srgbClr val="E2211C"/>
          </a:solidFill>
          <a:ln w="12700">
            <a:solidFill>
              <a:srgbClr val="E2211C"/>
            </a:solidFill>
            <a:prstDash val="solid"/>
          </a:ln>
        </p:spPr>
      </p:sp>
      <p:sp>
        <p:nvSpPr>
          <p:cNvPr id="23" name="Text 21"/>
          <p:cNvSpPr txBox="1"/>
          <p:nvPr/>
        </p:nvSpPr>
        <p:spPr>
          <a:xfrm>
            <a:off x="9082735" y="2788920"/>
            <a:ext cx="2560320" cy="731520"/>
          </a:xfrm>
          <a:prstGeom prst="rect">
            <a:avLst/>
          </a:prstGeom>
          <a:noFill/>
          <a:ln/>
        </p:spPr>
        <p:txBody>
          <a:bodyPr wrap="square" lIns="0" tIns="0" rIns="0" bIns="0" rtlCol="0" anchor="t"/>
          <a:lstStyle/>
          <a:p>
            <a:pPr indent="0" marL="0">
              <a:buNone/>
            </a:pPr>
            <a:r>
              <a:rPr lang="en-US" sz="4000" dirty="0">
                <a:solidFill>
                  <a:srgbClr val="1B2D5C"/>
                </a:solidFill>
                <a:latin typeface="Arial" pitchFamily="34" charset="0"/>
                <a:ea typeface="Arial" pitchFamily="34" charset="-122"/>
                <a:cs typeface="Arial" pitchFamily="34" charset="-120"/>
              </a:rPr>
              <a:t>04</a:t>
            </a:r>
            <a:endParaRPr lang="en-US" sz="4000" dirty="0"/>
          </a:p>
        </p:txBody>
      </p:sp>
      <p:sp>
        <p:nvSpPr>
          <p:cNvPr id="24" name="Text 22"/>
          <p:cNvSpPr txBox="1"/>
          <p:nvPr/>
        </p:nvSpPr>
        <p:spPr>
          <a:xfrm>
            <a:off x="9082735" y="3611880"/>
            <a:ext cx="2560320"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FORTLAUFEND</a:t>
            </a:r>
            <a:endParaRPr lang="en-US" sz="1000" dirty="0"/>
          </a:p>
        </p:txBody>
      </p:sp>
      <p:sp>
        <p:nvSpPr>
          <p:cNvPr id="25" name="Text 23"/>
          <p:cNvSpPr txBox="1"/>
          <p:nvPr/>
        </p:nvSpPr>
        <p:spPr>
          <a:xfrm>
            <a:off x="9082735" y="3931920"/>
            <a:ext cx="2560320" cy="384048"/>
          </a:xfrm>
          <a:prstGeom prst="rect">
            <a:avLst/>
          </a:prstGeom>
          <a:noFill/>
          <a:ln/>
        </p:spPr>
        <p:txBody>
          <a:bodyPr wrap="square" lIns="0" tIns="0" rIns="0" bIns="0" rtlCol="0" anchor="t"/>
          <a:lstStyle/>
          <a:p>
            <a:pPr indent="0" marL="0">
              <a:buNone/>
            </a:pPr>
            <a:r>
              <a:rPr lang="en-US" sz="1800" b="1" dirty="0">
                <a:solidFill>
                  <a:srgbClr val="16181D"/>
                </a:solidFill>
                <a:latin typeface="Arial" pitchFamily="34" charset="0"/>
                <a:ea typeface="Arial" pitchFamily="34" charset="-122"/>
                <a:cs typeface="Arial" pitchFamily="34" charset="-120"/>
              </a:rPr>
              <a:t>Ablösung</a:t>
            </a:r>
            <a:endParaRPr lang="en-US" sz="1800" dirty="0"/>
          </a:p>
        </p:txBody>
      </p:sp>
      <p:sp>
        <p:nvSpPr>
          <p:cNvPr id="26" name="Text 24"/>
          <p:cNvSpPr txBox="1"/>
          <p:nvPr/>
        </p:nvSpPr>
        <p:spPr>
          <a:xfrm>
            <a:off x="9082735" y="4434840"/>
            <a:ext cx="2560320" cy="1737360"/>
          </a:xfrm>
          <a:prstGeom prst="rect">
            <a:avLst/>
          </a:prstGeom>
          <a:noFill/>
          <a:ln/>
        </p:spPr>
        <p:txBody>
          <a:bodyPr wrap="square" lIns="0" tIns="0" rIns="0" bIns="0" rtlCol="0" anchor="t"/>
          <a:lstStyle/>
          <a:p>
            <a:pPr indent="0" marL="0">
              <a:lnSpc>
                <a:spcPct val="112000"/>
              </a:lnSpc>
              <a:buNone/>
            </a:pPr>
            <a:r>
              <a:rPr lang="en-US" sz="1400" dirty="0">
                <a:solidFill>
                  <a:srgbClr val="16181D"/>
                </a:solidFill>
                <a:latin typeface="Arial" pitchFamily="34" charset="0"/>
                <a:ea typeface="Arial" pitchFamily="34" charset="-122"/>
                <a:cs typeface="Arial" pitchFamily="34" charset="-120"/>
              </a:rPr>
              <a:t>Weitere Fachbereiche, Zeitschriften, Formulare und Seminare; Schulung der Redaktionen; Abschaltung von Pimcore 6.</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6E6E3"/>
        </a:solidFill>
      </p:bgPr>
    </p:bg>
    <p:spTree>
      <p:nvGrpSpPr>
        <p:cNvPr id="1" name=""/>
        <p:cNvGrpSpPr/>
        <p:nvPr/>
      </p:nvGrpSpPr>
      <p:grpSpPr>
        <a:xfrm>
          <a:off x="0" y="0"/>
          <a:ext cx="0" cy="0"/>
          <a:chOff x="0" y="0"/>
          <a:chExt cx="0" cy="0"/>
        </a:xfrm>
      </p:grpSpPr>
      <p:sp>
        <p:nvSpPr>
          <p:cNvPr id="2" name="Text 0"/>
          <p:cNvSpPr txBox="1"/>
          <p:nvPr/>
        </p:nvSpPr>
        <p:spPr>
          <a:xfrm>
            <a:off x="548640" y="1188720"/>
            <a:ext cx="11094415" cy="731520"/>
          </a:xfrm>
          <a:prstGeom prst="rect">
            <a:avLst/>
          </a:prstGeom>
          <a:noFill/>
          <a:ln/>
        </p:spPr>
        <p:txBody>
          <a:bodyPr wrap="square" lIns="0" tIns="0" rIns="0" bIns="0" rtlCol="0" anchor="t"/>
          <a:lstStyle/>
          <a:p>
            <a:pPr algn="ctr" indent="0" marL="0">
              <a:buNone/>
            </a:pPr>
            <a:r>
              <a:rPr lang="en-US" sz="4000" dirty="0">
                <a:solidFill>
                  <a:srgbClr val="16181D"/>
                </a:solidFill>
                <a:latin typeface="Arial" pitchFamily="34" charset="0"/>
                <a:ea typeface="Arial" pitchFamily="34" charset="-122"/>
                <a:cs typeface="Arial" pitchFamily="34" charset="-120"/>
              </a:rPr>
              <a:t>NÄCHSTER SCHRITT</a:t>
            </a:r>
            <a:endParaRPr lang="en-US" sz="4000" dirty="0"/>
          </a:p>
        </p:txBody>
      </p:sp>
      <p:sp>
        <p:nvSpPr>
          <p:cNvPr id="3" name="Text 1"/>
          <p:cNvSpPr txBox="1"/>
          <p:nvPr/>
        </p:nvSpPr>
        <p:spPr>
          <a:xfrm>
            <a:off x="2194560" y="2194560"/>
            <a:ext cx="7802575" cy="1371600"/>
          </a:xfrm>
          <a:prstGeom prst="rect">
            <a:avLst/>
          </a:prstGeom>
          <a:noFill/>
          <a:ln/>
        </p:spPr>
        <p:txBody>
          <a:bodyPr wrap="square" lIns="0" tIns="0" rIns="0" bIns="0" rtlCol="0" anchor="t"/>
          <a:lstStyle/>
          <a:p>
            <a:pPr algn="ctr" indent="0" marL="0">
              <a:lnSpc>
                <a:spcPct val="115000"/>
              </a:lnSpc>
              <a:buNone/>
            </a:pPr>
            <a:r>
              <a:rPr lang="en-US" sz="1700" dirty="0">
                <a:solidFill>
                  <a:srgbClr val="22303C"/>
                </a:solidFill>
                <a:latin typeface="Arial" pitchFamily="34" charset="0"/>
                <a:ea typeface="Arial" pitchFamily="34" charset="-122"/>
                <a:cs typeface="Arial" pitchFamily="34" charset="-120"/>
              </a:rPr>
              <a:t>Ein halbtägiger Workshop mit Lektorat, Herstellung, Vertrieb und IT – danach ein Pilot mit dem Fachbereich Brandschutz auf echten Titeldaten aus Pimcore 6. Das Ergebnis ist eine belastbare Grundlage für die Entscheidung zwischen Upgrade und Wechsel.</a:t>
            </a:r>
            <a:endParaRPr lang="en-US" sz="1700" dirty="0"/>
          </a:p>
        </p:txBody>
      </p:sp>
      <p:sp>
        <p:nvSpPr>
          <p:cNvPr id="4" name="Shape 2"/>
          <p:cNvSpPr/>
          <p:nvPr/>
        </p:nvSpPr>
        <p:spPr>
          <a:xfrm>
            <a:off x="4175608" y="3886200"/>
            <a:ext cx="3840480" cy="731520"/>
          </a:xfrm>
          <a:prstGeom prst="rect">
            <a:avLst/>
          </a:prstGeom>
          <a:solidFill>
            <a:srgbClr val="1B2D5C"/>
          </a:solidFill>
          <a:ln w="12700">
            <a:solidFill>
              <a:srgbClr val="1B2D5C"/>
            </a:solidFill>
            <a:prstDash val="solid"/>
          </a:ln>
        </p:spPr>
      </p:sp>
      <p:sp>
        <p:nvSpPr>
          <p:cNvPr id="5" name="Text 3"/>
          <p:cNvSpPr txBox="1"/>
          <p:nvPr/>
        </p:nvSpPr>
        <p:spPr>
          <a:xfrm>
            <a:off x="4175608" y="3886200"/>
            <a:ext cx="3840480" cy="73152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Workshop vereinbaren   →</a:t>
            </a:r>
            <a:endParaRPr lang="en-US" sz="2000" dirty="0"/>
          </a:p>
        </p:txBody>
      </p:sp>
      <p:sp>
        <p:nvSpPr>
          <p:cNvPr id="6" name="Text 4"/>
          <p:cNvSpPr txBox="1"/>
          <p:nvPr/>
        </p:nvSpPr>
        <p:spPr>
          <a:xfrm>
            <a:off x="548640" y="5760720"/>
            <a:ext cx="11094415" cy="731520"/>
          </a:xfrm>
          <a:prstGeom prst="rect">
            <a:avLst/>
          </a:prstGeom>
          <a:noFill/>
          <a:ln/>
        </p:spPr>
        <p:txBody>
          <a:bodyPr wrap="square" lIns="0" tIns="0" rIns="0" bIns="0" rtlCol="0" anchor="t"/>
          <a:lstStyle/>
          <a:p>
            <a:pPr algn="ctr" indent="0" marL="0">
              <a:buNone/>
            </a:pPr>
            <a:r>
              <a:rPr lang="en-US" sz="900" dirty="0">
                <a:solidFill>
                  <a:srgbClr val="4B5563"/>
                </a:solidFill>
                <a:latin typeface="Arial" pitchFamily="34" charset="0"/>
                <a:ea typeface="Arial" pitchFamily="34" charset="-122"/>
                <a:cs typeface="Arial" pitchFamily="34" charset="-120"/>
              </a:rPr>
              <a:t>Entscheidungsvorlage der incoxx GmbH, Stand September 2026. Keine Veröffentlichung der W. Kohlhammer GmbH; „Kohlhammer“ ist eine Marke der W. Kohlhammer GmbH. Titelbeispiel nach den im Kohlhammer-Shop angezeigten Angaben. Angaben zu Pimcore nach öffentlich verfügbaren Informationen (pimcore.com: Blog „Pimcore says goodbye to GPL … POCL“, Community Edition, Enterprise Open Core); aktuelle Lizenzkonditionen vor einer Entscheidung beim Hersteller prüfen.</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anyPIM für Kohlhammer – Pimcore-Upgrade oder Wechsel</dc:title>
  <dc:subject>PptxGenJS Presentation</dc:subject>
  <dc:creator>incoxx GmbH</dc:creator>
  <cp:lastModifiedBy>incoxx GmbH</cp:lastModifiedBy>
  <cp:revision>1</cp:revision>
  <dcterms:created xsi:type="dcterms:W3CDTF">2026-09-28T13:21:12Z</dcterms:created>
  <dcterms:modified xsi:type="dcterms:W3CDTF">2026-09-28T13:21:12Z</dcterms:modified>
</cp:coreProperties>
</file>