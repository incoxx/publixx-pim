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Einstieg: Kohlhammer pflegt Titeldaten seit Jahren in Pimcore 6, eingeführt und betreut von incoxx. Pimcore 6 ist am Ende seines Lebenszyklus. Heute geht es um die Frage: Upgrade auf das aktuelle Pimcore oder Wechsel auf anyPIM. Wir stellen beide Wege sachlich gegenüber und begründen unsere Empfehlung.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Weiterbetrieb von Pimcore 6 ist nur eine Übergangslösung. Die echte Wahl liegt zwischen Upgrade und Wechsel. Beide sind machbar – sie unterscheiden sich in Aufwand, laufendem Wartungsaufwand, Lizenzkosten und Zukunftssicherheit.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Kohlhammer ist auf Pimcore 6, Pimcore selbst ist bei 2026.2, 2026.3 ist angekündigt. Der Weg führt über Pimcore 10 und 11 bis zur aktuellen Version – und danach muss jedes weitere Release nachgezogen werden. Seit 2025.1 gilt die POCL: kostenfrei nur bis 5 Mio. € Jahresumsatz (Quelle: pimcore.com). Konkrete Lizenzkonditionen vor der Entscheidung beim Hersteller anfragen.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der Stack, den Pimcore in aktuellen Versionen typischerweise mitbringt: Container-Betrieb, OpenSearch als Pflicht-Suchindex, Messenger-Worker und lizenzierte Enterprise-Erweiterungen, die Kohlhammer nur eingeschränkt nutzt. Rechts anyPIM: nativer Betrieb auf einem Linux-Server, Updates per Skript. Semantische Suche über Meilisearch ist optional zuschaltbar.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Anforderungen sind aus dem Auftritt von kohlhammer.de und shop.kohlhammer.de abgeleitet. Entscheidend: ein Werk mit mehreren Ausgaben, parallele Ordnungen (Fachbereich, Reihe, Handel) und ein sehr gemischtes Programm.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Realer Titel aus dem Kohlhammer-Shop. In anyPIM ist das Werk das Elternprodukt, die drei Ausgaben sind Varianten. Vererbung ist pro Attribut steuerbar. Der Titel hängt in einer Master-Hierarchie und parallel in beliebig vielen Output-Hierarchien – ohne Dubletten. „Mehr aus der Reihe“ ergibt sich direkt aus der Reihen-Hierarchie.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Kacheln spiegeln die Service-Navigation von kohlhammer.de. Alles hier Genannte ist heute im Produkt vorhanden; ONIX ist bewusst ausgeklammert und wird auf der Folie „Was noch fehlt“ behandelt.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Zehn Argumente, jedes an einer vorhandenen Funktion festgemacht. Für Kohlhammer besonders relevant: Werk/Ausgabe-Vererbung, parallele Klassifikationen, Print aus PIM-Daten und die fehlenden Lizenzkosten.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Bewusst offen: Auch der Wechsel zu anyPIM ist ein Projekt. Die Kohlhammer-Funktionsliste zeigt drei Gruppen – was heute Standard ist, was eingerichtet wird, und was wir bauen. Alles, was wir bauen, wird Teil des Produkts (z. B. EasyCatalog- und ONIX-Export als Standardformate), nicht eine Kundenerweiterung. Das Projekt gibt es auch beim Pimcore-Upgrade – dort als Portierung der Eigenentwicklungen, die danach bei jedem Release wieder gepflegt werden müssen. Herstellung, Honorare und Rechte bleiben in der Verlagssoftware. Ärzteshop und Compu-Anwendung im Workshop klären.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Erster Teil des Vergleichs: Weg, laufender Betrieb und Lizenz. Pimcore punktet bei der Datenkontinuität, anyPIM bei laufenden Updates, Betriebskomplexität und einem Lizenzmodell, das nur genutzte Module berechnet.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Zweiter Teil: Funktionen. Pimcore ist bei DAM, CMS und Ökosystem breiter aufgestellt. Für die Kernaufgabe Titeldaten liegt anyPIM bei Datenmodell, Klassifikationen und Print vorn.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Bilanz zählt nicht Kriterien, sondern gewichtet nach Wirkung. Pimcores Vorteile – Datenkontinuität beim Umstieg und Plattformbreite – wirken einmalig bzw. nur, wenn Kohlhammer eine Plattform-Konsolidierung will. anyPIMs Vorteile – Updates, Betrieb, Lizenz nach Nutzung und Kohlhammer-Funktionen als Standard – wirken jedes Jahr. Die Plattformfrage offen ansprechen.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Offen ansprechen: incoxx hat ein Eigeninteresse, da anyPIM unser Produkt ist. Gleichzeitig kennen wir Pimcore bei Kohlhammer besser als jeder andere Partner und könnten das Upgrade ebenso umsetzen. anyPIM hat ebenfalls Enterprise-Module; lizenziert wird aber nur, was Kohlhammer tatsächlich nutzt. Die Empfehlung folgt aus Aufwand, Lizenz und Funktionsabdeckung.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Kernbotschaft: Bei anyPIM gestaltet Kohlhammer das Produkt mit. Die vier Säulen machen das möglich: offener Code, KI-Anbindung über MCP und KI-Dienste, klare Erweiterungspunkte und eine Dokumentation, die Menschen und KI-Agenten gleichermaßen nutzen. Was Kohlhammer braucht, wird Standard – und bleibt es bei jedem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Zeiträume sind Richtwerte und werden in der Bestandsaufnahme geschärft. Der Pilot mit dem Fachbereich Brandschutz liefert eine belastbare Entscheidungsgrundlage auf echten Daten, bevor das ganze Programm umzieht.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Abschluss mit konkretem Vorschlag: Workshop und Pilot. So entscheidet Kohlhammer auf Basis eigener Daten, nicht auf Basis von Folien.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6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für Kohlhammer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417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2B3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Wissen braucht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19456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400" dirty="0">
                <a:solidFill>
                  <a:srgbClr val="2B3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Struktur.</a:t>
            </a:r>
            <a:endParaRPr lang="en-US" sz="1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805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Pimcore-Upgrade oder Wechsel zu anyPIM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Entscheidungsvorlage für die W. Kohlhammer GmbH  ·  incoxx GmbH  ·  September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ENTSCHEIDUNG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denkbare Wege – zwei davon sind tragfähig.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520440" cy="68580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 mit Pimcore 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7830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Keine Option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291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 6 erhält keine Updates mehr und läuft auf einer PHP- und Symfony-Generation ohne Sicherheitsupdates. Das Betriebsrisiko wächst mit jedem Monat.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35628" y="1783080"/>
            <a:ext cx="3520440" cy="68580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18508" y="1783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 auf aktuelles Pimcore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53148" y="17830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35628" y="2697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E3E8F4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35628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Tragfähig, aufwendig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335628" y="3291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Schrittweise über mehrere Hauptversionen bis 2026.x, danach jedes Release nachziehen. Wachsender Stack mit Docker und OpenSearch – und erstmals Lizenzkosten, auch für Erweiterungen mit wenig Nutzen.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22615" y="1783080"/>
            <a:ext cx="3520440" cy="68580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05495" y="17830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Wechsel zu anyPIM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140135" y="1783080"/>
            <a:ext cx="365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122615" y="269748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 w="12700">
            <a:solidFill>
              <a:srgbClr val="DFF3E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22615" y="26974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Tragfähig · Empfehlung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122615" y="3291840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Datenübernahme und ein Projekt für Kohlhammer-Funktionen, die danach Standard im Produkt sind. Nativer Betrieb ohne Docker und OpenSearch; lizenziert werden nur genutzte Module.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„UPGRADE“ BEI PIMCORE 6 HEISST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Versionssprung, sondern ein Weg über mehrere Hauptversionen – und danach eine Daueraufgabe.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2D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81635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Kohlhammer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17830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828800" y="178308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2D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82880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645920" y="281635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 5,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8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7830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08960" y="178308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2D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2926080" y="281635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Symfony 6,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 ausgelagert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023360" y="17830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389120" y="178308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B2D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2026.2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281635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aktuelle Version,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POCL, Studio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178308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669280" y="1783080"/>
            <a:ext cx="914400" cy="914400"/>
          </a:xfrm>
          <a:prstGeom prst="ellipse">
            <a:avLst/>
          </a:prstGeom>
          <a:solidFill>
            <a:srgbClr val="1B2D5C"/>
          </a:solidFill>
          <a:ln w="25400">
            <a:solidFill>
              <a:srgbClr val="1B2D5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0" y="2816352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angekündigt –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so weiter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703320"/>
            <a:ext cx="5943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Stufe bringt neue PHP- und Symfony-Anforderungen – Eigenentwicklungen müssen jedes Mal angepasst werden.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dem Upgrade bleibt Nachziehen Daueraufgabe: 2026.3 ist angekündigt, jedes Release betrifft Core, Bundles, Oberfläche und Betriebsumgebung.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 6 lief unter GPL. Das aktuelle Pimcore steht unter der Pimcore Open Core License.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03720" y="1783080"/>
            <a:ext cx="4739335" cy="2834640"/>
          </a:xfrm>
          <a:prstGeom prst="rect">
            <a:avLst/>
          </a:prstGeom>
          <a:solidFill>
            <a:srgbClr val="C6E6E3"/>
          </a:solidFill>
          <a:ln w="12700">
            <a:solidFill>
              <a:srgbClr val="C6E6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20116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Mio. €</a:t>
            </a:r>
            <a:endParaRPr lang="en-US" sz="6000" dirty="0"/>
          </a:p>
        </p:txBody>
      </p:sp>
      <p:sp>
        <p:nvSpPr>
          <p:cNvPr id="28" name="Text 26"/>
          <p:cNvSpPr txBox="1"/>
          <p:nvPr/>
        </p:nvSpPr>
        <p:spPr>
          <a:xfrm>
            <a:off x="7223760" y="310896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Umsatzgrenze der kostenfreien Pimcore Community Edition seit Version 2025.1. Darüber ist eine kommerzielle Lizenz nötig – für ein Verlagshaus in der Größe von Kohlhammer eine neue laufende Kostenposition.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892040"/>
            <a:ext cx="47393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Fazit: </a:t>
            </a:r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Upgrade ist in der Praxis ein Neuprojekt – mit dauerhaft höherem Wartungsaufwand danach. Jetzt ist der richtige Zeitpunkt, die Systemfrage offen zu stellen.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 IM VERGLEICH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nach der Umstellung dauerhaft betrieben, gesichert und aktualisiert werden muss.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 2026 – typischer Betrieb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303520" cy="384048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Container-Betrieb (Docker)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5303520" cy="384048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597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Webserver und PHP-FPM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5303520" cy="384048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9077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 Core und Pimcore Studio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55848"/>
            <a:ext cx="5303520" cy="384048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35584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Enterprise-Erweiterungen (Datahub, Portale)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335584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Kohlhammer wenig Nutzen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803904"/>
            <a:ext cx="5303520" cy="384048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80390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Messenger-Worker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5303520" cy="384048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2519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/ MariaDB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700016"/>
            <a:ext cx="5303520" cy="384048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70001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148072"/>
            <a:ext cx="5303520" cy="384048"/>
          </a:xfrm>
          <a:prstGeom prst="rect">
            <a:avLst/>
          </a:prstGeom>
          <a:solidFill>
            <a:srgbClr val="F3F5F9"/>
          </a:solidFill>
          <a:ln w="12700">
            <a:solidFill>
              <a:srgbClr val="F3F5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148072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OpenSearch als Suchindex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4160520" y="51480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eigener Cluster-Dienst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6692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Updates: </a:t>
            </a:r>
            <a:pPr indent="0" marL="0">
              <a:buNone/>
            </a:pPr>
            <a:r>
              <a:rPr lang="en-US" sz="12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jedem Release: Core, Bundles, Container-Images und Suchindex aktualisieren, Eigenentwicklungen prüfen.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336792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– Betrieb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336792" y="2011680"/>
            <a:ext cx="5303520" cy="384048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19672" y="201168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mit PHP 8.4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336792" y="2459736"/>
            <a:ext cx="5303520" cy="384048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19672" y="24597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anyPIM-Anwendung (Laravel, Oberfläche vorgebaut)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36792" y="2907792"/>
            <a:ext cx="5303520" cy="384048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19672" y="29077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Queue-Worker (Laravel Horizon)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36792" y="3355848"/>
            <a:ext cx="5303520" cy="384048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19672" y="33558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36792" y="3803904"/>
            <a:ext cx="5303520" cy="384048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19672" y="380390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336792" y="4251960"/>
            <a:ext cx="5303520" cy="384048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19672" y="425196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Typesense für PDF-Volltext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948672" y="42519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einzelner Dienst, per Setup installiert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336792" y="56692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Updates: </a:t>
            </a:r>
            <a:pPr indent="0" marL="0">
              <a:buNone/>
            </a:pPr>
            <a:r>
              <a:rPr lang="en-US" sz="12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per Skript (update.sh): Wartungsmodus, Git Pull, Migrationen, Build, Neustart. Docker möglich, aber nicht nötig.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AUSGANGSLAGE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das Programm von einem PIM verlangt – schon im öffentlichen Auftritt ablesbar.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00784"/>
            <a:ext cx="182880" cy="1828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64592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Fachbereiche als Baum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95681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 B. Brandschutz › Bautechnik / Vorbeugender Brandschutz, Brandeinsatz, Dienstvorschriften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182880" cy="1828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240487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Werk, mehrere Ausgaben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7157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Print, eBook (PDF), eBook (ePub) – eigene Preise und Kennungen, gemeinsamer Inhalt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18688"/>
            <a:ext cx="182880" cy="1828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16382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Reihen und Bände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474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„Die Roten Hefte, Band 75“ samt „Mehr aus der Reihe“ im Shop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182880" cy="1828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392277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Bibliografische Tiefe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42336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Auflage, Jahr, Seiten, Abbildungen, Tabellen, Einband, Format, ISBN, Lieferstatus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736592"/>
            <a:ext cx="182880" cy="1828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468172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Heterogenes Programm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" y="499262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Bücher, Zeitschriften, Formulare, Formularsoftware, Verlag für Ärzte / Schulen, Seminare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495544"/>
            <a:ext cx="182880" cy="1828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0120" y="54406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Abnehmer derselben Daten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" y="575157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Shop, Buchhandel, Bibliotheken, Presse, Foreign Rights &amp; Licensing, Mediadaten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PRODUKTARTEN IM PROGRAMM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2103120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183880" y="21031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0" y="210312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955280" y="2651760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2651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eBook (PDF)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149840" y="26517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7955280" y="3200400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83880" y="32004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eBook (ePub)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0" y="32004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955280" y="3749040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183880" y="37490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Zeitschrift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0" y="374904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955280" y="4297680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183880" y="42976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0" y="429768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7955280" y="4846320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83880" y="4846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Formularsoftware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149840" y="484632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7955280" y="5394960"/>
            <a:ext cx="2651760" cy="420624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83880" y="53949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10149840" y="539496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TITEL, DREI AUSGABEN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Einmal am Werk gepflegt – die Ausgaben überschreiben nur, was wirklich abweicht.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377440" cy="3346704"/>
          </a:xfrm>
          <a:prstGeom prst="rect">
            <a:avLst/>
          </a:prstGeom>
          <a:solidFill>
            <a:srgbClr val="E2211C"/>
          </a:solidFill>
          <a:ln w="12700">
            <a:solidFill>
              <a:srgbClr val="E2211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00200"/>
            <a:ext cx="2377440" cy="237744"/>
          </a:xfrm>
          <a:prstGeom prst="rect">
            <a:avLst/>
          </a:prstGeom>
          <a:solidFill>
            <a:srgbClr val="F29400"/>
          </a:solidFill>
          <a:ln w="12700">
            <a:solidFill>
              <a:srgbClr val="F2940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600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Vorbeugender Brandschutz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9476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ROTEN HEFTE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2860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Frieder Kircher / Rainer Sonntag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26517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Vorbeugender Brandschutz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4599432"/>
            <a:ext cx="2157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2., aktualisierte Auflage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0383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Schematische Darstellung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429000" y="1600200"/>
            <a:ext cx="8214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ELTERNPRODUKT · PRODUKTTYP „BUCH“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1828800"/>
            <a:ext cx="82140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Werk: Vorbeugender Brandschutz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29000" y="2286000"/>
            <a:ext cx="8214055" cy="777240"/>
          </a:xfrm>
          <a:prstGeom prst="rect">
            <a:avLst/>
          </a:prstGeom>
          <a:solidFill>
            <a:srgbClr val="E4F3F1"/>
          </a:solidFill>
          <a:ln w="12700">
            <a:solidFill>
              <a:srgbClr val="E4F3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11880" y="2286000"/>
            <a:ext cx="78482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Einmal gepflegt, an alle Ausgaben vererbt: </a:t>
            </a:r>
            <a:pPr indent="0" marL="0">
              <a:buNone/>
            </a:pPr>
            <a:r>
              <a:rPr lang="en-US" sz="12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AutorInnen, Reihe „Die Roten Hefte“, Band 75, Auflage, Erscheinungsjahr 2026, Umfang 164 Seiten / 36 Abb. / 9 Tab., Produktbeschreibung, Cover, Fachbereich.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3429000" y="3246120"/>
            <a:ext cx="8214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VARIANTEN · NUR ABWEICHUNGEN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3520440"/>
            <a:ext cx="261609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6160" y="3611880"/>
            <a:ext cx="2341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3913632"/>
            <a:ext cx="2387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ISBN 978-3-17-040610-0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19,00 € inkl. MwSt.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kartoniert, 148 × 105 × 10 mm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27978" y="3520440"/>
            <a:ext cx="261609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65138" y="3611880"/>
            <a:ext cx="2341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eBook (PDF)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65138" y="3913632"/>
            <a:ext cx="2387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 ISBN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eigener Preis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 als Download-Asset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26957" y="3520440"/>
            <a:ext cx="2616098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64117" y="3611880"/>
            <a:ext cx="2341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eBook (ePub)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64117" y="3913632"/>
            <a:ext cx="238749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 ISBN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eigener Preis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Datei als Download-Asset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4937760"/>
            <a:ext cx="82140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HIERARCHIEN · EIN TITEL, MEHRERE ORDNUNGEN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429000" y="5212080"/>
            <a:ext cx="1950644" cy="914400"/>
          </a:xfrm>
          <a:prstGeom prst="rect">
            <a:avLst/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538728" y="5285232"/>
            <a:ext cx="17311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3538728" y="5504688"/>
            <a:ext cx="1731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Brandschutz › Bautechnik / Vorb. Brandschutz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16804" y="5212080"/>
            <a:ext cx="1950644" cy="914400"/>
          </a:xfrm>
          <a:prstGeom prst="rect">
            <a:avLst/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26532" y="5285232"/>
            <a:ext cx="17311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SHOP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626532" y="5504688"/>
            <a:ext cx="1731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Navigation und Filter des Shops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604608" y="5212080"/>
            <a:ext cx="1950644" cy="914400"/>
          </a:xfrm>
          <a:prstGeom prst="rect">
            <a:avLst/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14336" y="5285232"/>
            <a:ext cx="17311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REIHE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714336" y="5504688"/>
            <a:ext cx="1731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Roten Hefte › Band 75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692411" y="5212080"/>
            <a:ext cx="1950644" cy="914400"/>
          </a:xfrm>
          <a:prstGeom prst="rect">
            <a:avLst/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802139" y="5285232"/>
            <a:ext cx="17311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HANDEL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9802139" y="5504688"/>
            <a:ext cx="17311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z. B. Thema / Warengruppe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IHRE BEREICHE – WAS ANYPIM LIEFERT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Servicebereiche von kohlhammer.de, zugeordnet zu Funktionen, die heute im Produkt vorhanden sind.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5029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Buchhandel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16002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945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Geplante Export-Jobs per SFTP/Webhook, Excel/CSV/BMEcat, Delta-Export nur geänderter Titel. ONIX: Projektanteil.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35628" y="1600200"/>
            <a:ext cx="3520440" cy="5029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18508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Bibliotheken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353148" y="16002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335628" y="21945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Öffentlicher Katalog mit Facettensuche und Offline-Katalog (statisches HTML) für Erwerbungsabteilungen.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22615" y="1600200"/>
            <a:ext cx="3520440" cy="5029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05495" y="1600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AutorInnen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40135" y="16002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122615" y="21945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Zugangslinks ohne Benutzerkonto zur Ansicht und Freigabe von Titeldaten; Workflow-Aufgaben für die Rückläufe.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172968"/>
            <a:ext cx="3520440" cy="5029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1729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Foreign Rights &amp; Licensing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566160" y="317296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76732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Unbegrenzte Inhaltssprachen, DeepL-Connector, XLIFF-Austausch, befristete Katalog-Links für Lizenzpartner.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35628" y="3172968"/>
            <a:ext cx="3520440" cy="5029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18508" y="31729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53148" y="317296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4335628" y="376732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Asset-Katalog mit Ordnern, Tags und Download: Cover, AutorInnenfotos, Leseproben – ohne E-Mail-Pingpong.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22615" y="3172968"/>
            <a:ext cx="3520440" cy="5029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05495" y="31729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Mediadaten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1140135" y="3172968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122615" y="3767328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PDF-Vorlagen aus PIM-Daten: Datenblätter, Preislisten und Mediadaten ohne manuelles Layout.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745736"/>
            <a:ext cx="3520440" cy="5029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" y="474573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Zeitschriften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566160" y="474573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3400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Eigener Produkttyp mit eigenen Pflichtfeldern: ISSN, Erscheinungsweise, Abo-Preisarten, Staffelpreise.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335628" y="4745736"/>
            <a:ext cx="3520440" cy="5029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18508" y="474573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Formulare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353148" y="474573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4335628" y="53400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Produkttypen für Formular und Software; Formularsätze als Bundle, Varianten für Ausführungen.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122615" y="4745736"/>
            <a:ext cx="3520440" cy="5029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05495" y="474573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Seminare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1140135" y="4745736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Text 39"/>
          <p:cNvSpPr txBox="1"/>
          <p:nvPr/>
        </p:nvSpPr>
        <p:spPr>
          <a:xfrm>
            <a:off x="8122615" y="5340096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Produkttyp Schulung mit Terminen und Preisen – verknüpft mit der Begleitliteratur über Relationen.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ZEHN ARGUMENTE FÜR ANYPIM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Jeweils mit dem Mechanismus dahinter – keine Versprechen, die das System heute nicht einlöst.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72768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WERK UND AUSGABE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10512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Pflege einmal, Abweichung nur dort, wo sie ist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21408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Vererbung Hierarchie → Produkt → Variante, pro Attribut steuerbar.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324448" y="1572768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KLASSIFIKATIONEN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324448" y="1810512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Mehrere Ordnungen ohne Dubletten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24448" y="2121408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Master- und Output-Hierarchien, Attribut-Mappings mit Umrechnung.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14600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DATENMODELL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752344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Fachabteilung statt Entwicklerticket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06324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Datentypen, neue Attribute über die Oberfläche – ohne Deployment.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24448" y="2514600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PRINT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324448" y="2752344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Vorschau und Prospekt aus denselben Daten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24448" y="3063240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PDF-Vorlagen, InDesign-Skript-Export und Publixx-Anbindung.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456432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SHOP UND WEB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694176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Anbinden statt ersetzen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005072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Shopware 6, Shopify, Katalog-Widget für CMS, umfassende REST-API.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324448" y="3456432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SUCHE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24448" y="3694176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Gebaut für deutsche Fachsprache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324448" y="4005072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Fuzzy-Suche und Kölner Phonetik: „Kirchner“ findet „Kircher“.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398264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PROGRAMMPLANUNG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4636008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Erscheinungstermine im System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946904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Versionen mit Veröffentlichungsdatum und Rollback, Planungskalender.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324448" y="4398264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DATENQUALITÄT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324448" y="4636008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Vollständigkeit wird messbar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324448" y="4946904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Konformitätsprofile je Kanal, Reports, Journal und Audit-Trail.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340096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IMPORT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57784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Bestand schnell übernehmen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88873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Excel-Import mit dreistufiger Validierung, JSON-Voll-Import, BMEcat.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324448" y="5340096"/>
            <a:ext cx="53186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2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BETRIEB UND LIZENZ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324448" y="557784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Schlanker Betrieb, Lizenz nach Nutzung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324448" y="5888736"/>
            <a:ext cx="531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 ohne Docker und OpenSearch; GPL-Kern, Enterprise-Module einzeln.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AUCH MIT ANYPIM GIBT ES EIN PROJEKT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Ehrlich gesagt: die Kohlhammer-Funktionsliste, grob eingeordnet – nicht alles ist heute Standard.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DFF3EA"/>
          </a:solidFill>
          <a:ln w="12700">
            <a:solidFill>
              <a:srgbClr val="DFF3E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A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Standard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Berechtigungen über Rollen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von Assets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Schnittstelle zum Buchshop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Titeldaten, Varianten, Hierarchien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35628" y="1645920"/>
            <a:ext cx="35204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D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64228" y="18745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EEF0F2"/>
          </a:solidFill>
          <a:ln w="12700">
            <a:solidFill>
              <a:srgbClr val="EEF0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64228" y="1874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Einrichtung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64228" y="242316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zum Onlinekatalog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Bestellblöcke und Flyer (PDF-Vorlagen)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Titelübersicht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Textprüfungen (Prüfregeln)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Schnittstelle zum Formularserver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2615" y="1645920"/>
            <a:ext cx="3520440" cy="32461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1215" y="187452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51215" y="18745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 → wird Standard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51215" y="2423160"/>
            <a:ext cx="3108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Übernahme Metadaten aus Cover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 nach EasyCatalog: Vorschau, Vorschau RS, Buchinfo, Foreign Rights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Thieme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XML-Metadaten / ONIX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 im Onlinekatalog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029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 klären: </a:t>
            </a:r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 für den Ärzteshop (eigene Instanz oder eigener Bereich?)  ·  Cloud-Anwendung für Compu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094415" cy="777240"/>
          </a:xfrm>
          <a:prstGeom prst="rect">
            <a:avLst/>
          </a:prstGeom>
          <a:solidFill>
            <a:srgbClr val="C6E6E3"/>
          </a:solidFill>
          <a:ln w="12700">
            <a:solidFill>
              <a:srgbClr val="C6E6E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5440680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2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35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Unterschied: </a:t>
            </a:r>
            <a:pPr indent="0" marL="0">
              <a:buNone/>
            </a:pPr>
            <a:r>
              <a:rPr lang="en-US" sz="1350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Beim Pimcore-Upgrade werden diese Funktionen erneut als Eigenentwicklung portiert und bei jedem Release wieder angefasst. Bei anyPIM bauen wir sie einmal als Standardfunktion – Kohlhammer erhält sie danach mit jedem Update.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 I: WEG, KOSTEN, BETRIEB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gegenüber dem aktuellen Pimcore (2026.x) nach einem Upgrade von Pimcore 6.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86200"/>
                <a:gridCol w="3886200"/>
                <a:gridCol w="1307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Kriterium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 (aktuelle Version)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Vorteil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Weg von Pimcore 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Datenübernahme plus Projekt; Kohlhammer-Funktionen werden Standard im Produkt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Upgrade über 10 und 11 bis 2026.x; Eigenentwicklungen je Stufe portieren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 nach Eigenanteil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Datenkontinuität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Datenübernahme nötig – mit dem Wissen aus 20 Jahren Betreuung gut planbar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 bleiben in der Datenbank und werden je Version migriert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D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Laufende Updates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 per Skript: Migrationen, Build, Neustart – im eigenen Takt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Jedes Release nachziehen (2026.3 folgt): Core, Bundles, Studio, Container, Suchindex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Betriebskomplexität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Apache/PHP, MySQL, Redis, Queue-Worker, Typesense – ohne Docker und OpenSearch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Container-Stack mit OpenSearch, Messenger-Workern und Enterprise-Bundles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Lizenzmodell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GPL-Kern; Enterprise-Module einzeln lizenzierbar – nur, was genutzt wird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POCL: kommerziell über 5 Mio. € Umsatz; Erweiterungen wie Datahub, Portale mit wenig Nutzen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Datenmodell ändern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Attribute zur Laufzeit über die Oberfläche, ohne Migration oder Deployment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Klassen-Editor erzeugt PHP-Klassen; Änderungen werden versioniert und ausgerollt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Abhängigkeit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Quellcode beim Kunden; Hersteller ist der langjährige Betreuer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Roadmap und Lizenzmodell beim Hersteller; 2025 bereits einmal geändert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Ausrichtung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Spezialisiertes PIM mit Katalog-, Print- und Kanal-Ausgabe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Plattform aus PIM, MDM, DAM, CMS und Commerce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 nach Ziel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VERGLEICH II: FUNKTIONEN FÜR VERLAGSDATEN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Bewertet nach dem, was ein Fachverlag für Titeldaten braucht – nicht nach Funktionsbreite allgemein.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86200"/>
                <a:gridCol w="3886200"/>
                <a:gridCol w="1307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Kriterium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 (aktuelle Version)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Vorteil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Werk / Ausgabe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Vererbung Hierarchie → Produkt → Variante, pro Attribut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Objekt-Vererbung Eltern → Kind, Varianten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gleichauf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Parallele Klassifikationen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Master- und Output-Hierarchien plus Attribut-Mapping im Standard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Kategorien als Objekte, Classification Store – modellierbar, aber Projektarbeit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Print / Vorschau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PDF-Vorlagen, InDesign-Skript-Export, Publixx im Produkt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Web-to-Print-Bundle, Ausprägung meist projektspezifisch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F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Suche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PQL, Fuzzy, Kölner Phonetik, semantische Hybrid-Suche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Datenindex auf OpenSearch/Elasticsearch, sehr leistungsfähig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gleichauf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Asset-Management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Medien mit Verwendungstypen, Renditions, Tags, Asset-Katalog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Vollwertiges DAM mit umfangreichem Metadatenmodell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D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Website-CMS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Kein eigenes CMS; Katalog-Widget für bestehende CMS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Integriertes CMS / DXP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D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ONIX 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Nicht im Standard, als Exportformat über die Mapping-Engine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Nicht im Standard, Partnerlösung oder Eigenentwicklung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gleichauf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Ökosystem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Kleiner, direkter Draht zum Hersteller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Große internationale Community, viele Partner und Erweiterungen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2D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BILANZ: WAS FÜR KOHLHAMMER DEN AUSSCHLAG GIBT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die Zahl der Kriterien entscheidet, sondern ob ein Vorteil einmal oder dauerhaft wirkt.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4066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611880"/>
                <a:gridCol w="100584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Kriterium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Worum es geht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Wirkung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Vorteil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E2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Laufende Updates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Update per Skript statt Nachziehen jedes Pimcore-Releases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E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dauerhaft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Betrieb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Nativer Betrieb ohne Docker und OpenSearch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E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dauerhaft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Lizenz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 genutzte Module statt Erweiterungen mit wenig Nutzen (Datahub, Portale)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E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dauerhaft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Kohlhammer-Funktionen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Projekt in beiden Fällen – bei anyPIM danach Standard, bei Pimcore Eigenentwicklung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E2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dauerhaft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7A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anyPIM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F3E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Umstellung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 bleiben in Pimcore und werden je Version migriert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einmalig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D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Plattformbreite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181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DAM, CMS und Ökosystem – relevant, wenn Kohlhammer diese konsolidieren will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 bei Bedarf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D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Pimcore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64008" marB="64008" anchor="ctr">
                    <a:lnL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F4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75320" y="1600200"/>
            <a:ext cx="3367735" cy="402336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49640" y="1828800"/>
            <a:ext cx="2819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6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549640" y="2194560"/>
            <a:ext cx="2819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 punktet einmalig beim Umstieg.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549640" y="2971800"/>
            <a:ext cx="28190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punktet dauerhaft – bei jedem Release, jedem Betriebstag und jeder Lizenzrechnung.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4846320"/>
            <a:ext cx="2819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6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Empfehlung: Wechsel zu anyPIM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2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buNone/>
            </a:pPr>
            <a:r>
              <a:rPr lang="en-US" sz="13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Ergebnisoffen bleibt nur die Plattformfrage: Soll Kohlhammer Website, DAM und PIM auf einem System zusammenführen? Dann spricht mehr für Pimcore.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ROLLE, TRANSPARENT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können beide Wege gehen – und sagen deshalb offen, warum wir einen empfehlen.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4023360" cy="443484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92024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9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474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Jahre Betreuung von Kohlhammer durch incoxx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4805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6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 6 eingeführt und betrieben.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E6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ist ein Produkt von incoxx.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1755648"/>
            <a:ext cx="182880" cy="1828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40680" y="1691640"/>
            <a:ext cx="6202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kennen den Bestand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2075688"/>
            <a:ext cx="6202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Klassen, Objekte, Eigenentwicklungen und Schnittstellen der Pimcore-6-Installation sind bei uns dokumentiert. Das senkt das Migrationsrisiko – bei anyPIM besonders, weil das Daten-Mapping nicht erst erarbeitet werden muss.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3236976"/>
            <a:ext cx="182880" cy="1828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0680" y="3172968"/>
            <a:ext cx="6202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empfehlen anyPIM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40680" y="3557016"/>
            <a:ext cx="6202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Weil das Upgrade einem Neuprojekt gleichkommt, danach dauerhaft Update- und Betriebsaufwand bindet und Lizenzkosten auch für wenig genutzte Erweiterungen auslöst. Was heute Eigenentwicklung ist, bauen wir in anyPIM als Standard.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4718304"/>
            <a:ext cx="182880" cy="18288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0680" y="4654296"/>
            <a:ext cx="62023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bleiben Ansprechpartner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5038344"/>
            <a:ext cx="62023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Gleicher Partner, gleiche Ansprechpersonen – mit direktem Einfluss auf die Weiterentwicklung des Produkts, etwa beim ONIX-Export.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ANYPIM GESTALTET KOHLHAMMER MIT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Offen, KI-ready, erweiterbar und dokumentiert – und die Roadmap entsteht mit den Kunden.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67864" cy="566928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45920"/>
            <a:ext cx="1882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613584" y="1645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77440"/>
            <a:ext cx="2567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GPL-Kern, Quellcode vollständig einsehbar. Keine Blackbox, kein Lock-in – Kohlhammer kann jederzeit nachvollziehen, was das System tut.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90824" y="1645920"/>
            <a:ext cx="2567864" cy="566928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73704" y="1645920"/>
            <a:ext cx="1882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KI-ready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55768" y="1645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390824" y="2377440"/>
            <a:ext cx="2567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MCP-Schnittstelle für KI-Agenten wie Claude, KI-gestützte Texterstellung, semantische Suche mit lokalen Embeddings, DeepL-Übersetzung.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2567864" cy="566928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15888" y="1645920"/>
            <a:ext cx="1882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Erweiterbar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297951" y="1645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33008" y="2377440"/>
            <a:ext cx="2567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REST-API, API-Designer, Connector-Schnittstelle und feste Konventionen für neue Exportformate – etwa EasyCatalog oder ONIX.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75191" y="1645920"/>
            <a:ext cx="2567864" cy="566928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258071" y="1645920"/>
            <a:ext cx="1882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140135" y="16459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075191" y="2377440"/>
            <a:ext cx="25678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Hilfe-Portal auf Deutsch und Englisch, 25 Architektur-Spezifikationen, API-Referenz – plus Leitfäden, nach denen auch KI-Agenten regelkonform erweitern.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11094415" cy="1783080"/>
          </a:xfrm>
          <a:prstGeom prst="rect">
            <a:avLst/>
          </a:prstGeom>
          <a:solidFill>
            <a:srgbClr val="C6E6E3"/>
          </a:solidFill>
          <a:ln w="12700">
            <a:solidFill>
              <a:srgbClr val="C6E6E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00E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Mitgestalten heißt: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114800" y="4572000"/>
            <a:ext cx="72082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Anforderungen aus der Kohlhammer-Funktionsliste fließen direkt in die Produkt-Roadmap.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für Kohlhammer gebaut wird, wird Standard – und kommt mit jedem Update mit.</a:t>
            </a:r>
            <a:endParaRPr lang="en-US" sz="140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Kurzer Weg zum Hersteller, gemeinsame Priorisierung, transparente Umsetzung im offenen Code.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VORGESCHLAGENER FAHRPLAN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3327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Richtwerte für den Workshop. Pimcore 6 läuft bis zur Umstellung weiter; ein Fachbereich dient als Pilot.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anyPIM für Kohlhammer  ·  Entscheidungsvorlage  ·  September 2026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10911535" cy="0"/>
          </a:xfrm>
          <a:prstGeom prst="line">
            <a:avLst/>
          </a:prstGeom>
          <a:noFill/>
          <a:ln w="19050">
            <a:solidFill>
              <a:srgbClr val="1B2D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240280"/>
            <a:ext cx="274320" cy="2743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88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2 WOCHEN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931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Bestandsaufnahme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4348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Pimcore-6-Klassen, Eigenentwicklungen und Schnittstellen erfassen; Zielmodell mit Produkttypen, Attributen, Hierarchien und Ausgaben festlegen.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93338" y="2240280"/>
            <a:ext cx="274320" cy="2743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93338" y="2788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393338" y="3611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4 WOCHEN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3393338" y="3931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Brandschutz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393338" y="44348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 des Fachbereichs aus Pimcore 6 übernehmen, Werk/Ausgabe-Struktur, Qualitätsprofile; Parallelbetrieb und Datenabgleich.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38037" y="2240280"/>
            <a:ext cx="274320" cy="274320"/>
          </a:xfrm>
          <a:prstGeom prst="rect">
            <a:avLst/>
          </a:prstGeom>
          <a:solidFill>
            <a:srgbClr val="000E2F"/>
          </a:solidFill>
          <a:ln w="12700">
            <a:solidFill>
              <a:srgbClr val="000E2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38037" y="2788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6238037" y="3611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NACH UMFANG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238037" y="3931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Projektanteil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238037" y="44348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Fehlende Funktionen als Standard bauen – EasyCatalog-, Thieme- und ONIX-Export, Cover-Metadaten; Shop und Handel umstellen.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82735" y="2240280"/>
            <a:ext cx="274320" cy="274320"/>
          </a:xfrm>
          <a:prstGeom prst="rect">
            <a:avLst/>
          </a:prstGeom>
          <a:solidFill>
            <a:srgbClr val="E2211C"/>
          </a:solidFill>
          <a:ln w="12700">
            <a:solidFill>
              <a:srgbClr val="E221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082735" y="2788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B2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4000" dirty="0"/>
          </a:p>
        </p:txBody>
      </p:sp>
      <p:sp>
        <p:nvSpPr>
          <p:cNvPr id="24" name="Text 22"/>
          <p:cNvSpPr txBox="1"/>
          <p:nvPr/>
        </p:nvSpPr>
        <p:spPr>
          <a:xfrm>
            <a:off x="9082735" y="3611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FORTLAUFEND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082735" y="393192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Ablösung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082735" y="443484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Weitere Fachbereiche, Zeitschriften, Formulare und Seminare; Schulung der Redaktionen; Abschaltung von Pimcore 6.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6E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618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SCHRITT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2194560" y="2194560"/>
            <a:ext cx="78025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23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halbtägiger Workshop mit Lektorat, Herstellung, Vertrieb und IT – danach ein Pilot mit dem Fachbereich Brandschutz auf echten Titeldaten aus Pimcore 6. Das Ergebnis ist eine belastbare Grundlage für die Entscheidung zwischen Upgrade und Wechsel.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175608" y="3886200"/>
            <a:ext cx="3840480" cy="731520"/>
          </a:xfrm>
          <a:prstGeom prst="rect">
            <a:avLst/>
          </a:prstGeom>
          <a:solidFill>
            <a:srgbClr val="1B2D5C"/>
          </a:solidFill>
          <a:ln w="12700">
            <a:solidFill>
              <a:srgbClr val="1B2D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175608" y="3886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vereinbaren   →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Entscheidungsvorlage der incoxx GmbH, Stand September 2026. Keine Veröffentlichung der W. Kohlhammer GmbH; „Kohlhammer“ ist eine Marke der W. Kohlhammer GmbH. Titelbeispiel nach den im Kohlhammer-Shop angezeigten Angaben. Angaben zu Pimcore nach öffentlich verfügbaren Informationen (pimcore.com: Blog „Pimcore says goodbye to GPL … POCL“, Community Edition, Enterprise Open Core); aktuelle Lizenzkonditionen vor einer Entscheidung beim Hersteller prüfen.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anyPIM für Kohlhammer – Pimcore-Upgrade oder Wechsel</dc:title>
  <dc:subject>PptxGenJS Presentation</dc:subject>
  <dc:creator>incoxx GmbH</dc:creator>
  <cp:lastModifiedBy>incoxx GmbH</cp:lastModifiedBy>
  <cp:revision>1</cp:revision>
  <dcterms:created xsi:type="dcterms:W3CDTF">2026-09-28T14:10:11Z</dcterms:created>
  <dcterms:modified xsi:type="dcterms:W3CDTF">2026-09-28T14:10:11Z</dcterms:modified>
</cp:coreProperties>
</file>