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Einstieg: Kohlhammer pflegt Titeldaten seit Jahren in Pimcore 6, eingeführt und betreut von incoxx. Pimcore 6 ist am Ende seines Lebenszyklus. Heute geht es um die Frage: Upgrade auf das aktuelle Pimcore oder Wechsel auf anyPIM. Wir stellen beide Wege sachlich gegenüber und begründen unsere Empfehlung.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Weiterbetrieb von Pimcore 6 ist nur eine Übergangslösung. Die echte Wahl liegt zwischen Upgrade und Wechsel. Beide sind machbar – sie unterscheiden sich in Aufwand, laufendem Wartungsaufwand, Lizenzkosten und Zukunftssicherheit.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Kohlhammer ist auf Pimcore 6, Pimcore selbst ist bei 2026.2, 2026.3 ist angekündigt. Der Weg führt über Pimcore 10 und 11 bis zur aktuellen Version – und danach muss jedes weitere Release nachgezogen werden. Seit 2025.1 gilt die POCL: kostenfrei nur bis 5 Mio. € Jahresumsatz (Quelle: pimcore.com). Konkrete Lizenzkonditionen vor der Entscheidung beim Hersteller anfragen.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Links der Stack, den Pimcore in aktuellen Versionen typischerweise mitbringt: Container-Betrieb, OpenSearch als Pflicht-Suchindex, Messenger-Worker und lizenzierte Enterprise-Erweiterungen, die Kohlhammer nur eingeschränkt nutzt. Rechts anyPIM: nativer Betrieb auf einem Linux-Server, Updates per Skript. Semantische Suche über Meilisearch ist optional zuschaltbar.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Anforderungen sind aus dem Auftritt von kohlhammer.de und shop.kohlhammer.de abgeleitet. Entscheidend: ein Werk mit mehreren Ausgaben, parallele Ordnungen (Fachbereich, Reihe, Handel) und ein sehr gemischtes Programm.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Realer Titel aus dem Kohlhammer-Shop. In anyPIM ist das Werk das Elternprodukt, die drei Ausgaben sind Varianten. Vererbung ist pro Attribut steuerbar. Der Titel hängt in einer Master-Hierarchie und parallel in beliebig vielen Output-Hierarchien – ohne Dubletten. „Mehr aus der Reihe“ ergibt sich direkt aus der Reihen-Hierarchie.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Kacheln spiegeln die Service-Navigation von kohlhammer.de. Alles hier Genannte ist heute im Produkt vorhanden; ONIX ist bewusst ausgeklammert und wird auf der Folie „Was noch fehlt“ behandelt.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Zehn Argumente, jedes an einer vorhandenen Funktion festgemacht. Für Kohlhammer besonders relevant: Werk/Ausgabe-Vererbung, parallele Klassifikationen, Print aus PIM-Daten und die fehlenden Lizenzkosten.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Bewusst offen: Auch der Wechsel zu anyPIM ist ein Projekt. Die Kohlhammer-Funktionsliste zeigt drei Gruppen – was heute Standard ist, was eingerichtet wird, und was wir bauen. Alles, was wir bauen, wird Teil des Produkts (z. B. EasyCatalog- und ONIX-Export als Standardformate), nicht eine Kundenerweiterung. Das Projekt gibt es auch beim Pimcore-Upgrade – dort als Portierung der Eigenentwicklungen, die danach bei jedem Release wieder gepflegt werden müssen. Herstellung, Honorare und Rechte bleiben in der Verlagssoftware. Ärzteshop und Compu-Anwendung im Workshop klären.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Erster Teil des Vergleichs: Weg, laufender Betrieb und Lizenz. Pimcore punktet bei der Datenkontinuität, anyPIM bei laufenden Updates, Betriebskomplexität und einem Lizenzmodell, das nur genutzte Module berechnet.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Zweiter Teil: Funktionen. Pimcore ist bei DAM, CMS und Ökosystem breiter aufgestellt. Für die Kernaufgabe Titeldaten liegt anyPIM bei Datenmodell, Klassifikationen und Print vorn.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Bilanz zählt nicht Kriterien, sondern gewichtet nach Wirkung. Pimcores Vorteile – Datenkontinuität beim Umstieg und Plattformbreite – wirken einmalig bzw. nur, wenn Kohlhammer eine Plattform-Konsolidierung will. anyPIMs Vorteile – Updates, Betrieb, Lizenz nach Nutzung und Kohlhammer-Funktionen als Standard – wirken jedes Jahr. Die Plattformfrage offen ansprechen.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Offen ansprechen: incoxx hat ein Eigeninteresse, da anyPIM unser Produkt ist. Gleichzeitig kennen wir Pimcore bei Kohlhammer besser als jeder andere Partner und könnten das Upgrade ebenso umsetzen. anyPIM hat ebenfalls Enterprise-Module; lizenziert wird aber nur, was Kohlhammer tatsächlich nutzt. Die Empfehlung folgt aus Aufwand, Lizenz und Funktionsabdeckung.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Kernbotschaft: Bei anyPIM gestaltet Kohlhammer das Produkt mit. Die vier Säulen machen das möglich: offener Code, KI-Anbindung über MCP und KI-Dienste, klare Erweiterungspunkte und eine Dokumentation, die Menschen und KI-Agenten gleichermaßen nutzen. Was Kohlhammer braucht, wird Standard – und bleibt es bei jedem Update.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Wir entwickeln anyPIM mit KI (Claude Code). Die Regeln dafür liegen im Repository – etwa wie ein neues Exportformat gebaut wird – und gelten für Menschen und KI gleichermaßen. Kohlhammer muss dafür keinen Code lesen: Wünsche werden in Fachsprache formuliert, jede Änderung wird von incoxx geprüft und als nachvollziehbarer Pull Request dokumentiert. Mit Zugang zu Claude und GitHub kann Kohlhammer selbst Fragen zum System stellen und Änderungen verfolgen. Das senkt das Risiko: Das Wissen ist nicht an einzelne Personen gebunden.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Zeiträume sind Richtwerte und werden in der Bestandsaufnahme geschärft. Der Pilot mit dem Fachbereich Brandschutz liefert eine belastbare Entscheidungsgrundlage auf echten Daten, bevor das ganze Programm umzieht.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Abschluss mit konkretem Vorschlag: Workshop und Pilot. So entscheidet Kohlhammer auf Basis eigener Daten, nicht auf Basis von Folien.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Schlussfolgerung in Anlehnung an den Kohlhammer-Claim „Wissen ist sexy!“: Befähigung ist sexy. Kohlhammer bekommt nicht nur ein neues System, sondern die Fähigkeit, es mitzugestalten, zu verstehen und unabhängig zu bleiben.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C6E6E3"/>
        </a:solidFill>
      </p:bgPr>
    </p:bg>
    <p:spTree>
      <p:nvGrpSpPr>
        <p:cNvPr id="1" name=""/>
        <p:cNvGrpSpPr/>
        <p:nvPr/>
      </p:nvGrpSpPr>
      <p:grpSpPr>
        <a:xfrm>
          <a:off x="0" y="0"/>
          <a:ext cx="0" cy="0"/>
          <a:chOff x="0" y="0"/>
          <a:chExt cx="0" cy="0"/>
        </a:xfrm>
      </p:grpSpPr>
      <p:sp>
        <p:nvSpPr>
          <p:cNvPr id="2" name="Shape 0"/>
          <p:cNvSpPr/>
          <p:nvPr/>
        </p:nvSpPr>
        <p:spPr>
          <a:xfrm>
            <a:off x="0" y="0"/>
            <a:ext cx="12191695" cy="868680"/>
          </a:xfrm>
          <a:prstGeom prst="rect">
            <a:avLst/>
          </a:prstGeom>
          <a:solidFill>
            <a:srgbClr val="000E2F"/>
          </a:solidFill>
          <a:ln w="12700">
            <a:solidFill>
              <a:srgbClr val="000E2F"/>
            </a:solidFill>
            <a:prstDash val="solid"/>
          </a:ln>
        </p:spPr>
      </p:sp>
      <p:sp>
        <p:nvSpPr>
          <p:cNvPr id="3" name="Text 1"/>
          <p:cNvSpPr txBox="1"/>
          <p:nvPr/>
        </p:nvSpPr>
        <p:spPr>
          <a:xfrm>
            <a:off x="548640" y="0"/>
            <a:ext cx="7315200" cy="86868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anyPIM</a:t>
            </a:r>
            <a:pPr indent="0" marL="0">
              <a:buNone/>
            </a:pPr>
            <a:r>
              <a:rPr lang="en-US" sz="2400" dirty="0">
                <a:solidFill>
                  <a:srgbClr val="FFFFFF"/>
                </a:solidFill>
                <a:latin typeface="Arial" pitchFamily="34" charset="0"/>
                <a:ea typeface="Arial" pitchFamily="34" charset="-122"/>
                <a:cs typeface="Arial" pitchFamily="34" charset="-120"/>
              </a:rPr>
              <a:t>  für Kohlhammer</a:t>
            </a:r>
            <a:endParaRPr lang="en-US" sz="2400" dirty="0"/>
          </a:p>
        </p:txBody>
      </p:sp>
      <p:sp>
        <p:nvSpPr>
          <p:cNvPr id="4" name="Text 2"/>
          <p:cNvSpPr txBox="1"/>
          <p:nvPr/>
        </p:nvSpPr>
        <p:spPr>
          <a:xfrm>
            <a:off x="2148840" y="1417320"/>
            <a:ext cx="7315200" cy="914400"/>
          </a:xfrm>
          <a:prstGeom prst="rect">
            <a:avLst/>
          </a:prstGeom>
          <a:noFill/>
          <a:ln/>
        </p:spPr>
        <p:txBody>
          <a:bodyPr wrap="square" lIns="0" tIns="0" rIns="0" bIns="0" rtlCol="0" anchor="t"/>
          <a:lstStyle/>
          <a:p>
            <a:pPr indent="0" marL="0">
              <a:buNone/>
            </a:pPr>
            <a:r>
              <a:rPr lang="en-US" sz="6000" dirty="0">
                <a:solidFill>
                  <a:srgbClr val="2B3050"/>
                </a:solidFill>
                <a:latin typeface="Arial" pitchFamily="34" charset="0"/>
                <a:ea typeface="Arial" pitchFamily="34" charset="-122"/>
                <a:cs typeface="Arial" pitchFamily="34" charset="-120"/>
              </a:rPr>
              <a:t>Wissen braucht</a:t>
            </a:r>
            <a:endParaRPr lang="en-US" sz="6000" dirty="0"/>
          </a:p>
        </p:txBody>
      </p:sp>
      <p:sp>
        <p:nvSpPr>
          <p:cNvPr id="5" name="Text 3"/>
          <p:cNvSpPr txBox="1"/>
          <p:nvPr/>
        </p:nvSpPr>
        <p:spPr>
          <a:xfrm>
            <a:off x="1417320" y="2194560"/>
            <a:ext cx="9144000" cy="1737360"/>
          </a:xfrm>
          <a:prstGeom prst="rect">
            <a:avLst/>
          </a:prstGeom>
          <a:noFill/>
          <a:ln/>
        </p:spPr>
        <p:txBody>
          <a:bodyPr wrap="square" lIns="0" tIns="0" rIns="0" bIns="0" rtlCol="0" anchor="t"/>
          <a:lstStyle/>
          <a:p>
            <a:pPr indent="0" marL="0">
              <a:buNone/>
            </a:pPr>
            <a:r>
              <a:rPr lang="en-US" sz="12400" dirty="0">
                <a:solidFill>
                  <a:srgbClr val="2B3050"/>
                </a:solidFill>
                <a:latin typeface="Arial" pitchFamily="34" charset="0"/>
                <a:ea typeface="Arial" pitchFamily="34" charset="-122"/>
                <a:cs typeface="Arial" pitchFamily="34" charset="-120"/>
              </a:rPr>
              <a:t>Struktur.</a:t>
            </a:r>
            <a:endParaRPr lang="en-US" sz="12400" dirty="0"/>
          </a:p>
        </p:txBody>
      </p:sp>
      <p:sp>
        <p:nvSpPr>
          <p:cNvPr id="6" name="Text 4"/>
          <p:cNvSpPr txBox="1"/>
          <p:nvPr/>
        </p:nvSpPr>
        <p:spPr>
          <a:xfrm>
            <a:off x="548640" y="4480560"/>
            <a:ext cx="11094415" cy="548640"/>
          </a:xfrm>
          <a:prstGeom prst="rect">
            <a:avLst/>
          </a:prstGeom>
          <a:noFill/>
          <a:ln/>
        </p:spPr>
        <p:txBody>
          <a:bodyPr wrap="square" lIns="0" tIns="0" rIns="0" bIns="0" rtlCol="0" anchor="t"/>
          <a:lstStyle/>
          <a:p>
            <a:pPr indent="0" marL="0">
              <a:buNone/>
            </a:pPr>
            <a:r>
              <a:rPr lang="en-US" sz="2800" b="1" dirty="0">
                <a:solidFill>
                  <a:srgbClr val="000E2F"/>
                </a:solidFill>
                <a:latin typeface="Arial" pitchFamily="34" charset="0"/>
                <a:ea typeface="Arial" pitchFamily="34" charset="-122"/>
                <a:cs typeface="Arial" pitchFamily="34" charset="-120"/>
              </a:rPr>
              <a:t>Pimcore-Upgrade oder Wechsel zu anyPIM</a:t>
            </a:r>
            <a:endParaRPr lang="en-US" sz="2800" dirty="0"/>
          </a:p>
        </p:txBody>
      </p:sp>
      <p:sp>
        <p:nvSpPr>
          <p:cNvPr id="7" name="Text 5"/>
          <p:cNvSpPr txBox="1"/>
          <p:nvPr/>
        </p:nvSpPr>
        <p:spPr>
          <a:xfrm>
            <a:off x="548640" y="5074920"/>
            <a:ext cx="11094415" cy="365760"/>
          </a:xfrm>
          <a:prstGeom prst="rect">
            <a:avLst/>
          </a:prstGeom>
          <a:noFill/>
          <a:ln/>
        </p:spPr>
        <p:txBody>
          <a:bodyPr wrap="square" lIns="0" tIns="0" rIns="0" bIns="0" rtlCol="0" anchor="t"/>
          <a:lstStyle/>
          <a:p>
            <a:pPr indent="0" marL="0">
              <a:buNone/>
            </a:pPr>
            <a:r>
              <a:rPr lang="en-US" sz="1500" dirty="0">
                <a:solidFill>
                  <a:srgbClr val="1B2D5C"/>
                </a:solidFill>
                <a:latin typeface="Arial" pitchFamily="34" charset="0"/>
                <a:ea typeface="Arial" pitchFamily="34" charset="-122"/>
                <a:cs typeface="Arial" pitchFamily="34" charset="-120"/>
              </a:rPr>
              <a:t>Entscheidungsvorlage für die W. Kohlhammer GmbH  ·  incoxx GmbH  ·  September 2026</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594360"/>
          </a:xfrm>
          <a:prstGeom prst="rect">
            <a:avLst/>
          </a:prstGeom>
          <a:noFill/>
          <a:ln/>
        </p:spPr>
        <p:txBody>
          <a:bodyPr wrap="square" lIns="0" tIns="0" rIns="0" bIns="0" rtlCol="0" anchor="b"/>
          <a:lstStyle/>
          <a:p>
            <a:pPr indent="0" marL="0">
              <a:buNone/>
            </a:pPr>
            <a:r>
              <a:rPr lang="en-US" sz="3000" dirty="0">
                <a:solidFill>
                  <a:srgbClr val="16181D"/>
                </a:solidFill>
                <a:latin typeface="Arial" pitchFamily="34" charset="0"/>
                <a:ea typeface="Arial" pitchFamily="34" charset="-122"/>
                <a:cs typeface="Arial" pitchFamily="34" charset="-120"/>
              </a:rPr>
              <a:t>DIE ENTSCHEIDUNG</a:t>
            </a:r>
            <a:endParaRPr lang="en-US" sz="3000" dirty="0"/>
          </a:p>
        </p:txBody>
      </p:sp>
      <p:sp>
        <p:nvSpPr>
          <p:cNvPr id="3" name="Text 1"/>
          <p:cNvSpPr txBox="1"/>
          <p:nvPr/>
        </p:nvSpPr>
        <p:spPr>
          <a:xfrm>
            <a:off x="548640" y="1033272"/>
            <a:ext cx="11094415" cy="365760"/>
          </a:xfrm>
          <a:prstGeom prst="rect">
            <a:avLst/>
          </a:prstGeom>
          <a:noFill/>
          <a:ln/>
        </p:spPr>
        <p:txBody>
          <a:bodyPr wrap="square" lIns="0" tIns="0" rIns="0" bIns="0" rtlCol="0" anchor="t"/>
          <a:lstStyle/>
          <a:p>
            <a:pPr indent="0" marL="0">
              <a:buNone/>
            </a:pPr>
            <a:r>
              <a:rPr lang="en-US" sz="1400" dirty="0">
                <a:solidFill>
                  <a:srgbClr val="4B5563"/>
                </a:solidFill>
                <a:latin typeface="Arial" pitchFamily="34" charset="0"/>
                <a:ea typeface="Arial" pitchFamily="34" charset="-122"/>
                <a:cs typeface="Arial" pitchFamily="34" charset="-120"/>
              </a:rPr>
              <a:t>Drei denkbare Wege – zwei davon sind tragfähig.</a:t>
            </a:r>
            <a:endParaRPr lang="en-US" sz="1400" dirty="0"/>
          </a:p>
        </p:txBody>
      </p:sp>
      <p:sp>
        <p:nvSpPr>
          <p:cNvPr id="4" name="Text 2"/>
          <p:cNvSpPr txBox="1"/>
          <p:nvPr/>
        </p:nvSpPr>
        <p:spPr>
          <a:xfrm>
            <a:off x="548640" y="6400800"/>
            <a:ext cx="7315200" cy="228600"/>
          </a:xfrm>
          <a:prstGeom prst="rect">
            <a:avLst/>
          </a:prstGeom>
          <a:noFill/>
          <a:ln/>
        </p:spPr>
        <p:txBody>
          <a:bodyPr wrap="square" lIns="0" tIns="0" rIns="0" bIns="0" rtlCol="0" anchor="t"/>
          <a:lstStyle/>
          <a:p>
            <a:pPr indent="0" marL="0">
              <a:buNone/>
            </a:pPr>
            <a:r>
              <a:rPr lang="en-US" sz="900" dirty="0">
                <a:solidFill>
                  <a:srgbClr val="4B5563"/>
                </a:solidFill>
                <a:latin typeface="Arial" pitchFamily="34" charset="0"/>
                <a:ea typeface="Arial" pitchFamily="34" charset="-122"/>
                <a:cs typeface="Arial" pitchFamily="34" charset="-120"/>
              </a:rPr>
              <a:t>anyPIM für Kohlhammer  ·  Entscheidungsvorlage  ·  September 2026</a:t>
            </a:r>
            <a:endParaRPr lang="en-US" sz="900" dirty="0"/>
          </a:p>
        </p:txBody>
      </p:sp>
      <p:sp>
        <p:nvSpPr>
          <p:cNvPr id="5" name="Text 3"/>
          <p:cNvSpPr txBox="1"/>
          <p:nvPr/>
        </p:nvSpPr>
        <p:spPr>
          <a:xfrm>
            <a:off x="10728655" y="6400800"/>
            <a:ext cx="914400" cy="228600"/>
          </a:xfrm>
          <a:prstGeom prst="rect">
            <a:avLst/>
          </a:prstGeom>
          <a:noFill/>
          <a:ln/>
        </p:spPr>
        <p:txBody>
          <a:bodyPr wrap="square" lIns="0" tIns="0" rIns="0" bIns="0" rtlCol="0" anchor="t"/>
          <a:lstStyle/>
          <a:p>
            <a:pPr algn="r" indent="0" marL="0">
              <a:buNone/>
            </a:pPr>
            <a:r>
              <a:rPr lang="en-US" sz="900" dirty="0">
                <a:solidFill>
                  <a:srgbClr val="4B5563"/>
                </a:solidFill>
                <a:latin typeface="Arial" pitchFamily="34" charset="0"/>
                <a:ea typeface="Arial" pitchFamily="34" charset="-122"/>
                <a:cs typeface="Arial" pitchFamily="34" charset="-120"/>
              </a:rPr>
              <a:t>2</a:t>
            </a:r>
            <a:endParaRPr lang="en-US" sz="900" dirty="0"/>
          </a:p>
        </p:txBody>
      </p:sp>
      <p:sp>
        <p:nvSpPr>
          <p:cNvPr id="6" name="Shape 4"/>
          <p:cNvSpPr/>
          <p:nvPr/>
        </p:nvSpPr>
        <p:spPr>
          <a:xfrm>
            <a:off x="548640" y="1783080"/>
            <a:ext cx="3520440" cy="685800"/>
          </a:xfrm>
          <a:prstGeom prst="rect">
            <a:avLst/>
          </a:prstGeom>
          <a:solidFill>
            <a:srgbClr val="000E2F"/>
          </a:solidFill>
          <a:ln w="12700">
            <a:solidFill>
              <a:srgbClr val="000E2F"/>
            </a:solidFill>
            <a:prstDash val="solid"/>
          </a:ln>
        </p:spPr>
      </p:sp>
      <p:sp>
        <p:nvSpPr>
          <p:cNvPr id="7" name="Text 5"/>
          <p:cNvSpPr txBox="1"/>
          <p:nvPr/>
        </p:nvSpPr>
        <p:spPr>
          <a:xfrm>
            <a:off x="731520" y="1783080"/>
            <a:ext cx="2834640" cy="685800"/>
          </a:xfrm>
          <a:prstGeom prst="rect">
            <a:avLst/>
          </a:prstGeom>
          <a:noFill/>
          <a:ln/>
        </p:spPr>
        <p:txBody>
          <a:bodyPr wrap="square" lIns="0" tIns="0" rIns="0" bIns="0" rtlCol="0" anchor="ctr"/>
          <a:lstStyle/>
          <a:p>
            <a:pPr indent="0" marL="0">
              <a:buNone/>
            </a:pPr>
            <a:r>
              <a:rPr lang="en-US" sz="1600" dirty="0">
                <a:solidFill>
                  <a:srgbClr val="FFFFFF"/>
                </a:solidFill>
                <a:latin typeface="Arial" pitchFamily="34" charset="0"/>
                <a:ea typeface="Arial" pitchFamily="34" charset="-122"/>
                <a:cs typeface="Arial" pitchFamily="34" charset="-120"/>
              </a:rPr>
              <a:t>Weiter mit Pimcore 6</a:t>
            </a:r>
            <a:endParaRPr lang="en-US" sz="1600" dirty="0"/>
          </a:p>
        </p:txBody>
      </p:sp>
      <p:sp>
        <p:nvSpPr>
          <p:cNvPr id="8" name="Text 6"/>
          <p:cNvSpPr txBox="1"/>
          <p:nvPr/>
        </p:nvSpPr>
        <p:spPr>
          <a:xfrm>
            <a:off x="3566160" y="1783080"/>
            <a:ext cx="365760" cy="685800"/>
          </a:xfrm>
          <a:prstGeom prst="rect">
            <a:avLst/>
          </a:prstGeom>
          <a:noFill/>
          <a:ln/>
        </p:spPr>
        <p:txBody>
          <a:bodyPr wrap="square" lIns="0" tIns="0" rIns="0" bIns="0" rtlCol="0" anchor="ctr"/>
          <a:lstStyle/>
          <a:p>
            <a:pPr algn="r" indent="0" marL="0">
              <a:buNone/>
            </a:pPr>
            <a:r>
              <a:rPr lang="en-US" sz="1800" dirty="0">
                <a:solidFill>
                  <a:srgbClr val="FFFFFF"/>
                </a:solidFill>
                <a:latin typeface="Arial" pitchFamily="34" charset="0"/>
                <a:ea typeface="Arial" pitchFamily="34" charset="-122"/>
                <a:cs typeface="Arial" pitchFamily="34" charset="-120"/>
              </a:rPr>
              <a:t>→</a:t>
            </a:r>
            <a:endParaRPr lang="en-US" sz="1800" dirty="0"/>
          </a:p>
        </p:txBody>
      </p:sp>
      <p:sp>
        <p:nvSpPr>
          <p:cNvPr id="9" name="Shape 7"/>
          <p:cNvSpPr/>
          <p:nvPr/>
        </p:nvSpPr>
        <p:spPr>
          <a:xfrm>
            <a:off x="548640" y="2697480"/>
            <a:ext cx="2377440" cy="365760"/>
          </a:xfrm>
          <a:prstGeom prst="roundRect">
            <a:avLst>
              <a:gd name="adj" fmla="val 50000"/>
            </a:avLst>
          </a:prstGeom>
          <a:solidFill>
            <a:srgbClr val="EEF0F2"/>
          </a:solidFill>
          <a:ln w="12700">
            <a:solidFill>
              <a:srgbClr val="EEF0F2"/>
            </a:solidFill>
            <a:prstDash val="solid"/>
          </a:ln>
        </p:spPr>
      </p:sp>
      <p:sp>
        <p:nvSpPr>
          <p:cNvPr id="10" name="Text 8"/>
          <p:cNvSpPr txBox="1"/>
          <p:nvPr/>
        </p:nvSpPr>
        <p:spPr>
          <a:xfrm>
            <a:off x="548640" y="2697480"/>
            <a:ext cx="2377440" cy="365760"/>
          </a:xfrm>
          <a:prstGeom prst="rect">
            <a:avLst/>
          </a:prstGeom>
          <a:noFill/>
          <a:ln/>
        </p:spPr>
        <p:txBody>
          <a:bodyPr wrap="square" lIns="0" tIns="0" rIns="0" bIns="0" rtlCol="0" anchor="ctr"/>
          <a:lstStyle/>
          <a:p>
            <a:pPr algn="ctr" indent="0" marL="0">
              <a:buNone/>
            </a:pPr>
            <a:r>
              <a:rPr lang="en-US" sz="1200" b="1" dirty="0">
                <a:solidFill>
                  <a:srgbClr val="6B7280"/>
                </a:solidFill>
                <a:latin typeface="Arial" pitchFamily="34" charset="0"/>
                <a:ea typeface="Arial" pitchFamily="34" charset="-122"/>
                <a:cs typeface="Arial" pitchFamily="34" charset="-120"/>
              </a:rPr>
              <a:t>Keine Option</a:t>
            </a:r>
            <a:endParaRPr lang="en-US" sz="1200" dirty="0"/>
          </a:p>
        </p:txBody>
      </p:sp>
      <p:sp>
        <p:nvSpPr>
          <p:cNvPr id="11" name="Text 9"/>
          <p:cNvSpPr txBox="1"/>
          <p:nvPr/>
        </p:nvSpPr>
        <p:spPr>
          <a:xfrm>
            <a:off x="548640" y="3291840"/>
            <a:ext cx="3520440" cy="2194560"/>
          </a:xfrm>
          <a:prstGeom prst="rect">
            <a:avLst/>
          </a:prstGeom>
          <a:noFill/>
          <a:ln/>
        </p:spPr>
        <p:txBody>
          <a:bodyPr wrap="square" lIns="0" tIns="0" rIns="0" bIns="0" rtlCol="0" anchor="t"/>
          <a:lstStyle/>
          <a:p>
            <a:pPr indent="0" marL="0">
              <a:lnSpc>
                <a:spcPct val="115000"/>
              </a:lnSpc>
              <a:buNone/>
            </a:pPr>
            <a:r>
              <a:rPr lang="en-US" sz="1500" dirty="0">
                <a:solidFill>
                  <a:srgbClr val="16181D"/>
                </a:solidFill>
                <a:latin typeface="Arial" pitchFamily="34" charset="0"/>
                <a:ea typeface="Arial" pitchFamily="34" charset="-122"/>
                <a:cs typeface="Arial" pitchFamily="34" charset="-120"/>
              </a:rPr>
              <a:t>Pimcore 6 erhält keine Updates mehr und läuft auf einer PHP- und Symfony-Generation ohne Sicherheitsupdates. Das Betriebsrisiko wächst mit jedem Monat.</a:t>
            </a:r>
            <a:endParaRPr lang="en-US" sz="1500" dirty="0"/>
          </a:p>
        </p:txBody>
      </p:sp>
      <p:sp>
        <p:nvSpPr>
          <p:cNvPr id="12" name="Shape 10"/>
          <p:cNvSpPr/>
          <p:nvPr/>
        </p:nvSpPr>
        <p:spPr>
          <a:xfrm>
            <a:off x="4335628" y="1783080"/>
            <a:ext cx="3520440" cy="685800"/>
          </a:xfrm>
          <a:prstGeom prst="rect">
            <a:avLst/>
          </a:prstGeom>
          <a:solidFill>
            <a:srgbClr val="000E2F"/>
          </a:solidFill>
          <a:ln w="12700">
            <a:solidFill>
              <a:srgbClr val="000E2F"/>
            </a:solidFill>
            <a:prstDash val="solid"/>
          </a:ln>
        </p:spPr>
      </p:sp>
      <p:sp>
        <p:nvSpPr>
          <p:cNvPr id="13" name="Text 11"/>
          <p:cNvSpPr txBox="1"/>
          <p:nvPr/>
        </p:nvSpPr>
        <p:spPr>
          <a:xfrm>
            <a:off x="4518508" y="1783080"/>
            <a:ext cx="2834640" cy="685800"/>
          </a:xfrm>
          <a:prstGeom prst="rect">
            <a:avLst/>
          </a:prstGeom>
          <a:noFill/>
          <a:ln/>
        </p:spPr>
        <p:txBody>
          <a:bodyPr wrap="square" lIns="0" tIns="0" rIns="0" bIns="0" rtlCol="0" anchor="ctr"/>
          <a:lstStyle/>
          <a:p>
            <a:pPr indent="0" marL="0">
              <a:buNone/>
            </a:pPr>
            <a:r>
              <a:rPr lang="en-US" sz="1600" dirty="0">
                <a:solidFill>
                  <a:srgbClr val="FFFFFF"/>
                </a:solidFill>
                <a:latin typeface="Arial" pitchFamily="34" charset="0"/>
                <a:ea typeface="Arial" pitchFamily="34" charset="-122"/>
                <a:cs typeface="Arial" pitchFamily="34" charset="-120"/>
              </a:rPr>
              <a:t>Upgrade auf aktuelles Pimcore</a:t>
            </a:r>
            <a:endParaRPr lang="en-US" sz="1600" dirty="0"/>
          </a:p>
        </p:txBody>
      </p:sp>
      <p:sp>
        <p:nvSpPr>
          <p:cNvPr id="14" name="Text 12"/>
          <p:cNvSpPr txBox="1"/>
          <p:nvPr/>
        </p:nvSpPr>
        <p:spPr>
          <a:xfrm>
            <a:off x="7353148" y="1783080"/>
            <a:ext cx="365760" cy="685800"/>
          </a:xfrm>
          <a:prstGeom prst="rect">
            <a:avLst/>
          </a:prstGeom>
          <a:noFill/>
          <a:ln/>
        </p:spPr>
        <p:txBody>
          <a:bodyPr wrap="square" lIns="0" tIns="0" rIns="0" bIns="0" rtlCol="0" anchor="ctr"/>
          <a:lstStyle/>
          <a:p>
            <a:pPr algn="r" indent="0" marL="0">
              <a:buNone/>
            </a:pPr>
            <a:r>
              <a:rPr lang="en-US" sz="1800" dirty="0">
                <a:solidFill>
                  <a:srgbClr val="FFFFFF"/>
                </a:solidFill>
                <a:latin typeface="Arial" pitchFamily="34" charset="0"/>
                <a:ea typeface="Arial" pitchFamily="34" charset="-122"/>
                <a:cs typeface="Arial" pitchFamily="34" charset="-120"/>
              </a:rPr>
              <a:t>→</a:t>
            </a:r>
            <a:endParaRPr lang="en-US" sz="1800" dirty="0"/>
          </a:p>
        </p:txBody>
      </p:sp>
      <p:sp>
        <p:nvSpPr>
          <p:cNvPr id="15" name="Shape 13"/>
          <p:cNvSpPr/>
          <p:nvPr/>
        </p:nvSpPr>
        <p:spPr>
          <a:xfrm>
            <a:off x="4335628" y="2697480"/>
            <a:ext cx="2377440" cy="365760"/>
          </a:xfrm>
          <a:prstGeom prst="roundRect">
            <a:avLst>
              <a:gd name="adj" fmla="val 50000"/>
            </a:avLst>
          </a:prstGeom>
          <a:solidFill>
            <a:srgbClr val="E3E8F4"/>
          </a:solidFill>
          <a:ln w="12700">
            <a:solidFill>
              <a:srgbClr val="E3E8F4"/>
            </a:solidFill>
            <a:prstDash val="solid"/>
          </a:ln>
        </p:spPr>
      </p:sp>
      <p:sp>
        <p:nvSpPr>
          <p:cNvPr id="16" name="Text 14"/>
          <p:cNvSpPr txBox="1"/>
          <p:nvPr/>
        </p:nvSpPr>
        <p:spPr>
          <a:xfrm>
            <a:off x="4335628" y="2697480"/>
            <a:ext cx="2377440" cy="365760"/>
          </a:xfrm>
          <a:prstGeom prst="rect">
            <a:avLst/>
          </a:prstGeom>
          <a:noFill/>
          <a:ln/>
        </p:spPr>
        <p:txBody>
          <a:bodyPr wrap="square" lIns="0" tIns="0" rIns="0" bIns="0" rtlCol="0" anchor="ctr"/>
          <a:lstStyle/>
          <a:p>
            <a:pPr algn="ctr" indent="0" marL="0">
              <a:buNone/>
            </a:pPr>
            <a:r>
              <a:rPr lang="en-US" sz="1200" b="1" dirty="0">
                <a:solidFill>
                  <a:srgbClr val="1B2D5C"/>
                </a:solidFill>
                <a:latin typeface="Arial" pitchFamily="34" charset="0"/>
                <a:ea typeface="Arial" pitchFamily="34" charset="-122"/>
                <a:cs typeface="Arial" pitchFamily="34" charset="-120"/>
              </a:rPr>
              <a:t>Tragfähig, aufwendig</a:t>
            </a:r>
            <a:endParaRPr lang="en-US" sz="1200" dirty="0"/>
          </a:p>
        </p:txBody>
      </p:sp>
      <p:sp>
        <p:nvSpPr>
          <p:cNvPr id="17" name="Text 15"/>
          <p:cNvSpPr txBox="1"/>
          <p:nvPr/>
        </p:nvSpPr>
        <p:spPr>
          <a:xfrm>
            <a:off x="4335628" y="3291840"/>
            <a:ext cx="3520440" cy="2194560"/>
          </a:xfrm>
          <a:prstGeom prst="rect">
            <a:avLst/>
          </a:prstGeom>
          <a:noFill/>
          <a:ln/>
        </p:spPr>
        <p:txBody>
          <a:bodyPr wrap="square" lIns="0" tIns="0" rIns="0" bIns="0" rtlCol="0" anchor="t"/>
          <a:lstStyle/>
          <a:p>
            <a:pPr indent="0" marL="0">
              <a:lnSpc>
                <a:spcPct val="115000"/>
              </a:lnSpc>
              <a:buNone/>
            </a:pPr>
            <a:r>
              <a:rPr lang="en-US" sz="1500" dirty="0">
                <a:solidFill>
                  <a:srgbClr val="16181D"/>
                </a:solidFill>
                <a:latin typeface="Arial" pitchFamily="34" charset="0"/>
                <a:ea typeface="Arial" pitchFamily="34" charset="-122"/>
                <a:cs typeface="Arial" pitchFamily="34" charset="-120"/>
              </a:rPr>
              <a:t>Schrittweise über mehrere Hauptversionen bis 2026.x, danach jedes Release nachziehen. Wachsender Stack mit Docker und OpenSearch – und erstmals Lizenzkosten, auch für Erweiterungen mit wenig Nutzen.</a:t>
            </a:r>
            <a:endParaRPr lang="en-US" sz="1500" dirty="0"/>
          </a:p>
        </p:txBody>
      </p:sp>
      <p:sp>
        <p:nvSpPr>
          <p:cNvPr id="18" name="Shape 16"/>
          <p:cNvSpPr/>
          <p:nvPr/>
        </p:nvSpPr>
        <p:spPr>
          <a:xfrm>
            <a:off x="8122615" y="1783080"/>
            <a:ext cx="3520440" cy="685800"/>
          </a:xfrm>
          <a:prstGeom prst="rect">
            <a:avLst/>
          </a:prstGeom>
          <a:solidFill>
            <a:srgbClr val="000E2F"/>
          </a:solidFill>
          <a:ln w="12700">
            <a:solidFill>
              <a:srgbClr val="000E2F"/>
            </a:solidFill>
            <a:prstDash val="solid"/>
          </a:ln>
        </p:spPr>
      </p:sp>
      <p:sp>
        <p:nvSpPr>
          <p:cNvPr id="19" name="Text 17"/>
          <p:cNvSpPr txBox="1"/>
          <p:nvPr/>
        </p:nvSpPr>
        <p:spPr>
          <a:xfrm>
            <a:off x="8305495" y="1783080"/>
            <a:ext cx="2834640" cy="685800"/>
          </a:xfrm>
          <a:prstGeom prst="rect">
            <a:avLst/>
          </a:prstGeom>
          <a:noFill/>
          <a:ln/>
        </p:spPr>
        <p:txBody>
          <a:bodyPr wrap="square" lIns="0" tIns="0" rIns="0" bIns="0" rtlCol="0" anchor="ctr"/>
          <a:lstStyle/>
          <a:p>
            <a:pPr indent="0" marL="0">
              <a:buNone/>
            </a:pPr>
            <a:r>
              <a:rPr lang="en-US" sz="1600" dirty="0">
                <a:solidFill>
                  <a:srgbClr val="FFFFFF"/>
                </a:solidFill>
                <a:latin typeface="Arial" pitchFamily="34" charset="0"/>
                <a:ea typeface="Arial" pitchFamily="34" charset="-122"/>
                <a:cs typeface="Arial" pitchFamily="34" charset="-120"/>
              </a:rPr>
              <a:t>Wechsel zu anyPIM</a:t>
            </a:r>
            <a:endParaRPr lang="en-US" sz="1600" dirty="0"/>
          </a:p>
        </p:txBody>
      </p:sp>
      <p:sp>
        <p:nvSpPr>
          <p:cNvPr id="20" name="Text 18"/>
          <p:cNvSpPr txBox="1"/>
          <p:nvPr/>
        </p:nvSpPr>
        <p:spPr>
          <a:xfrm>
            <a:off x="11140135" y="1783080"/>
            <a:ext cx="365760" cy="685800"/>
          </a:xfrm>
          <a:prstGeom prst="rect">
            <a:avLst/>
          </a:prstGeom>
          <a:noFill/>
          <a:ln/>
        </p:spPr>
        <p:txBody>
          <a:bodyPr wrap="square" lIns="0" tIns="0" rIns="0" bIns="0" rtlCol="0" anchor="ctr"/>
          <a:lstStyle/>
          <a:p>
            <a:pPr algn="r" indent="0" marL="0">
              <a:buNone/>
            </a:pPr>
            <a:r>
              <a:rPr lang="en-US" sz="1800" dirty="0">
                <a:solidFill>
                  <a:srgbClr val="FFFFFF"/>
                </a:solidFill>
                <a:latin typeface="Arial" pitchFamily="34" charset="0"/>
                <a:ea typeface="Arial" pitchFamily="34" charset="-122"/>
                <a:cs typeface="Arial" pitchFamily="34" charset="-120"/>
              </a:rPr>
              <a:t>→</a:t>
            </a:r>
            <a:endParaRPr lang="en-US" sz="1800" dirty="0"/>
          </a:p>
        </p:txBody>
      </p:sp>
      <p:sp>
        <p:nvSpPr>
          <p:cNvPr id="21" name="Shape 19"/>
          <p:cNvSpPr/>
          <p:nvPr/>
        </p:nvSpPr>
        <p:spPr>
          <a:xfrm>
            <a:off x="8122615" y="2697480"/>
            <a:ext cx="2377440" cy="365760"/>
          </a:xfrm>
          <a:prstGeom prst="roundRect">
            <a:avLst>
              <a:gd name="adj" fmla="val 50000"/>
            </a:avLst>
          </a:prstGeom>
          <a:solidFill>
            <a:srgbClr val="DFF3EA"/>
          </a:solidFill>
          <a:ln w="12700">
            <a:solidFill>
              <a:srgbClr val="DFF3EA"/>
            </a:solidFill>
            <a:prstDash val="solid"/>
          </a:ln>
        </p:spPr>
      </p:sp>
      <p:sp>
        <p:nvSpPr>
          <p:cNvPr id="22" name="Text 20"/>
          <p:cNvSpPr txBox="1"/>
          <p:nvPr/>
        </p:nvSpPr>
        <p:spPr>
          <a:xfrm>
            <a:off x="8122615" y="2697480"/>
            <a:ext cx="2377440" cy="365760"/>
          </a:xfrm>
          <a:prstGeom prst="rect">
            <a:avLst/>
          </a:prstGeom>
          <a:noFill/>
          <a:ln/>
        </p:spPr>
        <p:txBody>
          <a:bodyPr wrap="square" lIns="0" tIns="0" rIns="0" bIns="0" rtlCol="0" anchor="ctr"/>
          <a:lstStyle/>
          <a:p>
            <a:pPr algn="ctr" indent="0" marL="0">
              <a:buNone/>
            </a:pPr>
            <a:r>
              <a:rPr lang="en-US" sz="1200" b="1" dirty="0">
                <a:solidFill>
                  <a:srgbClr val="0F7A4D"/>
                </a:solidFill>
                <a:latin typeface="Arial" pitchFamily="34" charset="0"/>
                <a:ea typeface="Arial" pitchFamily="34" charset="-122"/>
                <a:cs typeface="Arial" pitchFamily="34" charset="-120"/>
              </a:rPr>
              <a:t>Tragfähig · Empfehlung</a:t>
            </a:r>
            <a:endParaRPr lang="en-US" sz="1200" dirty="0"/>
          </a:p>
        </p:txBody>
      </p:sp>
      <p:sp>
        <p:nvSpPr>
          <p:cNvPr id="23" name="Text 21"/>
          <p:cNvSpPr txBox="1"/>
          <p:nvPr/>
        </p:nvSpPr>
        <p:spPr>
          <a:xfrm>
            <a:off x="8122615" y="3291840"/>
            <a:ext cx="3520440" cy="2194560"/>
          </a:xfrm>
          <a:prstGeom prst="rect">
            <a:avLst/>
          </a:prstGeom>
          <a:noFill/>
          <a:ln/>
        </p:spPr>
        <p:txBody>
          <a:bodyPr wrap="square" lIns="0" tIns="0" rIns="0" bIns="0" rtlCol="0" anchor="t"/>
          <a:lstStyle/>
          <a:p>
            <a:pPr indent="0" marL="0">
              <a:lnSpc>
                <a:spcPct val="115000"/>
              </a:lnSpc>
              <a:buNone/>
            </a:pPr>
            <a:r>
              <a:rPr lang="en-US" sz="1500" dirty="0">
                <a:solidFill>
                  <a:srgbClr val="16181D"/>
                </a:solidFill>
                <a:latin typeface="Arial" pitchFamily="34" charset="0"/>
                <a:ea typeface="Arial" pitchFamily="34" charset="-122"/>
                <a:cs typeface="Arial" pitchFamily="34" charset="-120"/>
              </a:rPr>
              <a:t>Datenübernahme und ein Projekt für Kohlhammer-Funktionen, die danach Standard im Produkt sind. Nativer Betrieb ohne Docker und OpenSearch; lizenziert werden nur genutzte Module.</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594360"/>
          </a:xfrm>
          <a:prstGeom prst="rect">
            <a:avLst/>
          </a:prstGeom>
          <a:noFill/>
          <a:ln/>
        </p:spPr>
        <p:txBody>
          <a:bodyPr wrap="square" lIns="0" tIns="0" rIns="0" bIns="0" rtlCol="0" anchor="b"/>
          <a:lstStyle/>
          <a:p>
            <a:pPr indent="0" marL="0">
              <a:buNone/>
            </a:pPr>
            <a:r>
              <a:rPr lang="en-US" sz="3000" dirty="0">
                <a:solidFill>
                  <a:srgbClr val="16181D"/>
                </a:solidFill>
                <a:latin typeface="Arial" pitchFamily="34" charset="0"/>
                <a:ea typeface="Arial" pitchFamily="34" charset="-122"/>
                <a:cs typeface="Arial" pitchFamily="34" charset="-120"/>
              </a:rPr>
              <a:t>WAS „UPGRADE“ BEI PIMCORE 6 HEISST</a:t>
            </a:r>
            <a:endParaRPr lang="en-US" sz="3000" dirty="0"/>
          </a:p>
        </p:txBody>
      </p:sp>
      <p:sp>
        <p:nvSpPr>
          <p:cNvPr id="3" name="Text 1"/>
          <p:cNvSpPr txBox="1"/>
          <p:nvPr/>
        </p:nvSpPr>
        <p:spPr>
          <a:xfrm>
            <a:off x="548640" y="1033272"/>
            <a:ext cx="11094415" cy="365760"/>
          </a:xfrm>
          <a:prstGeom prst="rect">
            <a:avLst/>
          </a:prstGeom>
          <a:noFill/>
          <a:ln/>
        </p:spPr>
        <p:txBody>
          <a:bodyPr wrap="square" lIns="0" tIns="0" rIns="0" bIns="0" rtlCol="0" anchor="t"/>
          <a:lstStyle/>
          <a:p>
            <a:pPr indent="0" marL="0">
              <a:buNone/>
            </a:pPr>
            <a:r>
              <a:rPr lang="en-US" sz="1400" dirty="0">
                <a:solidFill>
                  <a:srgbClr val="4B5563"/>
                </a:solidFill>
                <a:latin typeface="Arial" pitchFamily="34" charset="0"/>
                <a:ea typeface="Arial" pitchFamily="34" charset="-122"/>
                <a:cs typeface="Arial" pitchFamily="34" charset="-120"/>
              </a:rPr>
              <a:t>Kein Versionssprung, sondern ein Weg über mehrere Hauptversionen – und danach eine Daueraufgabe.</a:t>
            </a:r>
            <a:endParaRPr lang="en-US" sz="1400" dirty="0"/>
          </a:p>
        </p:txBody>
      </p:sp>
      <p:sp>
        <p:nvSpPr>
          <p:cNvPr id="4" name="Text 2"/>
          <p:cNvSpPr txBox="1"/>
          <p:nvPr/>
        </p:nvSpPr>
        <p:spPr>
          <a:xfrm>
            <a:off x="548640" y="6400800"/>
            <a:ext cx="7315200" cy="228600"/>
          </a:xfrm>
          <a:prstGeom prst="rect">
            <a:avLst/>
          </a:prstGeom>
          <a:noFill/>
          <a:ln/>
        </p:spPr>
        <p:txBody>
          <a:bodyPr wrap="square" lIns="0" tIns="0" rIns="0" bIns="0" rtlCol="0" anchor="t"/>
          <a:lstStyle/>
          <a:p>
            <a:pPr indent="0" marL="0">
              <a:buNone/>
            </a:pPr>
            <a:r>
              <a:rPr lang="en-US" sz="900" dirty="0">
                <a:solidFill>
                  <a:srgbClr val="4B5563"/>
                </a:solidFill>
                <a:latin typeface="Arial" pitchFamily="34" charset="0"/>
                <a:ea typeface="Arial" pitchFamily="34" charset="-122"/>
                <a:cs typeface="Arial" pitchFamily="34" charset="-120"/>
              </a:rPr>
              <a:t>anyPIM für Kohlhammer  ·  Entscheidungsvorlage  ·  September 2026</a:t>
            </a:r>
            <a:endParaRPr lang="en-US" sz="900" dirty="0"/>
          </a:p>
        </p:txBody>
      </p:sp>
      <p:sp>
        <p:nvSpPr>
          <p:cNvPr id="5" name="Text 3"/>
          <p:cNvSpPr txBox="1"/>
          <p:nvPr/>
        </p:nvSpPr>
        <p:spPr>
          <a:xfrm>
            <a:off x="10728655" y="6400800"/>
            <a:ext cx="914400" cy="228600"/>
          </a:xfrm>
          <a:prstGeom prst="rect">
            <a:avLst/>
          </a:prstGeom>
          <a:noFill/>
          <a:ln/>
        </p:spPr>
        <p:txBody>
          <a:bodyPr wrap="square" lIns="0" tIns="0" rIns="0" bIns="0" rtlCol="0" anchor="t"/>
          <a:lstStyle/>
          <a:p>
            <a:pPr algn="r" indent="0" marL="0">
              <a:buNone/>
            </a:pPr>
            <a:r>
              <a:rPr lang="en-US" sz="900" dirty="0">
                <a:solidFill>
                  <a:srgbClr val="4B5563"/>
                </a:solidFill>
                <a:latin typeface="Arial" pitchFamily="34" charset="0"/>
                <a:ea typeface="Arial" pitchFamily="34" charset="-122"/>
                <a:cs typeface="Arial" pitchFamily="34" charset="-120"/>
              </a:rPr>
              <a:t>3</a:t>
            </a:r>
            <a:endParaRPr lang="en-US" sz="900" dirty="0"/>
          </a:p>
        </p:txBody>
      </p:sp>
      <p:sp>
        <p:nvSpPr>
          <p:cNvPr id="6" name="Shape 4"/>
          <p:cNvSpPr/>
          <p:nvPr/>
        </p:nvSpPr>
        <p:spPr>
          <a:xfrm>
            <a:off x="548640" y="1783080"/>
            <a:ext cx="914400" cy="914400"/>
          </a:xfrm>
          <a:prstGeom prst="ellipse">
            <a:avLst/>
          </a:prstGeom>
          <a:solidFill>
            <a:srgbClr val="FFFFFF"/>
          </a:solidFill>
          <a:ln w="25400">
            <a:solidFill>
              <a:srgbClr val="1B2D5C"/>
            </a:solidFill>
            <a:prstDash val="solid"/>
          </a:ln>
        </p:spPr>
      </p:sp>
      <p:sp>
        <p:nvSpPr>
          <p:cNvPr id="7" name="Text 5"/>
          <p:cNvSpPr txBox="1"/>
          <p:nvPr/>
        </p:nvSpPr>
        <p:spPr>
          <a:xfrm>
            <a:off x="548640" y="1783080"/>
            <a:ext cx="914400" cy="914400"/>
          </a:xfrm>
          <a:prstGeom prst="rect">
            <a:avLst/>
          </a:prstGeom>
          <a:noFill/>
          <a:ln/>
        </p:spPr>
        <p:txBody>
          <a:bodyPr wrap="square" lIns="0" tIns="0" rIns="0" bIns="0" rtlCol="0" anchor="ctr"/>
          <a:lstStyle/>
          <a:p>
            <a:pPr algn="ctr" indent="0" marL="0">
              <a:buNone/>
            </a:pPr>
            <a:r>
              <a:rPr lang="en-US" sz="2800" dirty="0">
                <a:solidFill>
                  <a:srgbClr val="1B2D5C"/>
                </a:solidFill>
                <a:latin typeface="Arial" pitchFamily="34" charset="0"/>
                <a:ea typeface="Arial" pitchFamily="34" charset="-122"/>
                <a:cs typeface="Arial" pitchFamily="34" charset="-120"/>
              </a:rPr>
              <a:t>6</a:t>
            </a:r>
            <a:endParaRPr lang="en-US" sz="2800" dirty="0"/>
          </a:p>
        </p:txBody>
      </p:sp>
      <p:sp>
        <p:nvSpPr>
          <p:cNvPr id="8" name="Text 6"/>
          <p:cNvSpPr txBox="1"/>
          <p:nvPr/>
        </p:nvSpPr>
        <p:spPr>
          <a:xfrm>
            <a:off x="365760" y="2816352"/>
            <a:ext cx="1280160" cy="640080"/>
          </a:xfrm>
          <a:prstGeom prst="rect">
            <a:avLst/>
          </a:prstGeom>
          <a:noFill/>
          <a:ln/>
        </p:spPr>
        <p:txBody>
          <a:bodyPr wrap="square" lIns="0" tIns="0" rIns="0" bIns="0" rtlCol="0" anchor="t"/>
          <a:lstStyle/>
          <a:p>
            <a:pPr algn="ctr" indent="0" marL="0">
              <a:buNone/>
            </a:pPr>
            <a:r>
              <a:rPr lang="en-US" sz="1050" dirty="0">
                <a:solidFill>
                  <a:srgbClr val="4B5563"/>
                </a:solidFill>
                <a:latin typeface="Arial" pitchFamily="34" charset="0"/>
                <a:ea typeface="Arial" pitchFamily="34" charset="-122"/>
                <a:cs typeface="Arial" pitchFamily="34" charset="-120"/>
              </a:rPr>
              <a:t>Kohlhammer</a:t>
            </a:r>
            <a:endParaRPr lang="en-US" sz="1050" dirty="0"/>
          </a:p>
          <a:p>
            <a:pPr algn="ctr" indent="0" marL="0">
              <a:buNone/>
            </a:pPr>
            <a:r>
              <a:rPr lang="en-US" sz="1050" dirty="0">
                <a:solidFill>
                  <a:srgbClr val="4B5563"/>
                </a:solidFill>
                <a:latin typeface="Arial" pitchFamily="34" charset="0"/>
                <a:ea typeface="Arial" pitchFamily="34" charset="-122"/>
                <a:cs typeface="Arial" pitchFamily="34" charset="-120"/>
              </a:rPr>
              <a:t>heute</a:t>
            </a:r>
            <a:endParaRPr lang="en-US" sz="1050" dirty="0"/>
          </a:p>
        </p:txBody>
      </p:sp>
      <p:sp>
        <p:nvSpPr>
          <p:cNvPr id="9" name="Text 7"/>
          <p:cNvSpPr txBox="1"/>
          <p:nvPr/>
        </p:nvSpPr>
        <p:spPr>
          <a:xfrm>
            <a:off x="1463040" y="1783080"/>
            <a:ext cx="365760" cy="914400"/>
          </a:xfrm>
          <a:prstGeom prst="rect">
            <a:avLst/>
          </a:prstGeom>
          <a:noFill/>
          <a:ln/>
        </p:spPr>
        <p:txBody>
          <a:bodyPr wrap="square" lIns="0" tIns="0" rIns="0" bIns="0" rtlCol="0" anchor="ctr"/>
          <a:lstStyle/>
          <a:p>
            <a:pPr algn="ctr" indent="0" marL="0">
              <a:buNone/>
            </a:pPr>
            <a:r>
              <a:rPr lang="en-US" sz="2000" dirty="0">
                <a:solidFill>
                  <a:srgbClr val="1B2D5C"/>
                </a:solidFill>
                <a:latin typeface="Arial" pitchFamily="34" charset="0"/>
                <a:ea typeface="Arial" pitchFamily="34" charset="-122"/>
                <a:cs typeface="Arial" pitchFamily="34" charset="-120"/>
              </a:rPr>
              <a:t>→</a:t>
            </a:r>
            <a:endParaRPr lang="en-US" sz="2000" dirty="0"/>
          </a:p>
        </p:txBody>
      </p:sp>
      <p:sp>
        <p:nvSpPr>
          <p:cNvPr id="10" name="Shape 8"/>
          <p:cNvSpPr/>
          <p:nvPr/>
        </p:nvSpPr>
        <p:spPr>
          <a:xfrm>
            <a:off x="1828800" y="1783080"/>
            <a:ext cx="914400" cy="914400"/>
          </a:xfrm>
          <a:prstGeom prst="ellipse">
            <a:avLst/>
          </a:prstGeom>
          <a:solidFill>
            <a:srgbClr val="FFFFFF"/>
          </a:solidFill>
          <a:ln w="25400">
            <a:solidFill>
              <a:srgbClr val="1B2D5C"/>
            </a:solidFill>
            <a:prstDash val="solid"/>
          </a:ln>
        </p:spPr>
      </p:sp>
      <p:sp>
        <p:nvSpPr>
          <p:cNvPr id="11" name="Text 9"/>
          <p:cNvSpPr txBox="1"/>
          <p:nvPr/>
        </p:nvSpPr>
        <p:spPr>
          <a:xfrm>
            <a:off x="1828800" y="1783080"/>
            <a:ext cx="914400" cy="914400"/>
          </a:xfrm>
          <a:prstGeom prst="rect">
            <a:avLst/>
          </a:prstGeom>
          <a:noFill/>
          <a:ln/>
        </p:spPr>
        <p:txBody>
          <a:bodyPr wrap="square" lIns="0" tIns="0" rIns="0" bIns="0" rtlCol="0" anchor="ctr"/>
          <a:lstStyle/>
          <a:p>
            <a:pPr algn="ctr" indent="0" marL="0">
              <a:buNone/>
            </a:pPr>
            <a:r>
              <a:rPr lang="en-US" sz="2800" dirty="0">
                <a:solidFill>
                  <a:srgbClr val="1B2D5C"/>
                </a:solidFill>
                <a:latin typeface="Arial" pitchFamily="34" charset="0"/>
                <a:ea typeface="Arial" pitchFamily="34" charset="-122"/>
                <a:cs typeface="Arial" pitchFamily="34" charset="-120"/>
              </a:rPr>
              <a:t>10</a:t>
            </a:r>
            <a:endParaRPr lang="en-US" sz="2800" dirty="0"/>
          </a:p>
        </p:txBody>
      </p:sp>
      <p:sp>
        <p:nvSpPr>
          <p:cNvPr id="12" name="Text 10"/>
          <p:cNvSpPr txBox="1"/>
          <p:nvPr/>
        </p:nvSpPr>
        <p:spPr>
          <a:xfrm>
            <a:off x="1645920" y="2816352"/>
            <a:ext cx="1280160" cy="640080"/>
          </a:xfrm>
          <a:prstGeom prst="rect">
            <a:avLst/>
          </a:prstGeom>
          <a:noFill/>
          <a:ln/>
        </p:spPr>
        <p:txBody>
          <a:bodyPr wrap="square" lIns="0" tIns="0" rIns="0" bIns="0" rtlCol="0" anchor="t"/>
          <a:lstStyle/>
          <a:p>
            <a:pPr algn="ctr" indent="0" marL="0">
              <a:buNone/>
            </a:pPr>
            <a:r>
              <a:rPr lang="en-US" sz="1050" dirty="0">
                <a:solidFill>
                  <a:srgbClr val="4B5563"/>
                </a:solidFill>
                <a:latin typeface="Arial" pitchFamily="34" charset="0"/>
                <a:ea typeface="Arial" pitchFamily="34" charset="-122"/>
                <a:cs typeface="Arial" pitchFamily="34" charset="-120"/>
              </a:rPr>
              <a:t>Symfony 5,</a:t>
            </a:r>
            <a:endParaRPr lang="en-US" sz="1050" dirty="0"/>
          </a:p>
          <a:p>
            <a:pPr algn="ctr" indent="0" marL="0">
              <a:buNone/>
            </a:pPr>
            <a:r>
              <a:rPr lang="en-US" sz="1050" dirty="0">
                <a:solidFill>
                  <a:srgbClr val="4B5563"/>
                </a:solidFill>
                <a:latin typeface="Arial" pitchFamily="34" charset="0"/>
                <a:ea typeface="Arial" pitchFamily="34" charset="-122"/>
                <a:cs typeface="Arial" pitchFamily="34" charset="-120"/>
              </a:rPr>
              <a:t>PHP 8</a:t>
            </a:r>
            <a:endParaRPr lang="en-US" sz="1050" dirty="0"/>
          </a:p>
        </p:txBody>
      </p:sp>
      <p:sp>
        <p:nvSpPr>
          <p:cNvPr id="13" name="Text 11"/>
          <p:cNvSpPr txBox="1"/>
          <p:nvPr/>
        </p:nvSpPr>
        <p:spPr>
          <a:xfrm>
            <a:off x="2743200" y="1783080"/>
            <a:ext cx="365760" cy="914400"/>
          </a:xfrm>
          <a:prstGeom prst="rect">
            <a:avLst/>
          </a:prstGeom>
          <a:noFill/>
          <a:ln/>
        </p:spPr>
        <p:txBody>
          <a:bodyPr wrap="square" lIns="0" tIns="0" rIns="0" bIns="0" rtlCol="0" anchor="ctr"/>
          <a:lstStyle/>
          <a:p>
            <a:pPr algn="ctr" indent="0" marL="0">
              <a:buNone/>
            </a:pPr>
            <a:r>
              <a:rPr lang="en-US" sz="2000" dirty="0">
                <a:solidFill>
                  <a:srgbClr val="1B2D5C"/>
                </a:solidFill>
                <a:latin typeface="Arial" pitchFamily="34" charset="0"/>
                <a:ea typeface="Arial" pitchFamily="34" charset="-122"/>
                <a:cs typeface="Arial" pitchFamily="34" charset="-120"/>
              </a:rPr>
              <a:t>→</a:t>
            </a:r>
            <a:endParaRPr lang="en-US" sz="2000" dirty="0"/>
          </a:p>
        </p:txBody>
      </p:sp>
      <p:sp>
        <p:nvSpPr>
          <p:cNvPr id="14" name="Shape 12"/>
          <p:cNvSpPr/>
          <p:nvPr/>
        </p:nvSpPr>
        <p:spPr>
          <a:xfrm>
            <a:off x="3108960" y="1783080"/>
            <a:ext cx="914400" cy="914400"/>
          </a:xfrm>
          <a:prstGeom prst="ellipse">
            <a:avLst/>
          </a:prstGeom>
          <a:solidFill>
            <a:srgbClr val="FFFFFF"/>
          </a:solidFill>
          <a:ln w="25400">
            <a:solidFill>
              <a:srgbClr val="1B2D5C"/>
            </a:solidFill>
            <a:prstDash val="solid"/>
          </a:ln>
        </p:spPr>
      </p:sp>
      <p:sp>
        <p:nvSpPr>
          <p:cNvPr id="15" name="Text 13"/>
          <p:cNvSpPr txBox="1"/>
          <p:nvPr/>
        </p:nvSpPr>
        <p:spPr>
          <a:xfrm>
            <a:off x="3108960" y="1783080"/>
            <a:ext cx="914400" cy="914400"/>
          </a:xfrm>
          <a:prstGeom prst="rect">
            <a:avLst/>
          </a:prstGeom>
          <a:noFill/>
          <a:ln/>
        </p:spPr>
        <p:txBody>
          <a:bodyPr wrap="square" lIns="0" tIns="0" rIns="0" bIns="0" rtlCol="0" anchor="ctr"/>
          <a:lstStyle/>
          <a:p>
            <a:pPr algn="ctr" indent="0" marL="0">
              <a:buNone/>
            </a:pPr>
            <a:r>
              <a:rPr lang="en-US" sz="2800" dirty="0">
                <a:solidFill>
                  <a:srgbClr val="1B2D5C"/>
                </a:solidFill>
                <a:latin typeface="Arial" pitchFamily="34" charset="0"/>
                <a:ea typeface="Arial" pitchFamily="34" charset="-122"/>
                <a:cs typeface="Arial" pitchFamily="34" charset="-120"/>
              </a:rPr>
              <a:t>11</a:t>
            </a:r>
            <a:endParaRPr lang="en-US" sz="2800" dirty="0"/>
          </a:p>
        </p:txBody>
      </p:sp>
      <p:sp>
        <p:nvSpPr>
          <p:cNvPr id="16" name="Text 14"/>
          <p:cNvSpPr txBox="1"/>
          <p:nvPr/>
        </p:nvSpPr>
        <p:spPr>
          <a:xfrm>
            <a:off x="2926080" y="2816352"/>
            <a:ext cx="1280160" cy="640080"/>
          </a:xfrm>
          <a:prstGeom prst="rect">
            <a:avLst/>
          </a:prstGeom>
          <a:noFill/>
          <a:ln/>
        </p:spPr>
        <p:txBody>
          <a:bodyPr wrap="square" lIns="0" tIns="0" rIns="0" bIns="0" rtlCol="0" anchor="t"/>
          <a:lstStyle/>
          <a:p>
            <a:pPr algn="ctr" indent="0" marL="0">
              <a:buNone/>
            </a:pPr>
            <a:r>
              <a:rPr lang="en-US" sz="1050" dirty="0">
                <a:solidFill>
                  <a:srgbClr val="4B5563"/>
                </a:solidFill>
                <a:latin typeface="Arial" pitchFamily="34" charset="0"/>
                <a:ea typeface="Arial" pitchFamily="34" charset="-122"/>
                <a:cs typeface="Arial" pitchFamily="34" charset="-120"/>
              </a:rPr>
              <a:t>Symfony 6,</a:t>
            </a:r>
            <a:endParaRPr lang="en-US" sz="1050" dirty="0"/>
          </a:p>
          <a:p>
            <a:pPr algn="ctr" indent="0" marL="0">
              <a:buNone/>
            </a:pPr>
            <a:r>
              <a:rPr lang="en-US" sz="1050" dirty="0">
                <a:solidFill>
                  <a:srgbClr val="4B5563"/>
                </a:solidFill>
                <a:latin typeface="Arial" pitchFamily="34" charset="0"/>
                <a:ea typeface="Arial" pitchFamily="34" charset="-122"/>
                <a:cs typeface="Arial" pitchFamily="34" charset="-120"/>
              </a:rPr>
              <a:t>Bundles ausgelagert</a:t>
            </a:r>
            <a:endParaRPr lang="en-US" sz="1050" dirty="0"/>
          </a:p>
        </p:txBody>
      </p:sp>
      <p:sp>
        <p:nvSpPr>
          <p:cNvPr id="17" name="Text 15"/>
          <p:cNvSpPr txBox="1"/>
          <p:nvPr/>
        </p:nvSpPr>
        <p:spPr>
          <a:xfrm>
            <a:off x="4023360" y="1783080"/>
            <a:ext cx="365760" cy="914400"/>
          </a:xfrm>
          <a:prstGeom prst="rect">
            <a:avLst/>
          </a:prstGeom>
          <a:noFill/>
          <a:ln/>
        </p:spPr>
        <p:txBody>
          <a:bodyPr wrap="square" lIns="0" tIns="0" rIns="0" bIns="0" rtlCol="0" anchor="ctr"/>
          <a:lstStyle/>
          <a:p>
            <a:pPr algn="ctr" indent="0" marL="0">
              <a:buNone/>
            </a:pPr>
            <a:r>
              <a:rPr lang="en-US" sz="2000" dirty="0">
                <a:solidFill>
                  <a:srgbClr val="1B2D5C"/>
                </a:solidFill>
                <a:latin typeface="Arial" pitchFamily="34" charset="0"/>
                <a:ea typeface="Arial" pitchFamily="34" charset="-122"/>
                <a:cs typeface="Arial" pitchFamily="34" charset="-120"/>
              </a:rPr>
              <a:t>→</a:t>
            </a:r>
            <a:endParaRPr lang="en-US" sz="2000" dirty="0"/>
          </a:p>
        </p:txBody>
      </p:sp>
      <p:sp>
        <p:nvSpPr>
          <p:cNvPr id="18" name="Shape 16"/>
          <p:cNvSpPr/>
          <p:nvPr/>
        </p:nvSpPr>
        <p:spPr>
          <a:xfrm>
            <a:off x="4389120" y="1783080"/>
            <a:ext cx="914400" cy="914400"/>
          </a:xfrm>
          <a:prstGeom prst="ellipse">
            <a:avLst/>
          </a:prstGeom>
          <a:solidFill>
            <a:srgbClr val="FFFFFF"/>
          </a:solidFill>
          <a:ln w="25400">
            <a:solidFill>
              <a:srgbClr val="1B2D5C"/>
            </a:solidFill>
            <a:prstDash val="solid"/>
          </a:ln>
        </p:spPr>
      </p:sp>
      <p:sp>
        <p:nvSpPr>
          <p:cNvPr id="19" name="Text 17"/>
          <p:cNvSpPr txBox="1"/>
          <p:nvPr/>
        </p:nvSpPr>
        <p:spPr>
          <a:xfrm>
            <a:off x="4389120" y="1783080"/>
            <a:ext cx="914400" cy="914400"/>
          </a:xfrm>
          <a:prstGeom prst="rect">
            <a:avLst/>
          </a:prstGeom>
          <a:noFill/>
          <a:ln/>
        </p:spPr>
        <p:txBody>
          <a:bodyPr wrap="square" lIns="0" tIns="0" rIns="0" bIns="0" rtlCol="0" anchor="ctr"/>
          <a:lstStyle/>
          <a:p>
            <a:pPr algn="ctr" indent="0" marL="0">
              <a:buNone/>
            </a:pPr>
            <a:r>
              <a:rPr lang="en-US" sz="1600" dirty="0">
                <a:solidFill>
                  <a:srgbClr val="1B2D5C"/>
                </a:solidFill>
                <a:latin typeface="Arial" pitchFamily="34" charset="0"/>
                <a:ea typeface="Arial" pitchFamily="34" charset="-122"/>
                <a:cs typeface="Arial" pitchFamily="34" charset="-120"/>
              </a:rPr>
              <a:t>2026.2</a:t>
            </a:r>
            <a:endParaRPr lang="en-US" sz="1600" dirty="0"/>
          </a:p>
        </p:txBody>
      </p:sp>
      <p:sp>
        <p:nvSpPr>
          <p:cNvPr id="20" name="Text 18"/>
          <p:cNvSpPr txBox="1"/>
          <p:nvPr/>
        </p:nvSpPr>
        <p:spPr>
          <a:xfrm>
            <a:off x="4206240" y="2816352"/>
            <a:ext cx="1280160" cy="640080"/>
          </a:xfrm>
          <a:prstGeom prst="rect">
            <a:avLst/>
          </a:prstGeom>
          <a:noFill/>
          <a:ln/>
        </p:spPr>
        <p:txBody>
          <a:bodyPr wrap="square" lIns="0" tIns="0" rIns="0" bIns="0" rtlCol="0" anchor="t"/>
          <a:lstStyle/>
          <a:p>
            <a:pPr algn="ctr" indent="0" marL="0">
              <a:buNone/>
            </a:pPr>
            <a:r>
              <a:rPr lang="en-US" sz="1050" dirty="0">
                <a:solidFill>
                  <a:srgbClr val="4B5563"/>
                </a:solidFill>
                <a:latin typeface="Arial" pitchFamily="34" charset="0"/>
                <a:ea typeface="Arial" pitchFamily="34" charset="-122"/>
                <a:cs typeface="Arial" pitchFamily="34" charset="-120"/>
              </a:rPr>
              <a:t>aktuelle Version,</a:t>
            </a:r>
            <a:endParaRPr lang="en-US" sz="1050" dirty="0"/>
          </a:p>
          <a:p>
            <a:pPr algn="ctr" indent="0" marL="0">
              <a:buNone/>
            </a:pPr>
            <a:r>
              <a:rPr lang="en-US" sz="1050" dirty="0">
                <a:solidFill>
                  <a:srgbClr val="4B5563"/>
                </a:solidFill>
                <a:latin typeface="Arial" pitchFamily="34" charset="0"/>
                <a:ea typeface="Arial" pitchFamily="34" charset="-122"/>
                <a:cs typeface="Arial" pitchFamily="34" charset="-120"/>
              </a:rPr>
              <a:t>POCL, Studio</a:t>
            </a:r>
            <a:endParaRPr lang="en-US" sz="1050" dirty="0"/>
          </a:p>
        </p:txBody>
      </p:sp>
      <p:sp>
        <p:nvSpPr>
          <p:cNvPr id="21" name="Text 19"/>
          <p:cNvSpPr txBox="1"/>
          <p:nvPr/>
        </p:nvSpPr>
        <p:spPr>
          <a:xfrm>
            <a:off x="5303520" y="1783080"/>
            <a:ext cx="365760" cy="914400"/>
          </a:xfrm>
          <a:prstGeom prst="rect">
            <a:avLst/>
          </a:prstGeom>
          <a:noFill/>
          <a:ln/>
        </p:spPr>
        <p:txBody>
          <a:bodyPr wrap="square" lIns="0" tIns="0" rIns="0" bIns="0" rtlCol="0" anchor="ctr"/>
          <a:lstStyle/>
          <a:p>
            <a:pPr algn="ctr" indent="0" marL="0">
              <a:buNone/>
            </a:pPr>
            <a:r>
              <a:rPr lang="en-US" sz="2000" dirty="0">
                <a:solidFill>
                  <a:srgbClr val="1B2D5C"/>
                </a:solidFill>
                <a:latin typeface="Arial" pitchFamily="34" charset="0"/>
                <a:ea typeface="Arial" pitchFamily="34" charset="-122"/>
                <a:cs typeface="Arial" pitchFamily="34" charset="-120"/>
              </a:rPr>
              <a:t>→</a:t>
            </a:r>
            <a:endParaRPr lang="en-US" sz="2000" dirty="0"/>
          </a:p>
        </p:txBody>
      </p:sp>
      <p:sp>
        <p:nvSpPr>
          <p:cNvPr id="22" name="Shape 20"/>
          <p:cNvSpPr/>
          <p:nvPr/>
        </p:nvSpPr>
        <p:spPr>
          <a:xfrm>
            <a:off x="5669280" y="1783080"/>
            <a:ext cx="914400" cy="914400"/>
          </a:xfrm>
          <a:prstGeom prst="ellipse">
            <a:avLst/>
          </a:prstGeom>
          <a:solidFill>
            <a:srgbClr val="1B2D5C"/>
          </a:solidFill>
          <a:ln w="25400">
            <a:solidFill>
              <a:srgbClr val="1B2D5C"/>
            </a:solidFill>
            <a:prstDash val="solid"/>
          </a:ln>
        </p:spPr>
      </p:sp>
      <p:sp>
        <p:nvSpPr>
          <p:cNvPr id="23" name="Text 21"/>
          <p:cNvSpPr txBox="1"/>
          <p:nvPr/>
        </p:nvSpPr>
        <p:spPr>
          <a:xfrm>
            <a:off x="5669280" y="1783080"/>
            <a:ext cx="914400" cy="914400"/>
          </a:xfrm>
          <a:prstGeom prst="rect">
            <a:avLst/>
          </a:prstGeom>
          <a:noFill/>
          <a:ln/>
        </p:spPr>
        <p:txBody>
          <a:bodyPr wrap="square" lIns="0" tIns="0" rIns="0" bIns="0" rtlCol="0" anchor="ctr"/>
          <a:lstStyle/>
          <a:p>
            <a:pPr algn="ctr" indent="0" marL="0">
              <a:buNone/>
            </a:pPr>
            <a:r>
              <a:rPr lang="en-US" sz="1600" dirty="0">
                <a:solidFill>
                  <a:srgbClr val="FFFFFF"/>
                </a:solidFill>
                <a:latin typeface="Arial" pitchFamily="34" charset="0"/>
                <a:ea typeface="Arial" pitchFamily="34" charset="-122"/>
                <a:cs typeface="Arial" pitchFamily="34" charset="-120"/>
              </a:rPr>
              <a:t>2026.3</a:t>
            </a:r>
            <a:endParaRPr lang="en-US" sz="1600" dirty="0"/>
          </a:p>
        </p:txBody>
      </p:sp>
      <p:sp>
        <p:nvSpPr>
          <p:cNvPr id="24" name="Text 22"/>
          <p:cNvSpPr txBox="1"/>
          <p:nvPr/>
        </p:nvSpPr>
        <p:spPr>
          <a:xfrm>
            <a:off x="5486400" y="2816352"/>
            <a:ext cx="1280160" cy="640080"/>
          </a:xfrm>
          <a:prstGeom prst="rect">
            <a:avLst/>
          </a:prstGeom>
          <a:noFill/>
          <a:ln/>
        </p:spPr>
        <p:txBody>
          <a:bodyPr wrap="square" lIns="0" tIns="0" rIns="0" bIns="0" rtlCol="0" anchor="t"/>
          <a:lstStyle/>
          <a:p>
            <a:pPr algn="ctr" indent="0" marL="0">
              <a:buNone/>
            </a:pPr>
            <a:r>
              <a:rPr lang="en-US" sz="1050" dirty="0">
                <a:solidFill>
                  <a:srgbClr val="4B5563"/>
                </a:solidFill>
                <a:latin typeface="Arial" pitchFamily="34" charset="0"/>
                <a:ea typeface="Arial" pitchFamily="34" charset="-122"/>
                <a:cs typeface="Arial" pitchFamily="34" charset="-120"/>
              </a:rPr>
              <a:t>angekündigt –</a:t>
            </a:r>
            <a:endParaRPr lang="en-US" sz="1050" dirty="0"/>
          </a:p>
          <a:p>
            <a:pPr algn="ctr" indent="0" marL="0">
              <a:buNone/>
            </a:pPr>
            <a:r>
              <a:rPr lang="en-US" sz="1050" dirty="0">
                <a:solidFill>
                  <a:srgbClr val="4B5563"/>
                </a:solidFill>
                <a:latin typeface="Arial" pitchFamily="34" charset="0"/>
                <a:ea typeface="Arial" pitchFamily="34" charset="-122"/>
                <a:cs typeface="Arial" pitchFamily="34" charset="-120"/>
              </a:rPr>
              <a:t>und so weiter</a:t>
            </a:r>
            <a:endParaRPr lang="en-US" sz="1050" dirty="0"/>
          </a:p>
        </p:txBody>
      </p:sp>
      <p:sp>
        <p:nvSpPr>
          <p:cNvPr id="25" name="Text 23"/>
          <p:cNvSpPr txBox="1"/>
          <p:nvPr/>
        </p:nvSpPr>
        <p:spPr>
          <a:xfrm>
            <a:off x="548640" y="3703320"/>
            <a:ext cx="5943600" cy="2468880"/>
          </a:xfrm>
          <a:prstGeom prst="rect">
            <a:avLst/>
          </a:prstGeom>
          <a:noFill/>
          <a:ln/>
        </p:spPr>
        <p:txBody>
          <a:bodyPr wrap="square" lIns="0" tIns="0" rIns="0" bIns="0" rtlCol="0" anchor="t"/>
          <a:lstStyle/>
          <a:p>
            <a:pPr marL="342900" indent="-342900">
              <a:lnSpc>
                <a:spcPct val="110000"/>
              </a:lnSpc>
              <a:spcAft>
                <a:spcPts val="600"/>
              </a:spcAft>
              <a:buSzPct val="100000"/>
              <a:buChar char="•"/>
            </a:pPr>
            <a:r>
              <a:rPr lang="en-US" sz="1400" dirty="0">
                <a:solidFill>
                  <a:srgbClr val="16181D"/>
                </a:solidFill>
                <a:latin typeface="Arial" pitchFamily="34" charset="0"/>
                <a:ea typeface="Arial" pitchFamily="34" charset="-122"/>
                <a:cs typeface="Arial" pitchFamily="34" charset="-120"/>
              </a:rPr>
              <a:t>Jede Stufe bringt neue PHP- und Symfony-Anforderungen – Eigenentwicklungen müssen jedes Mal angepasst werden.</a:t>
            </a:r>
            <a:endParaRPr lang="en-US" sz="1400" dirty="0"/>
          </a:p>
          <a:p>
            <a:pPr marL="342900" indent="-342900">
              <a:lnSpc>
                <a:spcPct val="110000"/>
              </a:lnSpc>
              <a:spcAft>
                <a:spcPts val="600"/>
              </a:spcAft>
              <a:buSzPct val="100000"/>
              <a:buChar char="•"/>
            </a:pPr>
            <a:r>
              <a:rPr lang="en-US" sz="1400" dirty="0">
                <a:solidFill>
                  <a:srgbClr val="16181D"/>
                </a:solidFill>
                <a:latin typeface="Arial" pitchFamily="34" charset="0"/>
                <a:ea typeface="Arial" pitchFamily="34" charset="-122"/>
                <a:cs typeface="Arial" pitchFamily="34" charset="-120"/>
              </a:rPr>
              <a:t>Nach dem Upgrade bleibt Nachziehen Daueraufgabe: 2026.3 ist angekündigt, jedes Release betrifft Core, Bundles, Oberfläche und Betriebsumgebung.</a:t>
            </a:r>
            <a:endParaRPr lang="en-US" sz="1400" dirty="0"/>
          </a:p>
          <a:p>
            <a:pPr marL="342900" indent="-342900">
              <a:lnSpc>
                <a:spcPct val="110000"/>
              </a:lnSpc>
              <a:spcAft>
                <a:spcPts val="600"/>
              </a:spcAft>
              <a:buSzPct val="100000"/>
              <a:buChar char="•"/>
            </a:pPr>
            <a:r>
              <a:rPr lang="en-US" sz="1400" dirty="0">
                <a:solidFill>
                  <a:srgbClr val="16181D"/>
                </a:solidFill>
                <a:latin typeface="Arial" pitchFamily="34" charset="0"/>
                <a:ea typeface="Arial" pitchFamily="34" charset="-122"/>
                <a:cs typeface="Arial" pitchFamily="34" charset="-120"/>
              </a:rPr>
              <a:t>Pimcore 6 lief unter GPL. Das aktuelle Pimcore steht unter der Pimcore Open Core License.</a:t>
            </a:r>
            <a:endParaRPr lang="en-US" sz="1400" dirty="0"/>
          </a:p>
        </p:txBody>
      </p:sp>
      <p:sp>
        <p:nvSpPr>
          <p:cNvPr id="26" name="Shape 24"/>
          <p:cNvSpPr/>
          <p:nvPr/>
        </p:nvSpPr>
        <p:spPr>
          <a:xfrm>
            <a:off x="6903720" y="1783080"/>
            <a:ext cx="4739335" cy="2834640"/>
          </a:xfrm>
          <a:prstGeom prst="rect">
            <a:avLst/>
          </a:prstGeom>
          <a:solidFill>
            <a:srgbClr val="C6E6E3"/>
          </a:solidFill>
          <a:ln w="12700">
            <a:solidFill>
              <a:srgbClr val="C6E6E3"/>
            </a:solidFill>
            <a:prstDash val="solid"/>
          </a:ln>
        </p:spPr>
      </p:sp>
      <p:sp>
        <p:nvSpPr>
          <p:cNvPr id="27" name="Text 25"/>
          <p:cNvSpPr txBox="1"/>
          <p:nvPr/>
        </p:nvSpPr>
        <p:spPr>
          <a:xfrm>
            <a:off x="7223760" y="2011680"/>
            <a:ext cx="4114800" cy="1005840"/>
          </a:xfrm>
          <a:prstGeom prst="rect">
            <a:avLst/>
          </a:prstGeom>
          <a:noFill/>
          <a:ln/>
        </p:spPr>
        <p:txBody>
          <a:bodyPr wrap="square" lIns="0" tIns="0" rIns="0" bIns="0" rtlCol="0" anchor="t"/>
          <a:lstStyle/>
          <a:p>
            <a:pPr indent="0" marL="0">
              <a:buNone/>
            </a:pPr>
            <a:r>
              <a:rPr lang="en-US" sz="6000" dirty="0">
                <a:solidFill>
                  <a:srgbClr val="000E2F"/>
                </a:solidFill>
                <a:latin typeface="Arial" pitchFamily="34" charset="0"/>
                <a:ea typeface="Arial" pitchFamily="34" charset="-122"/>
                <a:cs typeface="Arial" pitchFamily="34" charset="-120"/>
              </a:rPr>
              <a:t>5 Mio. €</a:t>
            </a:r>
            <a:endParaRPr lang="en-US" sz="6000" dirty="0"/>
          </a:p>
        </p:txBody>
      </p:sp>
      <p:sp>
        <p:nvSpPr>
          <p:cNvPr id="28" name="Text 26"/>
          <p:cNvSpPr txBox="1"/>
          <p:nvPr/>
        </p:nvSpPr>
        <p:spPr>
          <a:xfrm>
            <a:off x="7223760" y="3108960"/>
            <a:ext cx="4114800" cy="1371600"/>
          </a:xfrm>
          <a:prstGeom prst="rect">
            <a:avLst/>
          </a:prstGeom>
          <a:noFill/>
          <a:ln/>
        </p:spPr>
        <p:txBody>
          <a:bodyPr wrap="square" lIns="0" tIns="0" rIns="0" bIns="0" rtlCol="0" anchor="t"/>
          <a:lstStyle/>
          <a:p>
            <a:pPr indent="0" marL="0">
              <a:lnSpc>
                <a:spcPct val="110000"/>
              </a:lnSpc>
              <a:buNone/>
            </a:pPr>
            <a:r>
              <a:rPr lang="en-US" sz="1300" dirty="0">
                <a:solidFill>
                  <a:srgbClr val="16181D"/>
                </a:solidFill>
                <a:latin typeface="Arial" pitchFamily="34" charset="0"/>
                <a:ea typeface="Arial" pitchFamily="34" charset="-122"/>
                <a:cs typeface="Arial" pitchFamily="34" charset="-120"/>
              </a:rPr>
              <a:t>Umsatzgrenze der kostenfreien Pimcore Community Edition seit Version 2025.1. Darüber ist eine kommerzielle Lizenz nötig – für ein Verlagshaus in der Größe von Kohlhammer eine neue laufende Kostenposition.</a:t>
            </a:r>
            <a:endParaRPr lang="en-US" sz="1300" dirty="0"/>
          </a:p>
        </p:txBody>
      </p:sp>
      <p:sp>
        <p:nvSpPr>
          <p:cNvPr id="29" name="Text 27"/>
          <p:cNvSpPr txBox="1"/>
          <p:nvPr/>
        </p:nvSpPr>
        <p:spPr>
          <a:xfrm>
            <a:off x="6903720" y="4892040"/>
            <a:ext cx="4739335" cy="1188720"/>
          </a:xfrm>
          <a:prstGeom prst="rect">
            <a:avLst/>
          </a:prstGeom>
          <a:noFill/>
          <a:ln/>
        </p:spPr>
        <p:txBody>
          <a:bodyPr wrap="square" lIns="0" tIns="0" rIns="0" bIns="0" rtlCol="0" anchor="t"/>
          <a:lstStyle/>
          <a:p>
            <a:pPr indent="0" marL="0">
              <a:lnSpc>
                <a:spcPct val="110000"/>
              </a:lnSpc>
              <a:buNone/>
            </a:pPr>
            <a:r>
              <a:rPr lang="en-US" sz="1500" b="1" dirty="0">
                <a:solidFill>
                  <a:srgbClr val="1B2D5C"/>
                </a:solidFill>
                <a:latin typeface="Arial" pitchFamily="34" charset="0"/>
                <a:ea typeface="Arial" pitchFamily="34" charset="-122"/>
                <a:cs typeface="Arial" pitchFamily="34" charset="-120"/>
              </a:rPr>
              <a:t>Fazit: </a:t>
            </a:r>
            <a:pPr indent="0" marL="0">
              <a:lnSpc>
                <a:spcPct val="110000"/>
              </a:lnSpc>
              <a:buNone/>
            </a:pPr>
            <a:r>
              <a:rPr lang="en-US" sz="1500" dirty="0">
                <a:solidFill>
                  <a:srgbClr val="1B2D5C"/>
                </a:solidFill>
                <a:latin typeface="Arial" pitchFamily="34" charset="0"/>
                <a:ea typeface="Arial" pitchFamily="34" charset="-122"/>
                <a:cs typeface="Arial" pitchFamily="34" charset="-120"/>
              </a:rPr>
              <a:t>Das Upgrade ist in der Praxis ein Neuprojekt – mit dauerhaft höherem Wartungsaufwand danach. Jetzt ist der richtige Zeitpunkt, die Systemfrage offen zu stellen.</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594360"/>
          </a:xfrm>
          <a:prstGeom prst="rect">
            <a:avLst/>
          </a:prstGeom>
          <a:noFill/>
          <a:ln/>
        </p:spPr>
        <p:txBody>
          <a:bodyPr wrap="square" lIns="0" tIns="0" rIns="0" bIns="0" rtlCol="0" anchor="b"/>
          <a:lstStyle/>
          <a:p>
            <a:pPr indent="0" marL="0">
              <a:buNone/>
            </a:pPr>
            <a:r>
              <a:rPr lang="en-US" sz="3000" dirty="0">
                <a:solidFill>
                  <a:srgbClr val="16181D"/>
                </a:solidFill>
                <a:latin typeface="Arial" pitchFamily="34" charset="0"/>
                <a:ea typeface="Arial" pitchFamily="34" charset="-122"/>
                <a:cs typeface="Arial" pitchFamily="34" charset="-120"/>
              </a:rPr>
              <a:t>BETRIEB IM VERGLEICH</a:t>
            </a:r>
            <a:endParaRPr lang="en-US" sz="3000" dirty="0"/>
          </a:p>
        </p:txBody>
      </p:sp>
      <p:sp>
        <p:nvSpPr>
          <p:cNvPr id="3" name="Text 1"/>
          <p:cNvSpPr txBox="1"/>
          <p:nvPr/>
        </p:nvSpPr>
        <p:spPr>
          <a:xfrm>
            <a:off x="548640" y="1033272"/>
            <a:ext cx="11094415" cy="365760"/>
          </a:xfrm>
          <a:prstGeom prst="rect">
            <a:avLst/>
          </a:prstGeom>
          <a:noFill/>
          <a:ln/>
        </p:spPr>
        <p:txBody>
          <a:bodyPr wrap="square" lIns="0" tIns="0" rIns="0" bIns="0" rtlCol="0" anchor="t"/>
          <a:lstStyle/>
          <a:p>
            <a:pPr indent="0" marL="0">
              <a:buNone/>
            </a:pPr>
            <a:r>
              <a:rPr lang="en-US" sz="1400" dirty="0">
                <a:solidFill>
                  <a:srgbClr val="4B5563"/>
                </a:solidFill>
                <a:latin typeface="Arial" pitchFamily="34" charset="0"/>
                <a:ea typeface="Arial" pitchFamily="34" charset="-122"/>
                <a:cs typeface="Arial" pitchFamily="34" charset="-120"/>
              </a:rPr>
              <a:t>Was nach der Umstellung dauerhaft betrieben, gesichert und aktualisiert werden muss.</a:t>
            </a:r>
            <a:endParaRPr lang="en-US" sz="1400" dirty="0"/>
          </a:p>
        </p:txBody>
      </p:sp>
      <p:sp>
        <p:nvSpPr>
          <p:cNvPr id="4" name="Text 2"/>
          <p:cNvSpPr txBox="1"/>
          <p:nvPr/>
        </p:nvSpPr>
        <p:spPr>
          <a:xfrm>
            <a:off x="548640" y="6400800"/>
            <a:ext cx="7315200" cy="228600"/>
          </a:xfrm>
          <a:prstGeom prst="rect">
            <a:avLst/>
          </a:prstGeom>
          <a:noFill/>
          <a:ln/>
        </p:spPr>
        <p:txBody>
          <a:bodyPr wrap="square" lIns="0" tIns="0" rIns="0" bIns="0" rtlCol="0" anchor="t"/>
          <a:lstStyle/>
          <a:p>
            <a:pPr indent="0" marL="0">
              <a:buNone/>
            </a:pPr>
            <a:r>
              <a:rPr lang="en-US" sz="900" dirty="0">
                <a:solidFill>
                  <a:srgbClr val="4B5563"/>
                </a:solidFill>
                <a:latin typeface="Arial" pitchFamily="34" charset="0"/>
                <a:ea typeface="Arial" pitchFamily="34" charset="-122"/>
                <a:cs typeface="Arial" pitchFamily="34" charset="-120"/>
              </a:rPr>
              <a:t>anyPIM für Kohlhammer  ·  Entscheidungsvorlage  ·  September 2026</a:t>
            </a:r>
            <a:endParaRPr lang="en-US" sz="900" dirty="0"/>
          </a:p>
        </p:txBody>
      </p:sp>
      <p:sp>
        <p:nvSpPr>
          <p:cNvPr id="5" name="Text 3"/>
          <p:cNvSpPr txBox="1"/>
          <p:nvPr/>
        </p:nvSpPr>
        <p:spPr>
          <a:xfrm>
            <a:off x="10728655" y="6400800"/>
            <a:ext cx="914400" cy="228600"/>
          </a:xfrm>
          <a:prstGeom prst="rect">
            <a:avLst/>
          </a:prstGeom>
          <a:noFill/>
          <a:ln/>
        </p:spPr>
        <p:txBody>
          <a:bodyPr wrap="square" lIns="0" tIns="0" rIns="0" bIns="0" rtlCol="0" anchor="t"/>
          <a:lstStyle/>
          <a:p>
            <a:pPr algn="r" indent="0" marL="0">
              <a:buNone/>
            </a:pPr>
            <a:r>
              <a:rPr lang="en-US" sz="900" dirty="0">
                <a:solidFill>
                  <a:srgbClr val="4B5563"/>
                </a:solidFill>
                <a:latin typeface="Arial" pitchFamily="34" charset="0"/>
                <a:ea typeface="Arial" pitchFamily="34" charset="-122"/>
                <a:cs typeface="Arial" pitchFamily="34" charset="-120"/>
              </a:rPr>
              <a:t>4</a:t>
            </a:r>
            <a:endParaRPr lang="en-US" sz="900" dirty="0"/>
          </a:p>
        </p:txBody>
      </p:sp>
      <p:sp>
        <p:nvSpPr>
          <p:cNvPr id="6" name="Text 4"/>
          <p:cNvSpPr txBox="1"/>
          <p:nvPr/>
        </p:nvSpPr>
        <p:spPr>
          <a:xfrm>
            <a:off x="548640" y="1554480"/>
            <a:ext cx="5303520" cy="365760"/>
          </a:xfrm>
          <a:prstGeom prst="rect">
            <a:avLst/>
          </a:prstGeom>
          <a:noFill/>
          <a:ln/>
        </p:spPr>
        <p:txBody>
          <a:bodyPr wrap="square" lIns="0" tIns="0" rIns="0" bIns="0" rtlCol="0" anchor="t"/>
          <a:lstStyle/>
          <a:p>
            <a:pPr indent="0" marL="0">
              <a:buNone/>
            </a:pPr>
            <a:r>
              <a:rPr lang="en-US" sz="1700" b="1" dirty="0">
                <a:solidFill>
                  <a:srgbClr val="000E2F"/>
                </a:solidFill>
                <a:latin typeface="Arial" pitchFamily="34" charset="0"/>
                <a:ea typeface="Arial" pitchFamily="34" charset="-122"/>
                <a:cs typeface="Arial" pitchFamily="34" charset="-120"/>
              </a:rPr>
              <a:t>Pimcore 2026 – typischer Betrieb</a:t>
            </a:r>
            <a:endParaRPr lang="en-US" sz="1700" dirty="0"/>
          </a:p>
        </p:txBody>
      </p:sp>
      <p:sp>
        <p:nvSpPr>
          <p:cNvPr id="7" name="Shape 5"/>
          <p:cNvSpPr/>
          <p:nvPr/>
        </p:nvSpPr>
        <p:spPr>
          <a:xfrm>
            <a:off x="548640" y="2011680"/>
            <a:ext cx="5303520" cy="384048"/>
          </a:xfrm>
          <a:prstGeom prst="rect">
            <a:avLst/>
          </a:prstGeom>
          <a:solidFill>
            <a:srgbClr val="F3F5F9"/>
          </a:solidFill>
          <a:ln w="12700">
            <a:solidFill>
              <a:srgbClr val="F3F5F9"/>
            </a:solidFill>
            <a:prstDash val="solid"/>
          </a:ln>
        </p:spPr>
      </p:sp>
      <p:sp>
        <p:nvSpPr>
          <p:cNvPr id="8" name="Text 6"/>
          <p:cNvSpPr txBox="1"/>
          <p:nvPr/>
        </p:nvSpPr>
        <p:spPr>
          <a:xfrm>
            <a:off x="731520" y="2011680"/>
            <a:ext cx="4937760" cy="384048"/>
          </a:xfrm>
          <a:prstGeom prst="rect">
            <a:avLst/>
          </a:prstGeom>
          <a:noFill/>
          <a:ln/>
        </p:spPr>
        <p:txBody>
          <a:bodyPr wrap="square" lIns="0" tIns="0" rIns="0" bIns="0" rtlCol="0" anchor="ctr"/>
          <a:lstStyle/>
          <a:p>
            <a:pPr indent="0" marL="0">
              <a:buNone/>
            </a:pPr>
            <a:r>
              <a:rPr lang="en-US" sz="1250" dirty="0">
                <a:solidFill>
                  <a:srgbClr val="16181D"/>
                </a:solidFill>
                <a:latin typeface="Arial" pitchFamily="34" charset="0"/>
                <a:ea typeface="Arial" pitchFamily="34" charset="-122"/>
                <a:cs typeface="Arial" pitchFamily="34" charset="-120"/>
              </a:rPr>
              <a:t>Container-Betrieb (Docker)</a:t>
            </a:r>
            <a:endParaRPr lang="en-US" sz="1250" dirty="0"/>
          </a:p>
        </p:txBody>
      </p:sp>
      <p:sp>
        <p:nvSpPr>
          <p:cNvPr id="9" name="Shape 7"/>
          <p:cNvSpPr/>
          <p:nvPr/>
        </p:nvSpPr>
        <p:spPr>
          <a:xfrm>
            <a:off x="548640" y="2459736"/>
            <a:ext cx="5303520" cy="384048"/>
          </a:xfrm>
          <a:prstGeom prst="rect">
            <a:avLst/>
          </a:prstGeom>
          <a:solidFill>
            <a:srgbClr val="F3F5F9"/>
          </a:solidFill>
          <a:ln w="12700">
            <a:solidFill>
              <a:srgbClr val="F3F5F9"/>
            </a:solidFill>
            <a:prstDash val="solid"/>
          </a:ln>
        </p:spPr>
      </p:sp>
      <p:sp>
        <p:nvSpPr>
          <p:cNvPr id="10" name="Text 8"/>
          <p:cNvSpPr txBox="1"/>
          <p:nvPr/>
        </p:nvSpPr>
        <p:spPr>
          <a:xfrm>
            <a:off x="731520" y="2459736"/>
            <a:ext cx="4937760" cy="384048"/>
          </a:xfrm>
          <a:prstGeom prst="rect">
            <a:avLst/>
          </a:prstGeom>
          <a:noFill/>
          <a:ln/>
        </p:spPr>
        <p:txBody>
          <a:bodyPr wrap="square" lIns="0" tIns="0" rIns="0" bIns="0" rtlCol="0" anchor="ctr"/>
          <a:lstStyle/>
          <a:p>
            <a:pPr indent="0" marL="0">
              <a:buNone/>
            </a:pPr>
            <a:r>
              <a:rPr lang="en-US" sz="1250" dirty="0">
                <a:solidFill>
                  <a:srgbClr val="16181D"/>
                </a:solidFill>
                <a:latin typeface="Arial" pitchFamily="34" charset="0"/>
                <a:ea typeface="Arial" pitchFamily="34" charset="-122"/>
                <a:cs typeface="Arial" pitchFamily="34" charset="-120"/>
              </a:rPr>
              <a:t>Webserver und PHP-FPM</a:t>
            </a:r>
            <a:endParaRPr lang="en-US" sz="1250" dirty="0"/>
          </a:p>
        </p:txBody>
      </p:sp>
      <p:sp>
        <p:nvSpPr>
          <p:cNvPr id="11" name="Shape 9"/>
          <p:cNvSpPr/>
          <p:nvPr/>
        </p:nvSpPr>
        <p:spPr>
          <a:xfrm>
            <a:off x="548640" y="2907792"/>
            <a:ext cx="5303520" cy="384048"/>
          </a:xfrm>
          <a:prstGeom prst="rect">
            <a:avLst/>
          </a:prstGeom>
          <a:solidFill>
            <a:srgbClr val="F3F5F9"/>
          </a:solidFill>
          <a:ln w="12700">
            <a:solidFill>
              <a:srgbClr val="F3F5F9"/>
            </a:solidFill>
            <a:prstDash val="solid"/>
          </a:ln>
        </p:spPr>
      </p:sp>
      <p:sp>
        <p:nvSpPr>
          <p:cNvPr id="12" name="Text 10"/>
          <p:cNvSpPr txBox="1"/>
          <p:nvPr/>
        </p:nvSpPr>
        <p:spPr>
          <a:xfrm>
            <a:off x="731520" y="2907792"/>
            <a:ext cx="4937760" cy="384048"/>
          </a:xfrm>
          <a:prstGeom prst="rect">
            <a:avLst/>
          </a:prstGeom>
          <a:noFill/>
          <a:ln/>
        </p:spPr>
        <p:txBody>
          <a:bodyPr wrap="square" lIns="0" tIns="0" rIns="0" bIns="0" rtlCol="0" anchor="ctr"/>
          <a:lstStyle/>
          <a:p>
            <a:pPr indent="0" marL="0">
              <a:buNone/>
            </a:pPr>
            <a:r>
              <a:rPr lang="en-US" sz="1250" dirty="0">
                <a:solidFill>
                  <a:srgbClr val="16181D"/>
                </a:solidFill>
                <a:latin typeface="Arial" pitchFamily="34" charset="0"/>
                <a:ea typeface="Arial" pitchFamily="34" charset="-122"/>
                <a:cs typeface="Arial" pitchFamily="34" charset="-120"/>
              </a:rPr>
              <a:t>Pimcore Core und Pimcore Studio</a:t>
            </a:r>
            <a:endParaRPr lang="en-US" sz="1250" dirty="0"/>
          </a:p>
        </p:txBody>
      </p:sp>
      <p:sp>
        <p:nvSpPr>
          <p:cNvPr id="13" name="Shape 11"/>
          <p:cNvSpPr/>
          <p:nvPr/>
        </p:nvSpPr>
        <p:spPr>
          <a:xfrm>
            <a:off x="548640" y="3355848"/>
            <a:ext cx="5303520" cy="384048"/>
          </a:xfrm>
          <a:prstGeom prst="rect">
            <a:avLst/>
          </a:prstGeom>
          <a:solidFill>
            <a:srgbClr val="F3F5F9"/>
          </a:solidFill>
          <a:ln w="12700">
            <a:solidFill>
              <a:srgbClr val="F3F5F9"/>
            </a:solidFill>
            <a:prstDash val="solid"/>
          </a:ln>
        </p:spPr>
      </p:sp>
      <p:sp>
        <p:nvSpPr>
          <p:cNvPr id="14" name="Text 12"/>
          <p:cNvSpPr txBox="1"/>
          <p:nvPr/>
        </p:nvSpPr>
        <p:spPr>
          <a:xfrm>
            <a:off x="731520" y="3355848"/>
            <a:ext cx="3429000" cy="384048"/>
          </a:xfrm>
          <a:prstGeom prst="rect">
            <a:avLst/>
          </a:prstGeom>
          <a:noFill/>
          <a:ln/>
        </p:spPr>
        <p:txBody>
          <a:bodyPr wrap="square" lIns="0" tIns="0" rIns="0" bIns="0" rtlCol="0" anchor="ctr"/>
          <a:lstStyle/>
          <a:p>
            <a:pPr indent="0" marL="0">
              <a:buNone/>
            </a:pPr>
            <a:r>
              <a:rPr lang="en-US" sz="1250" dirty="0">
                <a:solidFill>
                  <a:srgbClr val="16181D"/>
                </a:solidFill>
                <a:latin typeface="Arial" pitchFamily="34" charset="0"/>
                <a:ea typeface="Arial" pitchFamily="34" charset="-122"/>
                <a:cs typeface="Arial" pitchFamily="34" charset="-120"/>
              </a:rPr>
              <a:t>Enterprise-Erweiterungen (Datahub, Portale)</a:t>
            </a:r>
            <a:endParaRPr lang="en-US" sz="1250" dirty="0"/>
          </a:p>
        </p:txBody>
      </p:sp>
      <p:sp>
        <p:nvSpPr>
          <p:cNvPr id="15" name="Text 13"/>
          <p:cNvSpPr txBox="1"/>
          <p:nvPr/>
        </p:nvSpPr>
        <p:spPr>
          <a:xfrm>
            <a:off x="4160520" y="3355848"/>
            <a:ext cx="1554480" cy="384048"/>
          </a:xfrm>
          <a:prstGeom prst="rect">
            <a:avLst/>
          </a:prstGeom>
          <a:noFill/>
          <a:ln/>
        </p:spPr>
        <p:txBody>
          <a:bodyPr wrap="square" lIns="0" tIns="0" rIns="0" bIns="0" rtlCol="0" anchor="ctr"/>
          <a:lstStyle/>
          <a:p>
            <a:pPr algn="r" indent="0" marL="0">
              <a:buNone/>
            </a:pPr>
            <a:r>
              <a:rPr lang="en-US" sz="1000" i="1" dirty="0">
                <a:solidFill>
                  <a:srgbClr val="4B5563"/>
                </a:solidFill>
                <a:latin typeface="Arial" pitchFamily="34" charset="0"/>
                <a:ea typeface="Arial" pitchFamily="34" charset="-122"/>
                <a:cs typeface="Arial" pitchFamily="34" charset="-120"/>
              </a:rPr>
              <a:t>für Kohlhammer wenig Nutzen</a:t>
            </a:r>
            <a:endParaRPr lang="en-US" sz="1000" dirty="0"/>
          </a:p>
        </p:txBody>
      </p:sp>
      <p:sp>
        <p:nvSpPr>
          <p:cNvPr id="16" name="Shape 14"/>
          <p:cNvSpPr/>
          <p:nvPr/>
        </p:nvSpPr>
        <p:spPr>
          <a:xfrm>
            <a:off x="548640" y="3803904"/>
            <a:ext cx="5303520" cy="384048"/>
          </a:xfrm>
          <a:prstGeom prst="rect">
            <a:avLst/>
          </a:prstGeom>
          <a:solidFill>
            <a:srgbClr val="F3F5F9"/>
          </a:solidFill>
          <a:ln w="12700">
            <a:solidFill>
              <a:srgbClr val="F3F5F9"/>
            </a:solidFill>
            <a:prstDash val="solid"/>
          </a:ln>
        </p:spPr>
      </p:sp>
      <p:sp>
        <p:nvSpPr>
          <p:cNvPr id="17" name="Text 15"/>
          <p:cNvSpPr txBox="1"/>
          <p:nvPr/>
        </p:nvSpPr>
        <p:spPr>
          <a:xfrm>
            <a:off x="731520" y="3803904"/>
            <a:ext cx="4937760" cy="384048"/>
          </a:xfrm>
          <a:prstGeom prst="rect">
            <a:avLst/>
          </a:prstGeom>
          <a:noFill/>
          <a:ln/>
        </p:spPr>
        <p:txBody>
          <a:bodyPr wrap="square" lIns="0" tIns="0" rIns="0" bIns="0" rtlCol="0" anchor="ctr"/>
          <a:lstStyle/>
          <a:p>
            <a:pPr indent="0" marL="0">
              <a:buNone/>
            </a:pPr>
            <a:r>
              <a:rPr lang="en-US" sz="1250" dirty="0">
                <a:solidFill>
                  <a:srgbClr val="16181D"/>
                </a:solidFill>
                <a:latin typeface="Arial" pitchFamily="34" charset="0"/>
                <a:ea typeface="Arial" pitchFamily="34" charset="-122"/>
                <a:cs typeface="Arial" pitchFamily="34" charset="-120"/>
              </a:rPr>
              <a:t>Messenger-Worker</a:t>
            </a:r>
            <a:endParaRPr lang="en-US" sz="1250" dirty="0"/>
          </a:p>
        </p:txBody>
      </p:sp>
      <p:sp>
        <p:nvSpPr>
          <p:cNvPr id="18" name="Shape 16"/>
          <p:cNvSpPr/>
          <p:nvPr/>
        </p:nvSpPr>
        <p:spPr>
          <a:xfrm>
            <a:off x="548640" y="4251960"/>
            <a:ext cx="5303520" cy="384048"/>
          </a:xfrm>
          <a:prstGeom prst="rect">
            <a:avLst/>
          </a:prstGeom>
          <a:solidFill>
            <a:srgbClr val="F3F5F9"/>
          </a:solidFill>
          <a:ln w="12700">
            <a:solidFill>
              <a:srgbClr val="F3F5F9"/>
            </a:solidFill>
            <a:prstDash val="solid"/>
          </a:ln>
        </p:spPr>
      </p:sp>
      <p:sp>
        <p:nvSpPr>
          <p:cNvPr id="19" name="Text 17"/>
          <p:cNvSpPr txBox="1"/>
          <p:nvPr/>
        </p:nvSpPr>
        <p:spPr>
          <a:xfrm>
            <a:off x="731520" y="4251960"/>
            <a:ext cx="4937760" cy="384048"/>
          </a:xfrm>
          <a:prstGeom prst="rect">
            <a:avLst/>
          </a:prstGeom>
          <a:noFill/>
          <a:ln/>
        </p:spPr>
        <p:txBody>
          <a:bodyPr wrap="square" lIns="0" tIns="0" rIns="0" bIns="0" rtlCol="0" anchor="ctr"/>
          <a:lstStyle/>
          <a:p>
            <a:pPr indent="0" marL="0">
              <a:buNone/>
            </a:pPr>
            <a:r>
              <a:rPr lang="en-US" sz="1250" dirty="0">
                <a:solidFill>
                  <a:srgbClr val="16181D"/>
                </a:solidFill>
                <a:latin typeface="Arial" pitchFamily="34" charset="0"/>
                <a:ea typeface="Arial" pitchFamily="34" charset="-122"/>
                <a:cs typeface="Arial" pitchFamily="34" charset="-120"/>
              </a:rPr>
              <a:t>MySQL / MariaDB</a:t>
            </a:r>
            <a:endParaRPr lang="en-US" sz="1250" dirty="0"/>
          </a:p>
        </p:txBody>
      </p:sp>
      <p:sp>
        <p:nvSpPr>
          <p:cNvPr id="20" name="Shape 18"/>
          <p:cNvSpPr/>
          <p:nvPr/>
        </p:nvSpPr>
        <p:spPr>
          <a:xfrm>
            <a:off x="548640" y="4700016"/>
            <a:ext cx="5303520" cy="384048"/>
          </a:xfrm>
          <a:prstGeom prst="rect">
            <a:avLst/>
          </a:prstGeom>
          <a:solidFill>
            <a:srgbClr val="F3F5F9"/>
          </a:solidFill>
          <a:ln w="12700">
            <a:solidFill>
              <a:srgbClr val="F3F5F9"/>
            </a:solidFill>
            <a:prstDash val="solid"/>
          </a:ln>
        </p:spPr>
      </p:sp>
      <p:sp>
        <p:nvSpPr>
          <p:cNvPr id="21" name="Text 19"/>
          <p:cNvSpPr txBox="1"/>
          <p:nvPr/>
        </p:nvSpPr>
        <p:spPr>
          <a:xfrm>
            <a:off x="731520" y="4700016"/>
            <a:ext cx="4937760" cy="384048"/>
          </a:xfrm>
          <a:prstGeom prst="rect">
            <a:avLst/>
          </a:prstGeom>
          <a:noFill/>
          <a:ln/>
        </p:spPr>
        <p:txBody>
          <a:bodyPr wrap="square" lIns="0" tIns="0" rIns="0" bIns="0" rtlCol="0" anchor="ctr"/>
          <a:lstStyle/>
          <a:p>
            <a:pPr indent="0" marL="0">
              <a:buNone/>
            </a:pPr>
            <a:r>
              <a:rPr lang="en-US" sz="1250" dirty="0">
                <a:solidFill>
                  <a:srgbClr val="16181D"/>
                </a:solidFill>
                <a:latin typeface="Arial" pitchFamily="34" charset="0"/>
                <a:ea typeface="Arial" pitchFamily="34" charset="-122"/>
                <a:cs typeface="Arial" pitchFamily="34" charset="-120"/>
              </a:rPr>
              <a:t>Redis</a:t>
            </a:r>
            <a:endParaRPr lang="en-US" sz="1250" dirty="0"/>
          </a:p>
        </p:txBody>
      </p:sp>
      <p:sp>
        <p:nvSpPr>
          <p:cNvPr id="22" name="Shape 20"/>
          <p:cNvSpPr/>
          <p:nvPr/>
        </p:nvSpPr>
        <p:spPr>
          <a:xfrm>
            <a:off x="548640" y="5148072"/>
            <a:ext cx="5303520" cy="384048"/>
          </a:xfrm>
          <a:prstGeom prst="rect">
            <a:avLst/>
          </a:prstGeom>
          <a:solidFill>
            <a:srgbClr val="F3F5F9"/>
          </a:solidFill>
          <a:ln w="12700">
            <a:solidFill>
              <a:srgbClr val="F3F5F9"/>
            </a:solidFill>
            <a:prstDash val="solid"/>
          </a:ln>
        </p:spPr>
      </p:sp>
      <p:sp>
        <p:nvSpPr>
          <p:cNvPr id="23" name="Text 21"/>
          <p:cNvSpPr txBox="1"/>
          <p:nvPr/>
        </p:nvSpPr>
        <p:spPr>
          <a:xfrm>
            <a:off x="731520" y="5148072"/>
            <a:ext cx="3429000" cy="384048"/>
          </a:xfrm>
          <a:prstGeom prst="rect">
            <a:avLst/>
          </a:prstGeom>
          <a:noFill/>
          <a:ln/>
        </p:spPr>
        <p:txBody>
          <a:bodyPr wrap="square" lIns="0" tIns="0" rIns="0" bIns="0" rtlCol="0" anchor="ctr"/>
          <a:lstStyle/>
          <a:p>
            <a:pPr indent="0" marL="0">
              <a:buNone/>
            </a:pPr>
            <a:r>
              <a:rPr lang="en-US" sz="1250" dirty="0">
                <a:solidFill>
                  <a:srgbClr val="16181D"/>
                </a:solidFill>
                <a:latin typeface="Arial" pitchFamily="34" charset="0"/>
                <a:ea typeface="Arial" pitchFamily="34" charset="-122"/>
                <a:cs typeface="Arial" pitchFamily="34" charset="-120"/>
              </a:rPr>
              <a:t>OpenSearch als Suchindex</a:t>
            </a:r>
            <a:endParaRPr lang="en-US" sz="1250" dirty="0"/>
          </a:p>
        </p:txBody>
      </p:sp>
      <p:sp>
        <p:nvSpPr>
          <p:cNvPr id="24" name="Text 22"/>
          <p:cNvSpPr txBox="1"/>
          <p:nvPr/>
        </p:nvSpPr>
        <p:spPr>
          <a:xfrm>
            <a:off x="4160520" y="5148072"/>
            <a:ext cx="1554480" cy="384048"/>
          </a:xfrm>
          <a:prstGeom prst="rect">
            <a:avLst/>
          </a:prstGeom>
          <a:noFill/>
          <a:ln/>
        </p:spPr>
        <p:txBody>
          <a:bodyPr wrap="square" lIns="0" tIns="0" rIns="0" bIns="0" rtlCol="0" anchor="ctr"/>
          <a:lstStyle/>
          <a:p>
            <a:pPr algn="r" indent="0" marL="0">
              <a:buNone/>
            </a:pPr>
            <a:r>
              <a:rPr lang="en-US" sz="1000" i="1" dirty="0">
                <a:solidFill>
                  <a:srgbClr val="4B5563"/>
                </a:solidFill>
                <a:latin typeface="Arial" pitchFamily="34" charset="0"/>
                <a:ea typeface="Arial" pitchFamily="34" charset="-122"/>
                <a:cs typeface="Arial" pitchFamily="34" charset="-120"/>
              </a:rPr>
              <a:t>eigener Cluster-Dienst</a:t>
            </a:r>
            <a:endParaRPr lang="en-US" sz="1000" dirty="0"/>
          </a:p>
        </p:txBody>
      </p:sp>
      <p:sp>
        <p:nvSpPr>
          <p:cNvPr id="25" name="Text 23"/>
          <p:cNvSpPr txBox="1"/>
          <p:nvPr/>
        </p:nvSpPr>
        <p:spPr>
          <a:xfrm>
            <a:off x="548640" y="5669280"/>
            <a:ext cx="5303520" cy="594360"/>
          </a:xfrm>
          <a:prstGeom prst="rect">
            <a:avLst/>
          </a:prstGeom>
          <a:noFill/>
          <a:ln/>
        </p:spPr>
        <p:txBody>
          <a:bodyPr wrap="square" lIns="0" tIns="0" rIns="0" bIns="0" rtlCol="0" anchor="t"/>
          <a:lstStyle/>
          <a:p>
            <a:pPr indent="0" marL="0">
              <a:buNone/>
            </a:pPr>
            <a:r>
              <a:rPr lang="en-US" sz="1200" b="1" dirty="0">
                <a:solidFill>
                  <a:srgbClr val="1B2D5C"/>
                </a:solidFill>
                <a:latin typeface="Arial" pitchFamily="34" charset="0"/>
                <a:ea typeface="Arial" pitchFamily="34" charset="-122"/>
                <a:cs typeface="Arial" pitchFamily="34" charset="-120"/>
              </a:rPr>
              <a:t>Updates: </a:t>
            </a:r>
            <a:pPr indent="0" marL="0">
              <a:buNone/>
            </a:pPr>
            <a:r>
              <a:rPr lang="en-US" sz="1200" dirty="0">
                <a:solidFill>
                  <a:srgbClr val="1B2D5C"/>
                </a:solidFill>
                <a:latin typeface="Arial" pitchFamily="34" charset="0"/>
                <a:ea typeface="Arial" pitchFamily="34" charset="-122"/>
                <a:cs typeface="Arial" pitchFamily="34" charset="-120"/>
              </a:rPr>
              <a:t>Bei jedem Release: Core, Bundles, Container-Images und Suchindex aktualisieren, Eigenentwicklungen prüfen.</a:t>
            </a:r>
            <a:endParaRPr lang="en-US" sz="1200" dirty="0"/>
          </a:p>
        </p:txBody>
      </p:sp>
      <p:sp>
        <p:nvSpPr>
          <p:cNvPr id="26" name="Text 24"/>
          <p:cNvSpPr txBox="1"/>
          <p:nvPr/>
        </p:nvSpPr>
        <p:spPr>
          <a:xfrm>
            <a:off x="6336792" y="1554480"/>
            <a:ext cx="5303520" cy="365760"/>
          </a:xfrm>
          <a:prstGeom prst="rect">
            <a:avLst/>
          </a:prstGeom>
          <a:noFill/>
          <a:ln/>
        </p:spPr>
        <p:txBody>
          <a:bodyPr wrap="square" lIns="0" tIns="0" rIns="0" bIns="0" rtlCol="0" anchor="t"/>
          <a:lstStyle/>
          <a:p>
            <a:pPr indent="0" marL="0">
              <a:buNone/>
            </a:pPr>
            <a:r>
              <a:rPr lang="en-US" sz="1700" b="1" dirty="0">
                <a:solidFill>
                  <a:srgbClr val="000E2F"/>
                </a:solidFill>
                <a:latin typeface="Arial" pitchFamily="34" charset="0"/>
                <a:ea typeface="Arial" pitchFamily="34" charset="-122"/>
                <a:cs typeface="Arial" pitchFamily="34" charset="-120"/>
              </a:rPr>
              <a:t>anyPIM – Betrieb</a:t>
            </a:r>
            <a:endParaRPr lang="en-US" sz="1700" dirty="0"/>
          </a:p>
        </p:txBody>
      </p:sp>
      <p:sp>
        <p:nvSpPr>
          <p:cNvPr id="27" name="Shape 25"/>
          <p:cNvSpPr/>
          <p:nvPr/>
        </p:nvSpPr>
        <p:spPr>
          <a:xfrm>
            <a:off x="6336792" y="2011680"/>
            <a:ext cx="5303520" cy="384048"/>
          </a:xfrm>
          <a:prstGeom prst="rect">
            <a:avLst/>
          </a:prstGeom>
          <a:solidFill>
            <a:srgbClr val="E4F3F1"/>
          </a:solidFill>
          <a:ln w="12700">
            <a:solidFill>
              <a:srgbClr val="E4F3F1"/>
            </a:solidFill>
            <a:prstDash val="solid"/>
          </a:ln>
        </p:spPr>
      </p:sp>
      <p:sp>
        <p:nvSpPr>
          <p:cNvPr id="28" name="Text 26"/>
          <p:cNvSpPr txBox="1"/>
          <p:nvPr/>
        </p:nvSpPr>
        <p:spPr>
          <a:xfrm>
            <a:off x="6519672" y="2011680"/>
            <a:ext cx="4937760" cy="384048"/>
          </a:xfrm>
          <a:prstGeom prst="rect">
            <a:avLst/>
          </a:prstGeom>
          <a:noFill/>
          <a:ln/>
        </p:spPr>
        <p:txBody>
          <a:bodyPr wrap="square" lIns="0" tIns="0" rIns="0" bIns="0" rtlCol="0" anchor="ctr"/>
          <a:lstStyle/>
          <a:p>
            <a:pPr indent="0" marL="0">
              <a:buNone/>
            </a:pPr>
            <a:r>
              <a:rPr lang="en-US" sz="1250" dirty="0">
                <a:solidFill>
                  <a:srgbClr val="16181D"/>
                </a:solidFill>
                <a:latin typeface="Arial" pitchFamily="34" charset="0"/>
                <a:ea typeface="Arial" pitchFamily="34" charset="-122"/>
                <a:cs typeface="Arial" pitchFamily="34" charset="-120"/>
              </a:rPr>
              <a:t>Apache mit PHP 8.4</a:t>
            </a:r>
            <a:endParaRPr lang="en-US" sz="1250" dirty="0"/>
          </a:p>
        </p:txBody>
      </p:sp>
      <p:sp>
        <p:nvSpPr>
          <p:cNvPr id="29" name="Shape 27"/>
          <p:cNvSpPr/>
          <p:nvPr/>
        </p:nvSpPr>
        <p:spPr>
          <a:xfrm>
            <a:off x="6336792" y="2459736"/>
            <a:ext cx="5303520" cy="384048"/>
          </a:xfrm>
          <a:prstGeom prst="rect">
            <a:avLst/>
          </a:prstGeom>
          <a:solidFill>
            <a:srgbClr val="E4F3F1"/>
          </a:solidFill>
          <a:ln w="12700">
            <a:solidFill>
              <a:srgbClr val="E4F3F1"/>
            </a:solidFill>
            <a:prstDash val="solid"/>
          </a:ln>
        </p:spPr>
      </p:sp>
      <p:sp>
        <p:nvSpPr>
          <p:cNvPr id="30" name="Text 28"/>
          <p:cNvSpPr txBox="1"/>
          <p:nvPr/>
        </p:nvSpPr>
        <p:spPr>
          <a:xfrm>
            <a:off x="6519672" y="2459736"/>
            <a:ext cx="4937760" cy="384048"/>
          </a:xfrm>
          <a:prstGeom prst="rect">
            <a:avLst/>
          </a:prstGeom>
          <a:noFill/>
          <a:ln/>
        </p:spPr>
        <p:txBody>
          <a:bodyPr wrap="square" lIns="0" tIns="0" rIns="0" bIns="0" rtlCol="0" anchor="ctr"/>
          <a:lstStyle/>
          <a:p>
            <a:pPr indent="0" marL="0">
              <a:buNone/>
            </a:pPr>
            <a:r>
              <a:rPr lang="en-US" sz="1250" dirty="0">
                <a:solidFill>
                  <a:srgbClr val="16181D"/>
                </a:solidFill>
                <a:latin typeface="Arial" pitchFamily="34" charset="0"/>
                <a:ea typeface="Arial" pitchFamily="34" charset="-122"/>
                <a:cs typeface="Arial" pitchFamily="34" charset="-120"/>
              </a:rPr>
              <a:t>anyPIM-Anwendung (Laravel, Oberfläche vorgebaut)</a:t>
            </a:r>
            <a:endParaRPr lang="en-US" sz="1250" dirty="0"/>
          </a:p>
        </p:txBody>
      </p:sp>
      <p:sp>
        <p:nvSpPr>
          <p:cNvPr id="31" name="Shape 29"/>
          <p:cNvSpPr/>
          <p:nvPr/>
        </p:nvSpPr>
        <p:spPr>
          <a:xfrm>
            <a:off x="6336792" y="2907792"/>
            <a:ext cx="5303520" cy="384048"/>
          </a:xfrm>
          <a:prstGeom prst="rect">
            <a:avLst/>
          </a:prstGeom>
          <a:solidFill>
            <a:srgbClr val="E4F3F1"/>
          </a:solidFill>
          <a:ln w="12700">
            <a:solidFill>
              <a:srgbClr val="E4F3F1"/>
            </a:solidFill>
            <a:prstDash val="solid"/>
          </a:ln>
        </p:spPr>
      </p:sp>
      <p:sp>
        <p:nvSpPr>
          <p:cNvPr id="32" name="Text 30"/>
          <p:cNvSpPr txBox="1"/>
          <p:nvPr/>
        </p:nvSpPr>
        <p:spPr>
          <a:xfrm>
            <a:off x="6519672" y="2907792"/>
            <a:ext cx="4937760" cy="384048"/>
          </a:xfrm>
          <a:prstGeom prst="rect">
            <a:avLst/>
          </a:prstGeom>
          <a:noFill/>
          <a:ln/>
        </p:spPr>
        <p:txBody>
          <a:bodyPr wrap="square" lIns="0" tIns="0" rIns="0" bIns="0" rtlCol="0" anchor="ctr"/>
          <a:lstStyle/>
          <a:p>
            <a:pPr indent="0" marL="0">
              <a:buNone/>
            </a:pPr>
            <a:r>
              <a:rPr lang="en-US" sz="1250" dirty="0">
                <a:solidFill>
                  <a:srgbClr val="16181D"/>
                </a:solidFill>
                <a:latin typeface="Arial" pitchFamily="34" charset="0"/>
                <a:ea typeface="Arial" pitchFamily="34" charset="-122"/>
                <a:cs typeface="Arial" pitchFamily="34" charset="-120"/>
              </a:rPr>
              <a:t>Queue-Worker (Laravel Horizon)</a:t>
            </a:r>
            <a:endParaRPr lang="en-US" sz="1250" dirty="0"/>
          </a:p>
        </p:txBody>
      </p:sp>
      <p:sp>
        <p:nvSpPr>
          <p:cNvPr id="33" name="Shape 31"/>
          <p:cNvSpPr/>
          <p:nvPr/>
        </p:nvSpPr>
        <p:spPr>
          <a:xfrm>
            <a:off x="6336792" y="3355848"/>
            <a:ext cx="5303520" cy="384048"/>
          </a:xfrm>
          <a:prstGeom prst="rect">
            <a:avLst/>
          </a:prstGeom>
          <a:solidFill>
            <a:srgbClr val="E4F3F1"/>
          </a:solidFill>
          <a:ln w="12700">
            <a:solidFill>
              <a:srgbClr val="E4F3F1"/>
            </a:solidFill>
            <a:prstDash val="solid"/>
          </a:ln>
        </p:spPr>
      </p:sp>
      <p:sp>
        <p:nvSpPr>
          <p:cNvPr id="34" name="Text 32"/>
          <p:cNvSpPr txBox="1"/>
          <p:nvPr/>
        </p:nvSpPr>
        <p:spPr>
          <a:xfrm>
            <a:off x="6519672" y="3355848"/>
            <a:ext cx="4937760" cy="384048"/>
          </a:xfrm>
          <a:prstGeom prst="rect">
            <a:avLst/>
          </a:prstGeom>
          <a:noFill/>
          <a:ln/>
        </p:spPr>
        <p:txBody>
          <a:bodyPr wrap="square" lIns="0" tIns="0" rIns="0" bIns="0" rtlCol="0" anchor="ctr"/>
          <a:lstStyle/>
          <a:p>
            <a:pPr indent="0" marL="0">
              <a:buNone/>
            </a:pPr>
            <a:r>
              <a:rPr lang="en-US" sz="1250" dirty="0">
                <a:solidFill>
                  <a:srgbClr val="16181D"/>
                </a:solidFill>
                <a:latin typeface="Arial" pitchFamily="34" charset="0"/>
                <a:ea typeface="Arial" pitchFamily="34" charset="-122"/>
                <a:cs typeface="Arial" pitchFamily="34" charset="-120"/>
              </a:rPr>
              <a:t>MySQL 8</a:t>
            </a:r>
            <a:endParaRPr lang="en-US" sz="1250" dirty="0"/>
          </a:p>
        </p:txBody>
      </p:sp>
      <p:sp>
        <p:nvSpPr>
          <p:cNvPr id="35" name="Shape 33"/>
          <p:cNvSpPr/>
          <p:nvPr/>
        </p:nvSpPr>
        <p:spPr>
          <a:xfrm>
            <a:off x="6336792" y="3803904"/>
            <a:ext cx="5303520" cy="384048"/>
          </a:xfrm>
          <a:prstGeom prst="rect">
            <a:avLst/>
          </a:prstGeom>
          <a:solidFill>
            <a:srgbClr val="E4F3F1"/>
          </a:solidFill>
          <a:ln w="12700">
            <a:solidFill>
              <a:srgbClr val="E4F3F1"/>
            </a:solidFill>
            <a:prstDash val="solid"/>
          </a:ln>
        </p:spPr>
      </p:sp>
      <p:sp>
        <p:nvSpPr>
          <p:cNvPr id="36" name="Text 34"/>
          <p:cNvSpPr txBox="1"/>
          <p:nvPr/>
        </p:nvSpPr>
        <p:spPr>
          <a:xfrm>
            <a:off x="6519672" y="3803904"/>
            <a:ext cx="4937760" cy="384048"/>
          </a:xfrm>
          <a:prstGeom prst="rect">
            <a:avLst/>
          </a:prstGeom>
          <a:noFill/>
          <a:ln/>
        </p:spPr>
        <p:txBody>
          <a:bodyPr wrap="square" lIns="0" tIns="0" rIns="0" bIns="0" rtlCol="0" anchor="ctr"/>
          <a:lstStyle/>
          <a:p>
            <a:pPr indent="0" marL="0">
              <a:buNone/>
            </a:pPr>
            <a:r>
              <a:rPr lang="en-US" sz="1250" dirty="0">
                <a:solidFill>
                  <a:srgbClr val="16181D"/>
                </a:solidFill>
                <a:latin typeface="Arial" pitchFamily="34" charset="0"/>
                <a:ea typeface="Arial" pitchFamily="34" charset="-122"/>
                <a:cs typeface="Arial" pitchFamily="34" charset="-120"/>
              </a:rPr>
              <a:t>Redis</a:t>
            </a:r>
            <a:endParaRPr lang="en-US" sz="1250" dirty="0"/>
          </a:p>
        </p:txBody>
      </p:sp>
      <p:sp>
        <p:nvSpPr>
          <p:cNvPr id="37" name="Shape 35"/>
          <p:cNvSpPr/>
          <p:nvPr/>
        </p:nvSpPr>
        <p:spPr>
          <a:xfrm>
            <a:off x="6336792" y="4251960"/>
            <a:ext cx="5303520" cy="384048"/>
          </a:xfrm>
          <a:prstGeom prst="rect">
            <a:avLst/>
          </a:prstGeom>
          <a:solidFill>
            <a:srgbClr val="E4F3F1"/>
          </a:solidFill>
          <a:ln w="12700">
            <a:solidFill>
              <a:srgbClr val="E4F3F1"/>
            </a:solidFill>
            <a:prstDash val="solid"/>
          </a:ln>
        </p:spPr>
      </p:sp>
      <p:sp>
        <p:nvSpPr>
          <p:cNvPr id="38" name="Text 36"/>
          <p:cNvSpPr txBox="1"/>
          <p:nvPr/>
        </p:nvSpPr>
        <p:spPr>
          <a:xfrm>
            <a:off x="6519672" y="4251960"/>
            <a:ext cx="3429000" cy="384048"/>
          </a:xfrm>
          <a:prstGeom prst="rect">
            <a:avLst/>
          </a:prstGeom>
          <a:noFill/>
          <a:ln/>
        </p:spPr>
        <p:txBody>
          <a:bodyPr wrap="square" lIns="0" tIns="0" rIns="0" bIns="0" rtlCol="0" anchor="ctr"/>
          <a:lstStyle/>
          <a:p>
            <a:pPr indent="0" marL="0">
              <a:buNone/>
            </a:pPr>
            <a:r>
              <a:rPr lang="en-US" sz="1250" dirty="0">
                <a:solidFill>
                  <a:srgbClr val="16181D"/>
                </a:solidFill>
                <a:latin typeface="Arial" pitchFamily="34" charset="0"/>
                <a:ea typeface="Arial" pitchFamily="34" charset="-122"/>
                <a:cs typeface="Arial" pitchFamily="34" charset="-120"/>
              </a:rPr>
              <a:t>Typesense für PDF-Volltext</a:t>
            </a:r>
            <a:endParaRPr lang="en-US" sz="1250" dirty="0"/>
          </a:p>
        </p:txBody>
      </p:sp>
      <p:sp>
        <p:nvSpPr>
          <p:cNvPr id="39" name="Text 37"/>
          <p:cNvSpPr txBox="1"/>
          <p:nvPr/>
        </p:nvSpPr>
        <p:spPr>
          <a:xfrm>
            <a:off x="9948672" y="4251960"/>
            <a:ext cx="1554480" cy="384048"/>
          </a:xfrm>
          <a:prstGeom prst="rect">
            <a:avLst/>
          </a:prstGeom>
          <a:noFill/>
          <a:ln/>
        </p:spPr>
        <p:txBody>
          <a:bodyPr wrap="square" lIns="0" tIns="0" rIns="0" bIns="0" rtlCol="0" anchor="ctr"/>
          <a:lstStyle/>
          <a:p>
            <a:pPr algn="r" indent="0" marL="0">
              <a:buNone/>
            </a:pPr>
            <a:r>
              <a:rPr lang="en-US" sz="1000" i="1" dirty="0">
                <a:solidFill>
                  <a:srgbClr val="4B5563"/>
                </a:solidFill>
                <a:latin typeface="Arial" pitchFamily="34" charset="0"/>
                <a:ea typeface="Arial" pitchFamily="34" charset="-122"/>
                <a:cs typeface="Arial" pitchFamily="34" charset="-120"/>
              </a:rPr>
              <a:t>einzelner Dienst, per Setup installiert</a:t>
            </a:r>
            <a:endParaRPr lang="en-US" sz="1000" dirty="0"/>
          </a:p>
        </p:txBody>
      </p:sp>
      <p:sp>
        <p:nvSpPr>
          <p:cNvPr id="40" name="Text 38"/>
          <p:cNvSpPr txBox="1"/>
          <p:nvPr/>
        </p:nvSpPr>
        <p:spPr>
          <a:xfrm>
            <a:off x="6336792" y="5669280"/>
            <a:ext cx="5303520" cy="594360"/>
          </a:xfrm>
          <a:prstGeom prst="rect">
            <a:avLst/>
          </a:prstGeom>
          <a:noFill/>
          <a:ln/>
        </p:spPr>
        <p:txBody>
          <a:bodyPr wrap="square" lIns="0" tIns="0" rIns="0" bIns="0" rtlCol="0" anchor="t"/>
          <a:lstStyle/>
          <a:p>
            <a:pPr indent="0" marL="0">
              <a:buNone/>
            </a:pPr>
            <a:r>
              <a:rPr lang="en-US" sz="1200" b="1" dirty="0">
                <a:solidFill>
                  <a:srgbClr val="1B2D5C"/>
                </a:solidFill>
                <a:latin typeface="Arial" pitchFamily="34" charset="0"/>
                <a:ea typeface="Arial" pitchFamily="34" charset="-122"/>
                <a:cs typeface="Arial" pitchFamily="34" charset="-120"/>
              </a:rPr>
              <a:t>Updates: </a:t>
            </a:r>
            <a:pPr indent="0" marL="0">
              <a:buNone/>
            </a:pPr>
            <a:r>
              <a:rPr lang="en-US" sz="1200" dirty="0">
                <a:solidFill>
                  <a:srgbClr val="1B2D5C"/>
                </a:solidFill>
                <a:latin typeface="Arial" pitchFamily="34" charset="0"/>
                <a:ea typeface="Arial" pitchFamily="34" charset="-122"/>
                <a:cs typeface="Arial" pitchFamily="34" charset="-120"/>
              </a:rPr>
              <a:t>Update per Skript (update.sh): Wartungsmodus, Git Pull, Migrationen, Build, Neustart. Docker möglich, aber nicht nötig.</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594360"/>
          </a:xfrm>
          <a:prstGeom prst="rect">
            <a:avLst/>
          </a:prstGeom>
          <a:noFill/>
          <a:ln/>
        </p:spPr>
        <p:txBody>
          <a:bodyPr wrap="square" lIns="0" tIns="0" rIns="0" bIns="0" rtlCol="0" anchor="b"/>
          <a:lstStyle/>
          <a:p>
            <a:pPr indent="0" marL="0">
              <a:buNone/>
            </a:pPr>
            <a:r>
              <a:rPr lang="en-US" sz="3000" dirty="0">
                <a:solidFill>
                  <a:srgbClr val="16181D"/>
                </a:solidFill>
                <a:latin typeface="Arial" pitchFamily="34" charset="0"/>
                <a:ea typeface="Arial" pitchFamily="34" charset="-122"/>
                <a:cs typeface="Arial" pitchFamily="34" charset="-120"/>
              </a:rPr>
              <a:t>AUSGANGSLAGE</a:t>
            </a:r>
            <a:endParaRPr lang="en-US" sz="3000" dirty="0"/>
          </a:p>
        </p:txBody>
      </p:sp>
      <p:sp>
        <p:nvSpPr>
          <p:cNvPr id="3" name="Text 1"/>
          <p:cNvSpPr txBox="1"/>
          <p:nvPr/>
        </p:nvSpPr>
        <p:spPr>
          <a:xfrm>
            <a:off x="548640" y="1033272"/>
            <a:ext cx="11094415" cy="365760"/>
          </a:xfrm>
          <a:prstGeom prst="rect">
            <a:avLst/>
          </a:prstGeom>
          <a:noFill/>
          <a:ln/>
        </p:spPr>
        <p:txBody>
          <a:bodyPr wrap="square" lIns="0" tIns="0" rIns="0" bIns="0" rtlCol="0" anchor="t"/>
          <a:lstStyle/>
          <a:p>
            <a:pPr indent="0" marL="0">
              <a:buNone/>
            </a:pPr>
            <a:r>
              <a:rPr lang="en-US" sz="1400" dirty="0">
                <a:solidFill>
                  <a:srgbClr val="4B5563"/>
                </a:solidFill>
                <a:latin typeface="Arial" pitchFamily="34" charset="0"/>
                <a:ea typeface="Arial" pitchFamily="34" charset="-122"/>
                <a:cs typeface="Arial" pitchFamily="34" charset="-120"/>
              </a:rPr>
              <a:t>Was das Programm von einem PIM verlangt – schon im öffentlichen Auftritt ablesbar.</a:t>
            </a:r>
            <a:endParaRPr lang="en-US" sz="1400" dirty="0"/>
          </a:p>
        </p:txBody>
      </p:sp>
      <p:sp>
        <p:nvSpPr>
          <p:cNvPr id="4" name="Text 2"/>
          <p:cNvSpPr txBox="1"/>
          <p:nvPr/>
        </p:nvSpPr>
        <p:spPr>
          <a:xfrm>
            <a:off x="548640" y="6400800"/>
            <a:ext cx="7315200" cy="228600"/>
          </a:xfrm>
          <a:prstGeom prst="rect">
            <a:avLst/>
          </a:prstGeom>
          <a:noFill/>
          <a:ln/>
        </p:spPr>
        <p:txBody>
          <a:bodyPr wrap="square" lIns="0" tIns="0" rIns="0" bIns="0" rtlCol="0" anchor="t"/>
          <a:lstStyle/>
          <a:p>
            <a:pPr indent="0" marL="0">
              <a:buNone/>
            </a:pPr>
            <a:r>
              <a:rPr lang="en-US" sz="900" dirty="0">
                <a:solidFill>
                  <a:srgbClr val="4B5563"/>
                </a:solidFill>
                <a:latin typeface="Arial" pitchFamily="34" charset="0"/>
                <a:ea typeface="Arial" pitchFamily="34" charset="-122"/>
                <a:cs typeface="Arial" pitchFamily="34" charset="-120"/>
              </a:rPr>
              <a:t>anyPIM für Kohlhammer  ·  Entscheidungsvorlage  ·  September 2026</a:t>
            </a:r>
            <a:endParaRPr lang="en-US" sz="900" dirty="0"/>
          </a:p>
        </p:txBody>
      </p:sp>
      <p:sp>
        <p:nvSpPr>
          <p:cNvPr id="5" name="Text 3"/>
          <p:cNvSpPr txBox="1"/>
          <p:nvPr/>
        </p:nvSpPr>
        <p:spPr>
          <a:xfrm>
            <a:off x="10728655" y="6400800"/>
            <a:ext cx="914400" cy="228600"/>
          </a:xfrm>
          <a:prstGeom prst="rect">
            <a:avLst/>
          </a:prstGeom>
          <a:noFill/>
          <a:ln/>
        </p:spPr>
        <p:txBody>
          <a:bodyPr wrap="square" lIns="0" tIns="0" rIns="0" bIns="0" rtlCol="0" anchor="t"/>
          <a:lstStyle/>
          <a:p>
            <a:pPr algn="r" indent="0" marL="0">
              <a:buNone/>
            </a:pPr>
            <a:r>
              <a:rPr lang="en-US" sz="900" dirty="0">
                <a:solidFill>
                  <a:srgbClr val="4B5563"/>
                </a:solidFill>
                <a:latin typeface="Arial" pitchFamily="34" charset="0"/>
                <a:ea typeface="Arial" pitchFamily="34" charset="-122"/>
                <a:cs typeface="Arial" pitchFamily="34" charset="-120"/>
              </a:rPr>
              <a:t>5</a:t>
            </a:r>
            <a:endParaRPr lang="en-US" sz="900" dirty="0"/>
          </a:p>
        </p:txBody>
      </p:sp>
      <p:sp>
        <p:nvSpPr>
          <p:cNvPr id="6" name="Shape 4"/>
          <p:cNvSpPr/>
          <p:nvPr/>
        </p:nvSpPr>
        <p:spPr>
          <a:xfrm>
            <a:off x="548640" y="1700784"/>
            <a:ext cx="182880" cy="182880"/>
          </a:xfrm>
          <a:prstGeom prst="rect">
            <a:avLst/>
          </a:prstGeom>
          <a:solidFill>
            <a:srgbClr val="000E2F"/>
          </a:solidFill>
          <a:ln w="12700">
            <a:solidFill>
              <a:srgbClr val="000E2F"/>
            </a:solidFill>
            <a:prstDash val="solid"/>
          </a:ln>
        </p:spPr>
      </p:sp>
      <p:sp>
        <p:nvSpPr>
          <p:cNvPr id="7" name="Text 5"/>
          <p:cNvSpPr txBox="1"/>
          <p:nvPr/>
        </p:nvSpPr>
        <p:spPr>
          <a:xfrm>
            <a:off x="960120" y="1645920"/>
            <a:ext cx="6400800" cy="310896"/>
          </a:xfrm>
          <a:prstGeom prst="rect">
            <a:avLst/>
          </a:prstGeom>
          <a:noFill/>
          <a:ln/>
        </p:spPr>
        <p:txBody>
          <a:bodyPr wrap="square" lIns="0" tIns="0" rIns="0" bIns="0" rtlCol="0" anchor="t"/>
          <a:lstStyle/>
          <a:p>
            <a:pPr indent="0" marL="0">
              <a:buNone/>
            </a:pPr>
            <a:r>
              <a:rPr lang="en-US" sz="1600" b="1" dirty="0">
                <a:solidFill>
                  <a:srgbClr val="16181D"/>
                </a:solidFill>
                <a:latin typeface="Arial" pitchFamily="34" charset="0"/>
                <a:ea typeface="Arial" pitchFamily="34" charset="-122"/>
                <a:cs typeface="Arial" pitchFamily="34" charset="-120"/>
              </a:rPr>
              <a:t>Fachbereiche als Baum</a:t>
            </a:r>
            <a:endParaRPr lang="en-US" sz="1600" dirty="0"/>
          </a:p>
        </p:txBody>
      </p:sp>
      <p:sp>
        <p:nvSpPr>
          <p:cNvPr id="8" name="Text 6"/>
          <p:cNvSpPr txBox="1"/>
          <p:nvPr/>
        </p:nvSpPr>
        <p:spPr>
          <a:xfrm>
            <a:off x="960120" y="1956816"/>
            <a:ext cx="6400800" cy="365760"/>
          </a:xfrm>
          <a:prstGeom prst="rect">
            <a:avLst/>
          </a:prstGeom>
          <a:noFill/>
          <a:ln/>
        </p:spPr>
        <p:txBody>
          <a:bodyPr wrap="square" lIns="0" tIns="0" rIns="0" bIns="0" rtlCol="0" anchor="t"/>
          <a:lstStyle/>
          <a:p>
            <a:pPr indent="0" marL="0">
              <a:buNone/>
            </a:pPr>
            <a:r>
              <a:rPr lang="en-US" sz="1200" dirty="0">
                <a:solidFill>
                  <a:srgbClr val="4B5563"/>
                </a:solidFill>
                <a:latin typeface="Arial" pitchFamily="34" charset="0"/>
                <a:ea typeface="Arial" pitchFamily="34" charset="-122"/>
                <a:cs typeface="Arial" pitchFamily="34" charset="-120"/>
              </a:rPr>
              <a:t>z. B. Brandschutz › Bautechnik / Vorbeugender Brandschutz, Brandeinsatz, Dienstvorschriften</a:t>
            </a:r>
            <a:endParaRPr lang="en-US" sz="1200" dirty="0"/>
          </a:p>
        </p:txBody>
      </p:sp>
      <p:sp>
        <p:nvSpPr>
          <p:cNvPr id="9" name="Shape 7"/>
          <p:cNvSpPr/>
          <p:nvPr/>
        </p:nvSpPr>
        <p:spPr>
          <a:xfrm>
            <a:off x="548640" y="2459736"/>
            <a:ext cx="182880" cy="182880"/>
          </a:xfrm>
          <a:prstGeom prst="rect">
            <a:avLst/>
          </a:prstGeom>
          <a:solidFill>
            <a:srgbClr val="000E2F"/>
          </a:solidFill>
          <a:ln w="12700">
            <a:solidFill>
              <a:srgbClr val="000E2F"/>
            </a:solidFill>
            <a:prstDash val="solid"/>
          </a:ln>
        </p:spPr>
      </p:sp>
      <p:sp>
        <p:nvSpPr>
          <p:cNvPr id="10" name="Text 8"/>
          <p:cNvSpPr txBox="1"/>
          <p:nvPr/>
        </p:nvSpPr>
        <p:spPr>
          <a:xfrm>
            <a:off x="960120" y="2404872"/>
            <a:ext cx="6400800" cy="310896"/>
          </a:xfrm>
          <a:prstGeom prst="rect">
            <a:avLst/>
          </a:prstGeom>
          <a:noFill/>
          <a:ln/>
        </p:spPr>
        <p:txBody>
          <a:bodyPr wrap="square" lIns="0" tIns="0" rIns="0" bIns="0" rtlCol="0" anchor="t"/>
          <a:lstStyle/>
          <a:p>
            <a:pPr indent="0" marL="0">
              <a:buNone/>
            </a:pPr>
            <a:r>
              <a:rPr lang="en-US" sz="1600" b="1" dirty="0">
                <a:solidFill>
                  <a:srgbClr val="16181D"/>
                </a:solidFill>
                <a:latin typeface="Arial" pitchFamily="34" charset="0"/>
                <a:ea typeface="Arial" pitchFamily="34" charset="-122"/>
                <a:cs typeface="Arial" pitchFamily="34" charset="-120"/>
              </a:rPr>
              <a:t>Ein Werk, mehrere Ausgaben</a:t>
            </a:r>
            <a:endParaRPr lang="en-US" sz="1600" dirty="0"/>
          </a:p>
        </p:txBody>
      </p:sp>
      <p:sp>
        <p:nvSpPr>
          <p:cNvPr id="11" name="Text 9"/>
          <p:cNvSpPr txBox="1"/>
          <p:nvPr/>
        </p:nvSpPr>
        <p:spPr>
          <a:xfrm>
            <a:off x="960120" y="2715768"/>
            <a:ext cx="6400800" cy="365760"/>
          </a:xfrm>
          <a:prstGeom prst="rect">
            <a:avLst/>
          </a:prstGeom>
          <a:noFill/>
          <a:ln/>
        </p:spPr>
        <p:txBody>
          <a:bodyPr wrap="square" lIns="0" tIns="0" rIns="0" bIns="0" rtlCol="0" anchor="t"/>
          <a:lstStyle/>
          <a:p>
            <a:pPr indent="0" marL="0">
              <a:buNone/>
            </a:pPr>
            <a:r>
              <a:rPr lang="en-US" sz="1200" dirty="0">
                <a:solidFill>
                  <a:srgbClr val="4B5563"/>
                </a:solidFill>
                <a:latin typeface="Arial" pitchFamily="34" charset="0"/>
                <a:ea typeface="Arial" pitchFamily="34" charset="-122"/>
                <a:cs typeface="Arial" pitchFamily="34" charset="-120"/>
              </a:rPr>
              <a:t>Print, eBook (PDF), eBook (ePub) – eigene Preise und Kennungen, gemeinsamer Inhalt</a:t>
            </a:r>
            <a:endParaRPr lang="en-US" sz="1200" dirty="0"/>
          </a:p>
        </p:txBody>
      </p:sp>
      <p:sp>
        <p:nvSpPr>
          <p:cNvPr id="12" name="Shape 10"/>
          <p:cNvSpPr/>
          <p:nvPr/>
        </p:nvSpPr>
        <p:spPr>
          <a:xfrm>
            <a:off x="548640" y="3218688"/>
            <a:ext cx="182880" cy="182880"/>
          </a:xfrm>
          <a:prstGeom prst="rect">
            <a:avLst/>
          </a:prstGeom>
          <a:solidFill>
            <a:srgbClr val="000E2F"/>
          </a:solidFill>
          <a:ln w="12700">
            <a:solidFill>
              <a:srgbClr val="000E2F"/>
            </a:solidFill>
            <a:prstDash val="solid"/>
          </a:ln>
        </p:spPr>
      </p:sp>
      <p:sp>
        <p:nvSpPr>
          <p:cNvPr id="13" name="Text 11"/>
          <p:cNvSpPr txBox="1"/>
          <p:nvPr/>
        </p:nvSpPr>
        <p:spPr>
          <a:xfrm>
            <a:off x="960120" y="3163824"/>
            <a:ext cx="6400800" cy="310896"/>
          </a:xfrm>
          <a:prstGeom prst="rect">
            <a:avLst/>
          </a:prstGeom>
          <a:noFill/>
          <a:ln/>
        </p:spPr>
        <p:txBody>
          <a:bodyPr wrap="square" lIns="0" tIns="0" rIns="0" bIns="0" rtlCol="0" anchor="t"/>
          <a:lstStyle/>
          <a:p>
            <a:pPr indent="0" marL="0">
              <a:buNone/>
            </a:pPr>
            <a:r>
              <a:rPr lang="en-US" sz="1600" b="1" dirty="0">
                <a:solidFill>
                  <a:srgbClr val="16181D"/>
                </a:solidFill>
                <a:latin typeface="Arial" pitchFamily="34" charset="0"/>
                <a:ea typeface="Arial" pitchFamily="34" charset="-122"/>
                <a:cs typeface="Arial" pitchFamily="34" charset="-120"/>
              </a:rPr>
              <a:t>Reihen und Bände</a:t>
            </a:r>
            <a:endParaRPr lang="en-US" sz="1600" dirty="0"/>
          </a:p>
        </p:txBody>
      </p:sp>
      <p:sp>
        <p:nvSpPr>
          <p:cNvPr id="14" name="Text 12"/>
          <p:cNvSpPr txBox="1"/>
          <p:nvPr/>
        </p:nvSpPr>
        <p:spPr>
          <a:xfrm>
            <a:off x="960120" y="3474720"/>
            <a:ext cx="6400800" cy="365760"/>
          </a:xfrm>
          <a:prstGeom prst="rect">
            <a:avLst/>
          </a:prstGeom>
          <a:noFill/>
          <a:ln/>
        </p:spPr>
        <p:txBody>
          <a:bodyPr wrap="square" lIns="0" tIns="0" rIns="0" bIns="0" rtlCol="0" anchor="t"/>
          <a:lstStyle/>
          <a:p>
            <a:pPr indent="0" marL="0">
              <a:buNone/>
            </a:pPr>
            <a:r>
              <a:rPr lang="en-US" sz="1200" dirty="0">
                <a:solidFill>
                  <a:srgbClr val="4B5563"/>
                </a:solidFill>
                <a:latin typeface="Arial" pitchFamily="34" charset="0"/>
                <a:ea typeface="Arial" pitchFamily="34" charset="-122"/>
                <a:cs typeface="Arial" pitchFamily="34" charset="-120"/>
              </a:rPr>
              <a:t>„Die Roten Hefte, Band 75“ samt „Mehr aus der Reihe“ im Shop</a:t>
            </a:r>
            <a:endParaRPr lang="en-US" sz="1200" dirty="0"/>
          </a:p>
        </p:txBody>
      </p:sp>
      <p:sp>
        <p:nvSpPr>
          <p:cNvPr id="15" name="Shape 13"/>
          <p:cNvSpPr/>
          <p:nvPr/>
        </p:nvSpPr>
        <p:spPr>
          <a:xfrm>
            <a:off x="548640" y="3977640"/>
            <a:ext cx="182880" cy="182880"/>
          </a:xfrm>
          <a:prstGeom prst="rect">
            <a:avLst/>
          </a:prstGeom>
          <a:solidFill>
            <a:srgbClr val="000E2F"/>
          </a:solidFill>
          <a:ln w="12700">
            <a:solidFill>
              <a:srgbClr val="000E2F"/>
            </a:solidFill>
            <a:prstDash val="solid"/>
          </a:ln>
        </p:spPr>
      </p:sp>
      <p:sp>
        <p:nvSpPr>
          <p:cNvPr id="16" name="Text 14"/>
          <p:cNvSpPr txBox="1"/>
          <p:nvPr/>
        </p:nvSpPr>
        <p:spPr>
          <a:xfrm>
            <a:off x="960120" y="3922776"/>
            <a:ext cx="6400800" cy="310896"/>
          </a:xfrm>
          <a:prstGeom prst="rect">
            <a:avLst/>
          </a:prstGeom>
          <a:noFill/>
          <a:ln/>
        </p:spPr>
        <p:txBody>
          <a:bodyPr wrap="square" lIns="0" tIns="0" rIns="0" bIns="0" rtlCol="0" anchor="t"/>
          <a:lstStyle/>
          <a:p>
            <a:pPr indent="0" marL="0">
              <a:buNone/>
            </a:pPr>
            <a:r>
              <a:rPr lang="en-US" sz="1600" b="1" dirty="0">
                <a:solidFill>
                  <a:srgbClr val="16181D"/>
                </a:solidFill>
                <a:latin typeface="Arial" pitchFamily="34" charset="0"/>
                <a:ea typeface="Arial" pitchFamily="34" charset="-122"/>
                <a:cs typeface="Arial" pitchFamily="34" charset="-120"/>
              </a:rPr>
              <a:t>Bibliografische Tiefe</a:t>
            </a:r>
            <a:endParaRPr lang="en-US" sz="1600" dirty="0"/>
          </a:p>
        </p:txBody>
      </p:sp>
      <p:sp>
        <p:nvSpPr>
          <p:cNvPr id="17" name="Text 15"/>
          <p:cNvSpPr txBox="1"/>
          <p:nvPr/>
        </p:nvSpPr>
        <p:spPr>
          <a:xfrm>
            <a:off x="960120" y="4233672"/>
            <a:ext cx="6400800" cy="365760"/>
          </a:xfrm>
          <a:prstGeom prst="rect">
            <a:avLst/>
          </a:prstGeom>
          <a:noFill/>
          <a:ln/>
        </p:spPr>
        <p:txBody>
          <a:bodyPr wrap="square" lIns="0" tIns="0" rIns="0" bIns="0" rtlCol="0" anchor="t"/>
          <a:lstStyle/>
          <a:p>
            <a:pPr indent="0" marL="0">
              <a:buNone/>
            </a:pPr>
            <a:r>
              <a:rPr lang="en-US" sz="1200" dirty="0">
                <a:solidFill>
                  <a:srgbClr val="4B5563"/>
                </a:solidFill>
                <a:latin typeface="Arial" pitchFamily="34" charset="0"/>
                <a:ea typeface="Arial" pitchFamily="34" charset="-122"/>
                <a:cs typeface="Arial" pitchFamily="34" charset="-120"/>
              </a:rPr>
              <a:t>Auflage, Jahr, Seiten, Abbildungen, Tabellen, Einband, Format, ISBN, Lieferstatus</a:t>
            </a:r>
            <a:endParaRPr lang="en-US" sz="1200" dirty="0"/>
          </a:p>
        </p:txBody>
      </p:sp>
      <p:sp>
        <p:nvSpPr>
          <p:cNvPr id="18" name="Shape 16"/>
          <p:cNvSpPr/>
          <p:nvPr/>
        </p:nvSpPr>
        <p:spPr>
          <a:xfrm>
            <a:off x="548640" y="4736592"/>
            <a:ext cx="182880" cy="182880"/>
          </a:xfrm>
          <a:prstGeom prst="rect">
            <a:avLst/>
          </a:prstGeom>
          <a:solidFill>
            <a:srgbClr val="000E2F"/>
          </a:solidFill>
          <a:ln w="12700">
            <a:solidFill>
              <a:srgbClr val="000E2F"/>
            </a:solidFill>
            <a:prstDash val="solid"/>
          </a:ln>
        </p:spPr>
      </p:sp>
      <p:sp>
        <p:nvSpPr>
          <p:cNvPr id="19" name="Text 17"/>
          <p:cNvSpPr txBox="1"/>
          <p:nvPr/>
        </p:nvSpPr>
        <p:spPr>
          <a:xfrm>
            <a:off x="960120" y="4681728"/>
            <a:ext cx="6400800" cy="310896"/>
          </a:xfrm>
          <a:prstGeom prst="rect">
            <a:avLst/>
          </a:prstGeom>
          <a:noFill/>
          <a:ln/>
        </p:spPr>
        <p:txBody>
          <a:bodyPr wrap="square" lIns="0" tIns="0" rIns="0" bIns="0" rtlCol="0" anchor="t"/>
          <a:lstStyle/>
          <a:p>
            <a:pPr indent="0" marL="0">
              <a:buNone/>
            </a:pPr>
            <a:r>
              <a:rPr lang="en-US" sz="1600" b="1" dirty="0">
                <a:solidFill>
                  <a:srgbClr val="16181D"/>
                </a:solidFill>
                <a:latin typeface="Arial" pitchFamily="34" charset="0"/>
                <a:ea typeface="Arial" pitchFamily="34" charset="-122"/>
                <a:cs typeface="Arial" pitchFamily="34" charset="-120"/>
              </a:rPr>
              <a:t>Heterogenes Programm</a:t>
            </a:r>
            <a:endParaRPr lang="en-US" sz="1600" dirty="0"/>
          </a:p>
        </p:txBody>
      </p:sp>
      <p:sp>
        <p:nvSpPr>
          <p:cNvPr id="20" name="Text 18"/>
          <p:cNvSpPr txBox="1"/>
          <p:nvPr/>
        </p:nvSpPr>
        <p:spPr>
          <a:xfrm>
            <a:off x="960120" y="4992624"/>
            <a:ext cx="6400800" cy="365760"/>
          </a:xfrm>
          <a:prstGeom prst="rect">
            <a:avLst/>
          </a:prstGeom>
          <a:noFill/>
          <a:ln/>
        </p:spPr>
        <p:txBody>
          <a:bodyPr wrap="square" lIns="0" tIns="0" rIns="0" bIns="0" rtlCol="0" anchor="t"/>
          <a:lstStyle/>
          <a:p>
            <a:pPr indent="0" marL="0">
              <a:buNone/>
            </a:pPr>
            <a:r>
              <a:rPr lang="en-US" sz="1200" dirty="0">
                <a:solidFill>
                  <a:srgbClr val="4B5563"/>
                </a:solidFill>
                <a:latin typeface="Arial" pitchFamily="34" charset="0"/>
                <a:ea typeface="Arial" pitchFamily="34" charset="-122"/>
                <a:cs typeface="Arial" pitchFamily="34" charset="-120"/>
              </a:rPr>
              <a:t>Bücher, Zeitschriften, Formulare, Formularsoftware, Verlag für Ärzte / Schulen, Seminare</a:t>
            </a:r>
            <a:endParaRPr lang="en-US" sz="1200" dirty="0"/>
          </a:p>
        </p:txBody>
      </p:sp>
      <p:sp>
        <p:nvSpPr>
          <p:cNvPr id="21" name="Shape 19"/>
          <p:cNvSpPr/>
          <p:nvPr/>
        </p:nvSpPr>
        <p:spPr>
          <a:xfrm>
            <a:off x="548640" y="5495544"/>
            <a:ext cx="182880" cy="182880"/>
          </a:xfrm>
          <a:prstGeom prst="rect">
            <a:avLst/>
          </a:prstGeom>
          <a:solidFill>
            <a:srgbClr val="000E2F"/>
          </a:solidFill>
          <a:ln w="12700">
            <a:solidFill>
              <a:srgbClr val="000E2F"/>
            </a:solidFill>
            <a:prstDash val="solid"/>
          </a:ln>
        </p:spPr>
      </p:sp>
      <p:sp>
        <p:nvSpPr>
          <p:cNvPr id="22" name="Text 20"/>
          <p:cNvSpPr txBox="1"/>
          <p:nvPr/>
        </p:nvSpPr>
        <p:spPr>
          <a:xfrm>
            <a:off x="960120" y="5440680"/>
            <a:ext cx="6400800" cy="310896"/>
          </a:xfrm>
          <a:prstGeom prst="rect">
            <a:avLst/>
          </a:prstGeom>
          <a:noFill/>
          <a:ln/>
        </p:spPr>
        <p:txBody>
          <a:bodyPr wrap="square" lIns="0" tIns="0" rIns="0" bIns="0" rtlCol="0" anchor="t"/>
          <a:lstStyle/>
          <a:p>
            <a:pPr indent="0" marL="0">
              <a:buNone/>
            </a:pPr>
            <a:r>
              <a:rPr lang="en-US" sz="1600" b="1" dirty="0">
                <a:solidFill>
                  <a:srgbClr val="16181D"/>
                </a:solidFill>
                <a:latin typeface="Arial" pitchFamily="34" charset="0"/>
                <a:ea typeface="Arial" pitchFamily="34" charset="-122"/>
                <a:cs typeface="Arial" pitchFamily="34" charset="-120"/>
              </a:rPr>
              <a:t>Viele Abnehmer derselben Daten</a:t>
            </a:r>
            <a:endParaRPr lang="en-US" sz="1600" dirty="0"/>
          </a:p>
        </p:txBody>
      </p:sp>
      <p:sp>
        <p:nvSpPr>
          <p:cNvPr id="23" name="Text 21"/>
          <p:cNvSpPr txBox="1"/>
          <p:nvPr/>
        </p:nvSpPr>
        <p:spPr>
          <a:xfrm>
            <a:off x="960120" y="5751576"/>
            <a:ext cx="6400800" cy="365760"/>
          </a:xfrm>
          <a:prstGeom prst="rect">
            <a:avLst/>
          </a:prstGeom>
          <a:noFill/>
          <a:ln/>
        </p:spPr>
        <p:txBody>
          <a:bodyPr wrap="square" lIns="0" tIns="0" rIns="0" bIns="0" rtlCol="0" anchor="t"/>
          <a:lstStyle/>
          <a:p>
            <a:pPr indent="0" marL="0">
              <a:buNone/>
            </a:pPr>
            <a:r>
              <a:rPr lang="en-US" sz="1200" dirty="0">
                <a:solidFill>
                  <a:srgbClr val="4B5563"/>
                </a:solidFill>
                <a:latin typeface="Arial" pitchFamily="34" charset="0"/>
                <a:ea typeface="Arial" pitchFamily="34" charset="-122"/>
                <a:cs typeface="Arial" pitchFamily="34" charset="-120"/>
              </a:rPr>
              <a:t>Shop, Buchhandel, Bibliotheken, Presse, Foreign Rights &amp; Licensing, Mediadaten</a:t>
            </a:r>
            <a:endParaRPr lang="en-US" sz="1200" dirty="0"/>
          </a:p>
        </p:txBody>
      </p:sp>
      <p:sp>
        <p:nvSpPr>
          <p:cNvPr id="24" name="Text 22"/>
          <p:cNvSpPr txBox="1"/>
          <p:nvPr/>
        </p:nvSpPr>
        <p:spPr>
          <a:xfrm>
            <a:off x="7955280" y="1645920"/>
            <a:ext cx="3657600" cy="274320"/>
          </a:xfrm>
          <a:prstGeom prst="rect">
            <a:avLst/>
          </a:prstGeom>
          <a:noFill/>
          <a:ln/>
        </p:spPr>
        <p:txBody>
          <a:bodyPr wrap="square" lIns="0" tIns="0" rIns="0" bIns="0" rtlCol="0" anchor="t"/>
          <a:lstStyle/>
          <a:p>
            <a:pPr indent="0" marL="0">
              <a:buNone/>
            </a:pPr>
            <a:r>
              <a:rPr lang="en-US" sz="1100" b="1" spc="100" kern="0" dirty="0">
                <a:solidFill>
                  <a:srgbClr val="4B5563"/>
                </a:solidFill>
                <a:latin typeface="Arial" pitchFamily="34" charset="0"/>
                <a:ea typeface="Arial" pitchFamily="34" charset="-122"/>
                <a:cs typeface="Arial" pitchFamily="34" charset="-120"/>
              </a:rPr>
              <a:t>PRODUKTARTEN IM PROGRAMM</a:t>
            </a:r>
            <a:endParaRPr lang="en-US" sz="1100" dirty="0"/>
          </a:p>
        </p:txBody>
      </p:sp>
      <p:sp>
        <p:nvSpPr>
          <p:cNvPr id="25" name="Shape 23"/>
          <p:cNvSpPr/>
          <p:nvPr/>
        </p:nvSpPr>
        <p:spPr>
          <a:xfrm>
            <a:off x="7955280" y="2103120"/>
            <a:ext cx="2651760" cy="420624"/>
          </a:xfrm>
          <a:prstGeom prst="roundRect">
            <a:avLst>
              <a:gd name="adj" fmla="val 50000"/>
            </a:avLst>
          </a:prstGeom>
          <a:solidFill>
            <a:srgbClr val="EEF0F2"/>
          </a:solidFill>
          <a:ln w="12700">
            <a:solidFill>
              <a:srgbClr val="EEF0F2"/>
            </a:solidFill>
            <a:prstDash val="solid"/>
          </a:ln>
        </p:spPr>
      </p:sp>
      <p:sp>
        <p:nvSpPr>
          <p:cNvPr id="26" name="Text 24"/>
          <p:cNvSpPr txBox="1"/>
          <p:nvPr/>
        </p:nvSpPr>
        <p:spPr>
          <a:xfrm>
            <a:off x="8183880" y="2103120"/>
            <a:ext cx="2011680" cy="420624"/>
          </a:xfrm>
          <a:prstGeom prst="rect">
            <a:avLst/>
          </a:prstGeom>
          <a:noFill/>
          <a:ln/>
        </p:spPr>
        <p:txBody>
          <a:bodyPr wrap="square" lIns="0" tIns="0" rIns="0" bIns="0" rtlCol="0" anchor="ctr"/>
          <a:lstStyle/>
          <a:p>
            <a:pPr indent="0" marL="0">
              <a:buNone/>
            </a:pPr>
            <a:r>
              <a:rPr lang="en-US" sz="1400" dirty="0">
                <a:solidFill>
                  <a:srgbClr val="1B2D5C"/>
                </a:solidFill>
                <a:latin typeface="Arial" pitchFamily="34" charset="0"/>
                <a:ea typeface="Arial" pitchFamily="34" charset="-122"/>
                <a:cs typeface="Arial" pitchFamily="34" charset="-120"/>
              </a:rPr>
              <a:t>Buch</a:t>
            </a:r>
            <a:endParaRPr lang="en-US" sz="1400" dirty="0"/>
          </a:p>
        </p:txBody>
      </p:sp>
      <p:sp>
        <p:nvSpPr>
          <p:cNvPr id="27" name="Text 25"/>
          <p:cNvSpPr txBox="1"/>
          <p:nvPr/>
        </p:nvSpPr>
        <p:spPr>
          <a:xfrm>
            <a:off x="10149840" y="2103120"/>
            <a:ext cx="274320" cy="420624"/>
          </a:xfrm>
          <a:prstGeom prst="rect">
            <a:avLst/>
          </a:prstGeom>
          <a:noFill/>
          <a:ln/>
        </p:spPr>
        <p:txBody>
          <a:bodyPr wrap="square" lIns="0" tIns="0" rIns="0" bIns="0" rtlCol="0" anchor="ctr"/>
          <a:lstStyle/>
          <a:p>
            <a:pPr indent="0" marL="0">
              <a:buNone/>
            </a:pPr>
            <a:r>
              <a:rPr lang="en-US" sz="1500" dirty="0">
                <a:solidFill>
                  <a:srgbClr val="000E2F"/>
                </a:solidFill>
                <a:latin typeface="Arial" pitchFamily="34" charset="0"/>
                <a:ea typeface="Arial" pitchFamily="34" charset="-122"/>
                <a:cs typeface="Arial" pitchFamily="34" charset="-120"/>
              </a:rPr>
              <a:t>×</a:t>
            </a:r>
            <a:endParaRPr lang="en-US" sz="1500" dirty="0"/>
          </a:p>
        </p:txBody>
      </p:sp>
      <p:sp>
        <p:nvSpPr>
          <p:cNvPr id="28" name="Shape 26"/>
          <p:cNvSpPr/>
          <p:nvPr/>
        </p:nvSpPr>
        <p:spPr>
          <a:xfrm>
            <a:off x="7955280" y="2651760"/>
            <a:ext cx="2651760" cy="420624"/>
          </a:xfrm>
          <a:prstGeom prst="roundRect">
            <a:avLst>
              <a:gd name="adj" fmla="val 50000"/>
            </a:avLst>
          </a:prstGeom>
          <a:solidFill>
            <a:srgbClr val="EEF0F2"/>
          </a:solidFill>
          <a:ln w="12700">
            <a:solidFill>
              <a:srgbClr val="EEF0F2"/>
            </a:solidFill>
            <a:prstDash val="solid"/>
          </a:ln>
        </p:spPr>
      </p:sp>
      <p:sp>
        <p:nvSpPr>
          <p:cNvPr id="29" name="Text 27"/>
          <p:cNvSpPr txBox="1"/>
          <p:nvPr/>
        </p:nvSpPr>
        <p:spPr>
          <a:xfrm>
            <a:off x="8183880" y="2651760"/>
            <a:ext cx="2011680" cy="420624"/>
          </a:xfrm>
          <a:prstGeom prst="rect">
            <a:avLst/>
          </a:prstGeom>
          <a:noFill/>
          <a:ln/>
        </p:spPr>
        <p:txBody>
          <a:bodyPr wrap="square" lIns="0" tIns="0" rIns="0" bIns="0" rtlCol="0" anchor="ctr"/>
          <a:lstStyle/>
          <a:p>
            <a:pPr indent="0" marL="0">
              <a:buNone/>
            </a:pPr>
            <a:r>
              <a:rPr lang="en-US" sz="1400" dirty="0">
                <a:solidFill>
                  <a:srgbClr val="1B2D5C"/>
                </a:solidFill>
                <a:latin typeface="Arial" pitchFamily="34" charset="0"/>
                <a:ea typeface="Arial" pitchFamily="34" charset="-122"/>
                <a:cs typeface="Arial" pitchFamily="34" charset="-120"/>
              </a:rPr>
              <a:t>eBook (PDF)</a:t>
            </a:r>
            <a:endParaRPr lang="en-US" sz="1400" dirty="0"/>
          </a:p>
        </p:txBody>
      </p:sp>
      <p:sp>
        <p:nvSpPr>
          <p:cNvPr id="30" name="Text 28"/>
          <p:cNvSpPr txBox="1"/>
          <p:nvPr/>
        </p:nvSpPr>
        <p:spPr>
          <a:xfrm>
            <a:off x="10149840" y="2651760"/>
            <a:ext cx="274320" cy="420624"/>
          </a:xfrm>
          <a:prstGeom prst="rect">
            <a:avLst/>
          </a:prstGeom>
          <a:noFill/>
          <a:ln/>
        </p:spPr>
        <p:txBody>
          <a:bodyPr wrap="square" lIns="0" tIns="0" rIns="0" bIns="0" rtlCol="0" anchor="ctr"/>
          <a:lstStyle/>
          <a:p>
            <a:pPr indent="0" marL="0">
              <a:buNone/>
            </a:pPr>
            <a:r>
              <a:rPr lang="en-US" sz="1500" dirty="0">
                <a:solidFill>
                  <a:srgbClr val="000E2F"/>
                </a:solidFill>
                <a:latin typeface="Arial" pitchFamily="34" charset="0"/>
                <a:ea typeface="Arial" pitchFamily="34" charset="-122"/>
                <a:cs typeface="Arial" pitchFamily="34" charset="-120"/>
              </a:rPr>
              <a:t>×</a:t>
            </a:r>
            <a:endParaRPr lang="en-US" sz="1500" dirty="0"/>
          </a:p>
        </p:txBody>
      </p:sp>
      <p:sp>
        <p:nvSpPr>
          <p:cNvPr id="31" name="Shape 29"/>
          <p:cNvSpPr/>
          <p:nvPr/>
        </p:nvSpPr>
        <p:spPr>
          <a:xfrm>
            <a:off x="7955280" y="3200400"/>
            <a:ext cx="2651760" cy="420624"/>
          </a:xfrm>
          <a:prstGeom prst="roundRect">
            <a:avLst>
              <a:gd name="adj" fmla="val 50000"/>
            </a:avLst>
          </a:prstGeom>
          <a:solidFill>
            <a:srgbClr val="EEF0F2"/>
          </a:solidFill>
          <a:ln w="12700">
            <a:solidFill>
              <a:srgbClr val="EEF0F2"/>
            </a:solidFill>
            <a:prstDash val="solid"/>
          </a:ln>
        </p:spPr>
      </p:sp>
      <p:sp>
        <p:nvSpPr>
          <p:cNvPr id="32" name="Text 30"/>
          <p:cNvSpPr txBox="1"/>
          <p:nvPr/>
        </p:nvSpPr>
        <p:spPr>
          <a:xfrm>
            <a:off x="8183880" y="3200400"/>
            <a:ext cx="2011680" cy="420624"/>
          </a:xfrm>
          <a:prstGeom prst="rect">
            <a:avLst/>
          </a:prstGeom>
          <a:noFill/>
          <a:ln/>
        </p:spPr>
        <p:txBody>
          <a:bodyPr wrap="square" lIns="0" tIns="0" rIns="0" bIns="0" rtlCol="0" anchor="ctr"/>
          <a:lstStyle/>
          <a:p>
            <a:pPr indent="0" marL="0">
              <a:buNone/>
            </a:pPr>
            <a:r>
              <a:rPr lang="en-US" sz="1400" dirty="0">
                <a:solidFill>
                  <a:srgbClr val="1B2D5C"/>
                </a:solidFill>
                <a:latin typeface="Arial" pitchFamily="34" charset="0"/>
                <a:ea typeface="Arial" pitchFamily="34" charset="-122"/>
                <a:cs typeface="Arial" pitchFamily="34" charset="-120"/>
              </a:rPr>
              <a:t>eBook (ePub)</a:t>
            </a:r>
            <a:endParaRPr lang="en-US" sz="1400" dirty="0"/>
          </a:p>
        </p:txBody>
      </p:sp>
      <p:sp>
        <p:nvSpPr>
          <p:cNvPr id="33" name="Text 31"/>
          <p:cNvSpPr txBox="1"/>
          <p:nvPr/>
        </p:nvSpPr>
        <p:spPr>
          <a:xfrm>
            <a:off x="10149840" y="3200400"/>
            <a:ext cx="274320" cy="420624"/>
          </a:xfrm>
          <a:prstGeom prst="rect">
            <a:avLst/>
          </a:prstGeom>
          <a:noFill/>
          <a:ln/>
        </p:spPr>
        <p:txBody>
          <a:bodyPr wrap="square" lIns="0" tIns="0" rIns="0" bIns="0" rtlCol="0" anchor="ctr"/>
          <a:lstStyle/>
          <a:p>
            <a:pPr indent="0" marL="0">
              <a:buNone/>
            </a:pPr>
            <a:r>
              <a:rPr lang="en-US" sz="1500" dirty="0">
                <a:solidFill>
                  <a:srgbClr val="000E2F"/>
                </a:solidFill>
                <a:latin typeface="Arial" pitchFamily="34" charset="0"/>
                <a:ea typeface="Arial" pitchFamily="34" charset="-122"/>
                <a:cs typeface="Arial" pitchFamily="34" charset="-120"/>
              </a:rPr>
              <a:t>×</a:t>
            </a:r>
            <a:endParaRPr lang="en-US" sz="1500" dirty="0"/>
          </a:p>
        </p:txBody>
      </p:sp>
      <p:sp>
        <p:nvSpPr>
          <p:cNvPr id="34" name="Shape 32"/>
          <p:cNvSpPr/>
          <p:nvPr/>
        </p:nvSpPr>
        <p:spPr>
          <a:xfrm>
            <a:off x="7955280" y="3749040"/>
            <a:ext cx="2651760" cy="420624"/>
          </a:xfrm>
          <a:prstGeom prst="roundRect">
            <a:avLst>
              <a:gd name="adj" fmla="val 50000"/>
            </a:avLst>
          </a:prstGeom>
          <a:solidFill>
            <a:srgbClr val="EEF0F2"/>
          </a:solidFill>
          <a:ln w="12700">
            <a:solidFill>
              <a:srgbClr val="EEF0F2"/>
            </a:solidFill>
            <a:prstDash val="solid"/>
          </a:ln>
        </p:spPr>
      </p:sp>
      <p:sp>
        <p:nvSpPr>
          <p:cNvPr id="35" name="Text 33"/>
          <p:cNvSpPr txBox="1"/>
          <p:nvPr/>
        </p:nvSpPr>
        <p:spPr>
          <a:xfrm>
            <a:off x="8183880" y="3749040"/>
            <a:ext cx="2011680" cy="420624"/>
          </a:xfrm>
          <a:prstGeom prst="rect">
            <a:avLst/>
          </a:prstGeom>
          <a:noFill/>
          <a:ln/>
        </p:spPr>
        <p:txBody>
          <a:bodyPr wrap="square" lIns="0" tIns="0" rIns="0" bIns="0" rtlCol="0" anchor="ctr"/>
          <a:lstStyle/>
          <a:p>
            <a:pPr indent="0" marL="0">
              <a:buNone/>
            </a:pPr>
            <a:r>
              <a:rPr lang="en-US" sz="1400" dirty="0">
                <a:solidFill>
                  <a:srgbClr val="1B2D5C"/>
                </a:solidFill>
                <a:latin typeface="Arial" pitchFamily="34" charset="0"/>
                <a:ea typeface="Arial" pitchFamily="34" charset="-122"/>
                <a:cs typeface="Arial" pitchFamily="34" charset="-120"/>
              </a:rPr>
              <a:t>Zeitschrift</a:t>
            </a:r>
            <a:endParaRPr lang="en-US" sz="1400" dirty="0"/>
          </a:p>
        </p:txBody>
      </p:sp>
      <p:sp>
        <p:nvSpPr>
          <p:cNvPr id="36" name="Text 34"/>
          <p:cNvSpPr txBox="1"/>
          <p:nvPr/>
        </p:nvSpPr>
        <p:spPr>
          <a:xfrm>
            <a:off x="10149840" y="3749040"/>
            <a:ext cx="274320" cy="420624"/>
          </a:xfrm>
          <a:prstGeom prst="rect">
            <a:avLst/>
          </a:prstGeom>
          <a:noFill/>
          <a:ln/>
        </p:spPr>
        <p:txBody>
          <a:bodyPr wrap="square" lIns="0" tIns="0" rIns="0" bIns="0" rtlCol="0" anchor="ctr"/>
          <a:lstStyle/>
          <a:p>
            <a:pPr indent="0" marL="0">
              <a:buNone/>
            </a:pPr>
            <a:r>
              <a:rPr lang="en-US" sz="1500" dirty="0">
                <a:solidFill>
                  <a:srgbClr val="000E2F"/>
                </a:solidFill>
                <a:latin typeface="Arial" pitchFamily="34" charset="0"/>
                <a:ea typeface="Arial" pitchFamily="34" charset="-122"/>
                <a:cs typeface="Arial" pitchFamily="34" charset="-120"/>
              </a:rPr>
              <a:t>×</a:t>
            </a:r>
            <a:endParaRPr lang="en-US" sz="1500" dirty="0"/>
          </a:p>
        </p:txBody>
      </p:sp>
      <p:sp>
        <p:nvSpPr>
          <p:cNvPr id="37" name="Shape 35"/>
          <p:cNvSpPr/>
          <p:nvPr/>
        </p:nvSpPr>
        <p:spPr>
          <a:xfrm>
            <a:off x="7955280" y="4297680"/>
            <a:ext cx="2651760" cy="420624"/>
          </a:xfrm>
          <a:prstGeom prst="roundRect">
            <a:avLst>
              <a:gd name="adj" fmla="val 50000"/>
            </a:avLst>
          </a:prstGeom>
          <a:solidFill>
            <a:srgbClr val="EEF0F2"/>
          </a:solidFill>
          <a:ln w="12700">
            <a:solidFill>
              <a:srgbClr val="EEF0F2"/>
            </a:solidFill>
            <a:prstDash val="solid"/>
          </a:ln>
        </p:spPr>
      </p:sp>
      <p:sp>
        <p:nvSpPr>
          <p:cNvPr id="38" name="Text 36"/>
          <p:cNvSpPr txBox="1"/>
          <p:nvPr/>
        </p:nvSpPr>
        <p:spPr>
          <a:xfrm>
            <a:off x="8183880" y="4297680"/>
            <a:ext cx="2011680" cy="420624"/>
          </a:xfrm>
          <a:prstGeom prst="rect">
            <a:avLst/>
          </a:prstGeom>
          <a:noFill/>
          <a:ln/>
        </p:spPr>
        <p:txBody>
          <a:bodyPr wrap="square" lIns="0" tIns="0" rIns="0" bIns="0" rtlCol="0" anchor="ctr"/>
          <a:lstStyle/>
          <a:p>
            <a:pPr indent="0" marL="0">
              <a:buNone/>
            </a:pPr>
            <a:r>
              <a:rPr lang="en-US" sz="1400" dirty="0">
                <a:solidFill>
                  <a:srgbClr val="1B2D5C"/>
                </a:solidFill>
                <a:latin typeface="Arial" pitchFamily="34" charset="0"/>
                <a:ea typeface="Arial" pitchFamily="34" charset="-122"/>
                <a:cs typeface="Arial" pitchFamily="34" charset="-120"/>
              </a:rPr>
              <a:t>Formular</a:t>
            </a:r>
            <a:endParaRPr lang="en-US" sz="1400" dirty="0"/>
          </a:p>
        </p:txBody>
      </p:sp>
      <p:sp>
        <p:nvSpPr>
          <p:cNvPr id="39" name="Text 37"/>
          <p:cNvSpPr txBox="1"/>
          <p:nvPr/>
        </p:nvSpPr>
        <p:spPr>
          <a:xfrm>
            <a:off x="10149840" y="4297680"/>
            <a:ext cx="274320" cy="420624"/>
          </a:xfrm>
          <a:prstGeom prst="rect">
            <a:avLst/>
          </a:prstGeom>
          <a:noFill/>
          <a:ln/>
        </p:spPr>
        <p:txBody>
          <a:bodyPr wrap="square" lIns="0" tIns="0" rIns="0" bIns="0" rtlCol="0" anchor="ctr"/>
          <a:lstStyle/>
          <a:p>
            <a:pPr indent="0" marL="0">
              <a:buNone/>
            </a:pPr>
            <a:r>
              <a:rPr lang="en-US" sz="1500" dirty="0">
                <a:solidFill>
                  <a:srgbClr val="000E2F"/>
                </a:solidFill>
                <a:latin typeface="Arial" pitchFamily="34" charset="0"/>
                <a:ea typeface="Arial" pitchFamily="34" charset="-122"/>
                <a:cs typeface="Arial" pitchFamily="34" charset="-120"/>
              </a:rPr>
              <a:t>×</a:t>
            </a:r>
            <a:endParaRPr lang="en-US" sz="1500" dirty="0"/>
          </a:p>
        </p:txBody>
      </p:sp>
      <p:sp>
        <p:nvSpPr>
          <p:cNvPr id="40" name="Shape 38"/>
          <p:cNvSpPr/>
          <p:nvPr/>
        </p:nvSpPr>
        <p:spPr>
          <a:xfrm>
            <a:off x="7955280" y="4846320"/>
            <a:ext cx="2651760" cy="420624"/>
          </a:xfrm>
          <a:prstGeom prst="roundRect">
            <a:avLst>
              <a:gd name="adj" fmla="val 50000"/>
            </a:avLst>
          </a:prstGeom>
          <a:solidFill>
            <a:srgbClr val="EEF0F2"/>
          </a:solidFill>
          <a:ln w="12700">
            <a:solidFill>
              <a:srgbClr val="EEF0F2"/>
            </a:solidFill>
            <a:prstDash val="solid"/>
          </a:ln>
        </p:spPr>
      </p:sp>
      <p:sp>
        <p:nvSpPr>
          <p:cNvPr id="41" name="Text 39"/>
          <p:cNvSpPr txBox="1"/>
          <p:nvPr/>
        </p:nvSpPr>
        <p:spPr>
          <a:xfrm>
            <a:off x="8183880" y="4846320"/>
            <a:ext cx="2011680" cy="420624"/>
          </a:xfrm>
          <a:prstGeom prst="rect">
            <a:avLst/>
          </a:prstGeom>
          <a:noFill/>
          <a:ln/>
        </p:spPr>
        <p:txBody>
          <a:bodyPr wrap="square" lIns="0" tIns="0" rIns="0" bIns="0" rtlCol="0" anchor="ctr"/>
          <a:lstStyle/>
          <a:p>
            <a:pPr indent="0" marL="0">
              <a:buNone/>
            </a:pPr>
            <a:r>
              <a:rPr lang="en-US" sz="1400" dirty="0">
                <a:solidFill>
                  <a:srgbClr val="1B2D5C"/>
                </a:solidFill>
                <a:latin typeface="Arial" pitchFamily="34" charset="0"/>
                <a:ea typeface="Arial" pitchFamily="34" charset="-122"/>
                <a:cs typeface="Arial" pitchFamily="34" charset="-120"/>
              </a:rPr>
              <a:t>Formularsoftware</a:t>
            </a:r>
            <a:endParaRPr lang="en-US" sz="1400" dirty="0"/>
          </a:p>
        </p:txBody>
      </p:sp>
      <p:sp>
        <p:nvSpPr>
          <p:cNvPr id="42" name="Text 40"/>
          <p:cNvSpPr txBox="1"/>
          <p:nvPr/>
        </p:nvSpPr>
        <p:spPr>
          <a:xfrm>
            <a:off x="10149840" y="4846320"/>
            <a:ext cx="274320" cy="420624"/>
          </a:xfrm>
          <a:prstGeom prst="rect">
            <a:avLst/>
          </a:prstGeom>
          <a:noFill/>
          <a:ln/>
        </p:spPr>
        <p:txBody>
          <a:bodyPr wrap="square" lIns="0" tIns="0" rIns="0" bIns="0" rtlCol="0" anchor="ctr"/>
          <a:lstStyle/>
          <a:p>
            <a:pPr indent="0" marL="0">
              <a:buNone/>
            </a:pPr>
            <a:r>
              <a:rPr lang="en-US" sz="1500" dirty="0">
                <a:solidFill>
                  <a:srgbClr val="000E2F"/>
                </a:solidFill>
                <a:latin typeface="Arial" pitchFamily="34" charset="0"/>
                <a:ea typeface="Arial" pitchFamily="34" charset="-122"/>
                <a:cs typeface="Arial" pitchFamily="34" charset="-120"/>
              </a:rPr>
              <a:t>×</a:t>
            </a:r>
            <a:endParaRPr lang="en-US" sz="1500" dirty="0"/>
          </a:p>
        </p:txBody>
      </p:sp>
      <p:sp>
        <p:nvSpPr>
          <p:cNvPr id="43" name="Shape 41"/>
          <p:cNvSpPr/>
          <p:nvPr/>
        </p:nvSpPr>
        <p:spPr>
          <a:xfrm>
            <a:off x="7955280" y="5394960"/>
            <a:ext cx="2651760" cy="420624"/>
          </a:xfrm>
          <a:prstGeom prst="roundRect">
            <a:avLst>
              <a:gd name="adj" fmla="val 50000"/>
            </a:avLst>
          </a:prstGeom>
          <a:solidFill>
            <a:srgbClr val="EEF0F2"/>
          </a:solidFill>
          <a:ln w="12700">
            <a:solidFill>
              <a:srgbClr val="EEF0F2"/>
            </a:solidFill>
            <a:prstDash val="solid"/>
          </a:ln>
        </p:spPr>
      </p:sp>
      <p:sp>
        <p:nvSpPr>
          <p:cNvPr id="44" name="Text 42"/>
          <p:cNvSpPr txBox="1"/>
          <p:nvPr/>
        </p:nvSpPr>
        <p:spPr>
          <a:xfrm>
            <a:off x="8183880" y="5394960"/>
            <a:ext cx="2011680" cy="420624"/>
          </a:xfrm>
          <a:prstGeom prst="rect">
            <a:avLst/>
          </a:prstGeom>
          <a:noFill/>
          <a:ln/>
        </p:spPr>
        <p:txBody>
          <a:bodyPr wrap="square" lIns="0" tIns="0" rIns="0" bIns="0" rtlCol="0" anchor="ctr"/>
          <a:lstStyle/>
          <a:p>
            <a:pPr indent="0" marL="0">
              <a:buNone/>
            </a:pPr>
            <a:r>
              <a:rPr lang="en-US" sz="1400" dirty="0">
                <a:solidFill>
                  <a:srgbClr val="1B2D5C"/>
                </a:solidFill>
                <a:latin typeface="Arial" pitchFamily="34" charset="0"/>
                <a:ea typeface="Arial" pitchFamily="34" charset="-122"/>
                <a:cs typeface="Arial" pitchFamily="34" charset="-120"/>
              </a:rPr>
              <a:t>Seminar</a:t>
            </a:r>
            <a:endParaRPr lang="en-US" sz="1400" dirty="0"/>
          </a:p>
        </p:txBody>
      </p:sp>
      <p:sp>
        <p:nvSpPr>
          <p:cNvPr id="45" name="Text 43"/>
          <p:cNvSpPr txBox="1"/>
          <p:nvPr/>
        </p:nvSpPr>
        <p:spPr>
          <a:xfrm>
            <a:off x="10149840" y="5394960"/>
            <a:ext cx="274320" cy="420624"/>
          </a:xfrm>
          <a:prstGeom prst="rect">
            <a:avLst/>
          </a:prstGeom>
          <a:noFill/>
          <a:ln/>
        </p:spPr>
        <p:txBody>
          <a:bodyPr wrap="square" lIns="0" tIns="0" rIns="0" bIns="0" rtlCol="0" anchor="ctr"/>
          <a:lstStyle/>
          <a:p>
            <a:pPr indent="0" marL="0">
              <a:buNone/>
            </a:pPr>
            <a:r>
              <a:rPr lang="en-US" sz="1500" dirty="0">
                <a:solidFill>
                  <a:srgbClr val="000E2F"/>
                </a:solidFill>
                <a:latin typeface="Arial" pitchFamily="34" charset="0"/>
                <a:ea typeface="Arial" pitchFamily="34" charset="-122"/>
                <a:cs typeface="Arial" pitchFamily="34" charset="-120"/>
              </a:rPr>
              <a:t>×</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594360"/>
          </a:xfrm>
          <a:prstGeom prst="rect">
            <a:avLst/>
          </a:prstGeom>
          <a:noFill/>
          <a:ln/>
        </p:spPr>
        <p:txBody>
          <a:bodyPr wrap="square" lIns="0" tIns="0" rIns="0" bIns="0" rtlCol="0" anchor="b"/>
          <a:lstStyle/>
          <a:p>
            <a:pPr indent="0" marL="0">
              <a:buNone/>
            </a:pPr>
            <a:r>
              <a:rPr lang="en-US" sz="3000" dirty="0">
                <a:solidFill>
                  <a:srgbClr val="16181D"/>
                </a:solidFill>
                <a:latin typeface="Arial" pitchFamily="34" charset="0"/>
                <a:ea typeface="Arial" pitchFamily="34" charset="-122"/>
                <a:cs typeface="Arial" pitchFamily="34" charset="-120"/>
              </a:rPr>
              <a:t>EIN TITEL, DREI AUSGABEN</a:t>
            </a:r>
            <a:endParaRPr lang="en-US" sz="3000" dirty="0"/>
          </a:p>
        </p:txBody>
      </p:sp>
      <p:sp>
        <p:nvSpPr>
          <p:cNvPr id="3" name="Text 1"/>
          <p:cNvSpPr txBox="1"/>
          <p:nvPr/>
        </p:nvSpPr>
        <p:spPr>
          <a:xfrm>
            <a:off x="548640" y="1033272"/>
            <a:ext cx="11094415" cy="365760"/>
          </a:xfrm>
          <a:prstGeom prst="rect">
            <a:avLst/>
          </a:prstGeom>
          <a:noFill/>
          <a:ln/>
        </p:spPr>
        <p:txBody>
          <a:bodyPr wrap="square" lIns="0" tIns="0" rIns="0" bIns="0" rtlCol="0" anchor="t"/>
          <a:lstStyle/>
          <a:p>
            <a:pPr indent="0" marL="0">
              <a:buNone/>
            </a:pPr>
            <a:r>
              <a:rPr lang="en-US" sz="1400" dirty="0">
                <a:solidFill>
                  <a:srgbClr val="4B5563"/>
                </a:solidFill>
                <a:latin typeface="Arial" pitchFamily="34" charset="0"/>
                <a:ea typeface="Arial" pitchFamily="34" charset="-122"/>
                <a:cs typeface="Arial" pitchFamily="34" charset="-120"/>
              </a:rPr>
              <a:t>Einmal am Werk gepflegt – die Ausgaben überschreiben nur, was wirklich abweicht.</a:t>
            </a:r>
            <a:endParaRPr lang="en-US" sz="1400" dirty="0"/>
          </a:p>
        </p:txBody>
      </p:sp>
      <p:sp>
        <p:nvSpPr>
          <p:cNvPr id="4" name="Text 2"/>
          <p:cNvSpPr txBox="1"/>
          <p:nvPr/>
        </p:nvSpPr>
        <p:spPr>
          <a:xfrm>
            <a:off x="548640" y="6400800"/>
            <a:ext cx="7315200" cy="228600"/>
          </a:xfrm>
          <a:prstGeom prst="rect">
            <a:avLst/>
          </a:prstGeom>
          <a:noFill/>
          <a:ln/>
        </p:spPr>
        <p:txBody>
          <a:bodyPr wrap="square" lIns="0" tIns="0" rIns="0" bIns="0" rtlCol="0" anchor="t"/>
          <a:lstStyle/>
          <a:p>
            <a:pPr indent="0" marL="0">
              <a:buNone/>
            </a:pPr>
            <a:r>
              <a:rPr lang="en-US" sz="900" dirty="0">
                <a:solidFill>
                  <a:srgbClr val="4B5563"/>
                </a:solidFill>
                <a:latin typeface="Arial" pitchFamily="34" charset="0"/>
                <a:ea typeface="Arial" pitchFamily="34" charset="-122"/>
                <a:cs typeface="Arial" pitchFamily="34" charset="-120"/>
              </a:rPr>
              <a:t>anyPIM für Kohlhammer  ·  Entscheidungsvorlage  ·  September 2026</a:t>
            </a:r>
            <a:endParaRPr lang="en-US" sz="900" dirty="0"/>
          </a:p>
        </p:txBody>
      </p:sp>
      <p:sp>
        <p:nvSpPr>
          <p:cNvPr id="5" name="Text 3"/>
          <p:cNvSpPr txBox="1"/>
          <p:nvPr/>
        </p:nvSpPr>
        <p:spPr>
          <a:xfrm>
            <a:off x="10728655" y="6400800"/>
            <a:ext cx="914400" cy="228600"/>
          </a:xfrm>
          <a:prstGeom prst="rect">
            <a:avLst/>
          </a:prstGeom>
          <a:noFill/>
          <a:ln/>
        </p:spPr>
        <p:txBody>
          <a:bodyPr wrap="square" lIns="0" tIns="0" rIns="0" bIns="0" rtlCol="0" anchor="t"/>
          <a:lstStyle/>
          <a:p>
            <a:pPr algn="r" indent="0" marL="0">
              <a:buNone/>
            </a:pPr>
            <a:r>
              <a:rPr lang="en-US" sz="900" dirty="0">
                <a:solidFill>
                  <a:srgbClr val="4B5563"/>
                </a:solidFill>
                <a:latin typeface="Arial" pitchFamily="34" charset="0"/>
                <a:ea typeface="Arial" pitchFamily="34" charset="-122"/>
                <a:cs typeface="Arial" pitchFamily="34" charset="-120"/>
              </a:rPr>
              <a:t>6</a:t>
            </a:r>
            <a:endParaRPr lang="en-US" sz="900" dirty="0"/>
          </a:p>
        </p:txBody>
      </p:sp>
      <p:sp>
        <p:nvSpPr>
          <p:cNvPr id="6" name="Shape 4"/>
          <p:cNvSpPr/>
          <p:nvPr/>
        </p:nvSpPr>
        <p:spPr>
          <a:xfrm>
            <a:off x="548640" y="1600200"/>
            <a:ext cx="2377440" cy="3346704"/>
          </a:xfrm>
          <a:prstGeom prst="rect">
            <a:avLst/>
          </a:prstGeom>
          <a:solidFill>
            <a:srgbClr val="E2211C"/>
          </a:solidFill>
          <a:ln w="12700">
            <a:solidFill>
              <a:srgbClr val="E2211C"/>
            </a:solidFill>
            <a:prstDash val="solid"/>
          </a:ln>
          <a:effectLst>
            <a:outerShdw sx="100000" sy="100000" kx="0" ky="0" algn="bl" rotWithShape="0" blurRad="101600" dist="38100" dir="5400000">
              <a:srgbClr val="000000">
                <a:alpha val="20000"/>
              </a:srgbClr>
            </a:outerShdw>
          </a:effectLst>
        </p:spPr>
      </p:sp>
      <p:sp>
        <p:nvSpPr>
          <p:cNvPr id="7" name="Shape 5"/>
          <p:cNvSpPr/>
          <p:nvPr/>
        </p:nvSpPr>
        <p:spPr>
          <a:xfrm>
            <a:off x="548640" y="1600200"/>
            <a:ext cx="2377440" cy="237744"/>
          </a:xfrm>
          <a:prstGeom prst="rect">
            <a:avLst/>
          </a:prstGeom>
          <a:solidFill>
            <a:srgbClr val="F29400"/>
          </a:solidFill>
          <a:ln w="12700">
            <a:solidFill>
              <a:srgbClr val="F29400"/>
            </a:solidFill>
            <a:prstDash val="solid"/>
          </a:ln>
        </p:spPr>
      </p:sp>
      <p:sp>
        <p:nvSpPr>
          <p:cNvPr id="8" name="Text 6"/>
          <p:cNvSpPr txBox="1"/>
          <p:nvPr/>
        </p:nvSpPr>
        <p:spPr>
          <a:xfrm>
            <a:off x="658368" y="1600200"/>
            <a:ext cx="2194560" cy="237744"/>
          </a:xfrm>
          <a:prstGeom prst="rect">
            <a:avLst/>
          </a:prstGeom>
          <a:noFill/>
          <a:ln/>
        </p:spPr>
        <p:txBody>
          <a:bodyPr wrap="square" lIns="0" tIns="0" rIns="0" bIns="0" rtlCol="0" anchor="ctr"/>
          <a:lstStyle/>
          <a:p>
            <a:pPr indent="0" marL="0">
              <a:buNone/>
            </a:pPr>
            <a:r>
              <a:rPr lang="en-US" sz="800" dirty="0">
                <a:solidFill>
                  <a:srgbClr val="FFFFFF"/>
                </a:solidFill>
                <a:latin typeface="Arial" pitchFamily="34" charset="0"/>
                <a:ea typeface="Arial" pitchFamily="34" charset="-122"/>
                <a:cs typeface="Arial" pitchFamily="34" charset="-120"/>
              </a:rPr>
              <a:t>Vorbeugender Brandschutz</a:t>
            </a:r>
            <a:endParaRPr lang="en-US" sz="800" dirty="0"/>
          </a:p>
        </p:txBody>
      </p:sp>
      <p:sp>
        <p:nvSpPr>
          <p:cNvPr id="9" name="Text 7"/>
          <p:cNvSpPr txBox="1"/>
          <p:nvPr/>
        </p:nvSpPr>
        <p:spPr>
          <a:xfrm>
            <a:off x="658368" y="1947672"/>
            <a:ext cx="2194560" cy="274320"/>
          </a:xfrm>
          <a:prstGeom prst="rect">
            <a:avLst/>
          </a:prstGeom>
          <a:noFill/>
          <a:ln/>
        </p:spPr>
        <p:txBody>
          <a:bodyPr wrap="square" lIns="0" tIns="0" rIns="0" bIns="0" rtlCol="0" anchor="t"/>
          <a:lstStyle/>
          <a:p>
            <a:pPr indent="0" marL="0">
              <a:buNone/>
            </a:pPr>
            <a:r>
              <a:rPr lang="en-US" sz="1300" b="1" dirty="0">
                <a:solidFill>
                  <a:srgbClr val="FFFFFF"/>
                </a:solidFill>
                <a:latin typeface="Arial" pitchFamily="34" charset="0"/>
                <a:ea typeface="Arial" pitchFamily="34" charset="-122"/>
                <a:cs typeface="Arial" pitchFamily="34" charset="-120"/>
              </a:rPr>
              <a:t>DIE ROTEN HEFTE </a:t>
            </a:r>
            <a:pPr indent="0" marL="0">
              <a:buNone/>
            </a:pPr>
            <a:r>
              <a:rPr lang="en-US" sz="1300" dirty="0">
                <a:solidFill>
                  <a:srgbClr val="FFFFFF"/>
                </a:solidFill>
                <a:latin typeface="Arial" pitchFamily="34" charset="0"/>
                <a:ea typeface="Arial" pitchFamily="34" charset="-122"/>
                <a:cs typeface="Arial" pitchFamily="34" charset="-120"/>
              </a:rPr>
              <a:t>75</a:t>
            </a:r>
            <a:endParaRPr lang="en-US" sz="1300" dirty="0"/>
          </a:p>
        </p:txBody>
      </p:sp>
      <p:sp>
        <p:nvSpPr>
          <p:cNvPr id="10" name="Text 8"/>
          <p:cNvSpPr txBox="1"/>
          <p:nvPr/>
        </p:nvSpPr>
        <p:spPr>
          <a:xfrm>
            <a:off x="658368" y="2286000"/>
            <a:ext cx="2194560" cy="228600"/>
          </a:xfrm>
          <a:prstGeom prst="rect">
            <a:avLst/>
          </a:prstGeom>
          <a:noFill/>
          <a:ln/>
        </p:spPr>
        <p:txBody>
          <a:bodyPr wrap="square" lIns="0" tIns="0" rIns="0" bIns="0" rtlCol="0" anchor="t"/>
          <a:lstStyle/>
          <a:p>
            <a:pPr indent="0" marL="0">
              <a:buNone/>
            </a:pPr>
            <a:r>
              <a:rPr lang="en-US" sz="800" dirty="0">
                <a:solidFill>
                  <a:srgbClr val="FFFFFF"/>
                </a:solidFill>
                <a:latin typeface="Arial" pitchFamily="34" charset="0"/>
                <a:ea typeface="Arial" pitchFamily="34" charset="-122"/>
                <a:cs typeface="Arial" pitchFamily="34" charset="-120"/>
              </a:rPr>
              <a:t>Frieder Kircher / Rainer Sonntag</a:t>
            </a:r>
            <a:endParaRPr lang="en-US" sz="800" dirty="0"/>
          </a:p>
        </p:txBody>
      </p:sp>
      <p:sp>
        <p:nvSpPr>
          <p:cNvPr id="11" name="Text 9"/>
          <p:cNvSpPr txBox="1"/>
          <p:nvPr/>
        </p:nvSpPr>
        <p:spPr>
          <a:xfrm>
            <a:off x="658368" y="2651760"/>
            <a:ext cx="2194560" cy="822960"/>
          </a:xfrm>
          <a:prstGeom prst="rect">
            <a:avLst/>
          </a:prstGeom>
          <a:noFill/>
          <a:ln/>
        </p:spPr>
        <p:txBody>
          <a:bodyPr wrap="square" lIns="0" tIns="0" rIns="0" bIns="0" rtlCol="0" anchor="t"/>
          <a:lstStyle/>
          <a:p>
            <a:pPr indent="0" marL="0">
              <a:buNone/>
            </a:pPr>
            <a:r>
              <a:rPr lang="en-US" sz="1900" dirty="0">
                <a:solidFill>
                  <a:srgbClr val="FFFFFF"/>
                </a:solidFill>
                <a:latin typeface="Arial" pitchFamily="34" charset="0"/>
                <a:ea typeface="Arial" pitchFamily="34" charset="-122"/>
                <a:cs typeface="Arial" pitchFamily="34" charset="-120"/>
              </a:rPr>
              <a:t>Vorbeugender Brandschutz</a:t>
            </a:r>
            <a:endParaRPr lang="en-US" sz="1900" dirty="0"/>
          </a:p>
        </p:txBody>
      </p:sp>
      <p:sp>
        <p:nvSpPr>
          <p:cNvPr id="12" name="Text 10"/>
          <p:cNvSpPr txBox="1"/>
          <p:nvPr/>
        </p:nvSpPr>
        <p:spPr>
          <a:xfrm>
            <a:off x="658368" y="4599432"/>
            <a:ext cx="2157984" cy="228600"/>
          </a:xfrm>
          <a:prstGeom prst="rect">
            <a:avLst/>
          </a:prstGeom>
          <a:noFill/>
          <a:ln/>
        </p:spPr>
        <p:txBody>
          <a:bodyPr wrap="square" lIns="0" tIns="0" rIns="0" bIns="0" rtlCol="0" anchor="t"/>
          <a:lstStyle/>
          <a:p>
            <a:pPr algn="r" indent="0" marL="0">
              <a:buNone/>
            </a:pPr>
            <a:r>
              <a:rPr lang="en-US" sz="800" dirty="0">
                <a:solidFill>
                  <a:srgbClr val="FFFFFF"/>
                </a:solidFill>
                <a:latin typeface="Arial" pitchFamily="34" charset="0"/>
                <a:ea typeface="Arial" pitchFamily="34" charset="-122"/>
                <a:cs typeface="Arial" pitchFamily="34" charset="-120"/>
              </a:rPr>
              <a:t>2., aktualisierte Auflage</a:t>
            </a:r>
            <a:endParaRPr lang="en-US" sz="800" dirty="0"/>
          </a:p>
        </p:txBody>
      </p:sp>
      <p:sp>
        <p:nvSpPr>
          <p:cNvPr id="13" name="Text 11"/>
          <p:cNvSpPr txBox="1"/>
          <p:nvPr/>
        </p:nvSpPr>
        <p:spPr>
          <a:xfrm>
            <a:off x="548640" y="5038344"/>
            <a:ext cx="2377440" cy="228600"/>
          </a:xfrm>
          <a:prstGeom prst="rect">
            <a:avLst/>
          </a:prstGeom>
          <a:noFill/>
          <a:ln/>
        </p:spPr>
        <p:txBody>
          <a:bodyPr wrap="square" lIns="0" tIns="0" rIns="0" bIns="0" rtlCol="0" anchor="t"/>
          <a:lstStyle/>
          <a:p>
            <a:pPr algn="ctr" indent="0" marL="0">
              <a:buNone/>
            </a:pPr>
            <a:r>
              <a:rPr lang="en-US" sz="1000" dirty="0">
                <a:solidFill>
                  <a:srgbClr val="4B5563"/>
                </a:solidFill>
                <a:latin typeface="Arial" pitchFamily="34" charset="0"/>
                <a:ea typeface="Arial" pitchFamily="34" charset="-122"/>
                <a:cs typeface="Arial" pitchFamily="34" charset="-120"/>
              </a:rPr>
              <a:t>Schematische Darstellung</a:t>
            </a:r>
            <a:endParaRPr lang="en-US" sz="1000" dirty="0"/>
          </a:p>
        </p:txBody>
      </p:sp>
      <p:sp>
        <p:nvSpPr>
          <p:cNvPr id="14" name="Text 12"/>
          <p:cNvSpPr txBox="1"/>
          <p:nvPr/>
        </p:nvSpPr>
        <p:spPr>
          <a:xfrm>
            <a:off x="3429000" y="1600200"/>
            <a:ext cx="8214055" cy="228600"/>
          </a:xfrm>
          <a:prstGeom prst="rect">
            <a:avLst/>
          </a:prstGeom>
          <a:noFill/>
          <a:ln/>
        </p:spPr>
        <p:txBody>
          <a:bodyPr wrap="square" lIns="0" tIns="0" rIns="0" bIns="0" rtlCol="0" anchor="t"/>
          <a:lstStyle/>
          <a:p>
            <a:pPr indent="0" marL="0">
              <a:buNone/>
            </a:pPr>
            <a:r>
              <a:rPr lang="en-US" sz="1000" b="1" spc="100" kern="0" dirty="0">
                <a:solidFill>
                  <a:srgbClr val="4B5563"/>
                </a:solidFill>
                <a:latin typeface="Arial" pitchFamily="34" charset="0"/>
                <a:ea typeface="Arial" pitchFamily="34" charset="-122"/>
                <a:cs typeface="Arial" pitchFamily="34" charset="-120"/>
              </a:rPr>
              <a:t>ELTERNPRODUKT · PRODUKTTYP „BUCH“</a:t>
            </a:r>
            <a:endParaRPr lang="en-US" sz="1000" dirty="0"/>
          </a:p>
        </p:txBody>
      </p:sp>
      <p:sp>
        <p:nvSpPr>
          <p:cNvPr id="15" name="Text 13"/>
          <p:cNvSpPr txBox="1"/>
          <p:nvPr/>
        </p:nvSpPr>
        <p:spPr>
          <a:xfrm>
            <a:off x="3429000" y="1828800"/>
            <a:ext cx="8214055" cy="365760"/>
          </a:xfrm>
          <a:prstGeom prst="rect">
            <a:avLst/>
          </a:prstGeom>
          <a:noFill/>
          <a:ln/>
        </p:spPr>
        <p:txBody>
          <a:bodyPr wrap="square" lIns="0" tIns="0" rIns="0" bIns="0" rtlCol="0" anchor="t"/>
          <a:lstStyle/>
          <a:p>
            <a:pPr indent="0" marL="0">
              <a:buNone/>
            </a:pPr>
            <a:r>
              <a:rPr lang="en-US" sz="1800" dirty="0">
                <a:solidFill>
                  <a:srgbClr val="16181D"/>
                </a:solidFill>
                <a:latin typeface="Arial" pitchFamily="34" charset="0"/>
                <a:ea typeface="Arial" pitchFamily="34" charset="-122"/>
                <a:cs typeface="Arial" pitchFamily="34" charset="-120"/>
              </a:rPr>
              <a:t>Werk: Vorbeugender Brandschutz</a:t>
            </a:r>
            <a:endParaRPr lang="en-US" sz="1800" dirty="0"/>
          </a:p>
        </p:txBody>
      </p:sp>
      <p:sp>
        <p:nvSpPr>
          <p:cNvPr id="16" name="Shape 14"/>
          <p:cNvSpPr/>
          <p:nvPr/>
        </p:nvSpPr>
        <p:spPr>
          <a:xfrm>
            <a:off x="3429000" y="2286000"/>
            <a:ext cx="8214055" cy="777240"/>
          </a:xfrm>
          <a:prstGeom prst="rect">
            <a:avLst/>
          </a:prstGeom>
          <a:solidFill>
            <a:srgbClr val="E4F3F1"/>
          </a:solidFill>
          <a:ln w="12700">
            <a:solidFill>
              <a:srgbClr val="E4F3F1"/>
            </a:solidFill>
            <a:prstDash val="solid"/>
          </a:ln>
        </p:spPr>
      </p:sp>
      <p:sp>
        <p:nvSpPr>
          <p:cNvPr id="17" name="Text 15"/>
          <p:cNvSpPr txBox="1"/>
          <p:nvPr/>
        </p:nvSpPr>
        <p:spPr>
          <a:xfrm>
            <a:off x="3611880" y="2286000"/>
            <a:ext cx="7848295" cy="777240"/>
          </a:xfrm>
          <a:prstGeom prst="rect">
            <a:avLst/>
          </a:prstGeom>
          <a:noFill/>
          <a:ln/>
        </p:spPr>
        <p:txBody>
          <a:bodyPr wrap="square" lIns="0" tIns="0" rIns="0" bIns="0" rtlCol="0" anchor="ctr"/>
          <a:lstStyle/>
          <a:p>
            <a:pPr indent="0" marL="0">
              <a:buNone/>
            </a:pPr>
            <a:r>
              <a:rPr lang="en-US" sz="1200" b="1" dirty="0">
                <a:solidFill>
                  <a:srgbClr val="16181D"/>
                </a:solidFill>
                <a:latin typeface="Arial" pitchFamily="34" charset="0"/>
                <a:ea typeface="Arial" pitchFamily="34" charset="-122"/>
                <a:cs typeface="Arial" pitchFamily="34" charset="-120"/>
              </a:rPr>
              <a:t>Einmal gepflegt, an alle Ausgaben vererbt: </a:t>
            </a:r>
            <a:pPr indent="0" marL="0">
              <a:buNone/>
            </a:pPr>
            <a:r>
              <a:rPr lang="en-US" sz="1200" dirty="0">
                <a:solidFill>
                  <a:srgbClr val="16181D"/>
                </a:solidFill>
                <a:latin typeface="Arial" pitchFamily="34" charset="0"/>
                <a:ea typeface="Arial" pitchFamily="34" charset="-122"/>
                <a:cs typeface="Arial" pitchFamily="34" charset="-120"/>
              </a:rPr>
              <a:t>AutorInnen, Reihe „Die Roten Hefte“, Band 75, Auflage, Erscheinungsjahr 2026, Umfang 164 Seiten / 36 Abb. / 9 Tab., Produktbeschreibung, Cover, Fachbereich.</a:t>
            </a:r>
            <a:endParaRPr lang="en-US" sz="1200" dirty="0"/>
          </a:p>
        </p:txBody>
      </p:sp>
      <p:sp>
        <p:nvSpPr>
          <p:cNvPr id="18" name="Text 16"/>
          <p:cNvSpPr txBox="1"/>
          <p:nvPr/>
        </p:nvSpPr>
        <p:spPr>
          <a:xfrm>
            <a:off x="3429000" y="3246120"/>
            <a:ext cx="8214055" cy="228600"/>
          </a:xfrm>
          <a:prstGeom prst="rect">
            <a:avLst/>
          </a:prstGeom>
          <a:noFill/>
          <a:ln/>
        </p:spPr>
        <p:txBody>
          <a:bodyPr wrap="square" lIns="0" tIns="0" rIns="0" bIns="0" rtlCol="0" anchor="t"/>
          <a:lstStyle/>
          <a:p>
            <a:pPr indent="0" marL="0">
              <a:buNone/>
            </a:pPr>
            <a:r>
              <a:rPr lang="en-US" sz="1000" b="1" spc="100" kern="0" dirty="0">
                <a:solidFill>
                  <a:srgbClr val="4B5563"/>
                </a:solidFill>
                <a:latin typeface="Arial" pitchFamily="34" charset="0"/>
                <a:ea typeface="Arial" pitchFamily="34" charset="-122"/>
                <a:cs typeface="Arial" pitchFamily="34" charset="-120"/>
              </a:rPr>
              <a:t>VARIANTEN · NUR ABWEICHUNGEN</a:t>
            </a:r>
            <a:endParaRPr lang="en-US" sz="1000" dirty="0"/>
          </a:p>
        </p:txBody>
      </p:sp>
      <p:sp>
        <p:nvSpPr>
          <p:cNvPr id="19" name="Shape 17"/>
          <p:cNvSpPr/>
          <p:nvPr/>
        </p:nvSpPr>
        <p:spPr>
          <a:xfrm>
            <a:off x="3429000" y="3520440"/>
            <a:ext cx="2616098" cy="1234440"/>
          </a:xfrm>
          <a:prstGeom prst="rect">
            <a:avLst/>
          </a:prstGeom>
          <a:solidFill>
            <a:srgbClr val="FFFFFF"/>
          </a:solidFill>
          <a:ln w="12700">
            <a:solidFill>
              <a:srgbClr val="D6DDE3"/>
            </a:solidFill>
            <a:prstDash val="solid"/>
          </a:ln>
        </p:spPr>
      </p:sp>
      <p:sp>
        <p:nvSpPr>
          <p:cNvPr id="20" name="Text 18"/>
          <p:cNvSpPr txBox="1"/>
          <p:nvPr/>
        </p:nvSpPr>
        <p:spPr>
          <a:xfrm>
            <a:off x="3566160" y="3611880"/>
            <a:ext cx="2341778" cy="274320"/>
          </a:xfrm>
          <a:prstGeom prst="rect">
            <a:avLst/>
          </a:prstGeom>
          <a:noFill/>
          <a:ln/>
        </p:spPr>
        <p:txBody>
          <a:bodyPr wrap="square" lIns="0" tIns="0" rIns="0" bIns="0" rtlCol="0" anchor="t"/>
          <a:lstStyle/>
          <a:p>
            <a:pPr indent="0" marL="0">
              <a:buNone/>
            </a:pPr>
            <a:r>
              <a:rPr lang="en-US" sz="1300" b="1" dirty="0">
                <a:solidFill>
                  <a:srgbClr val="1B2D5C"/>
                </a:solidFill>
                <a:latin typeface="Arial" pitchFamily="34" charset="0"/>
                <a:ea typeface="Arial" pitchFamily="34" charset="-122"/>
                <a:cs typeface="Arial" pitchFamily="34" charset="-120"/>
              </a:rPr>
              <a:t>Print</a:t>
            </a:r>
            <a:endParaRPr lang="en-US" sz="1300" dirty="0"/>
          </a:p>
        </p:txBody>
      </p:sp>
      <p:sp>
        <p:nvSpPr>
          <p:cNvPr id="21" name="Text 19"/>
          <p:cNvSpPr txBox="1"/>
          <p:nvPr/>
        </p:nvSpPr>
        <p:spPr>
          <a:xfrm>
            <a:off x="3566160" y="3913632"/>
            <a:ext cx="2387498" cy="822960"/>
          </a:xfrm>
          <a:prstGeom prst="rect">
            <a:avLst/>
          </a:prstGeom>
          <a:noFill/>
          <a:ln/>
        </p:spPr>
        <p:txBody>
          <a:bodyPr wrap="square" lIns="0" tIns="0" rIns="0" bIns="0" rtlCol="0" anchor="t"/>
          <a:lstStyle/>
          <a:p>
            <a:pPr marL="342900" indent="-342900">
              <a:spcAft>
                <a:spcPts val="600"/>
              </a:spcAft>
              <a:buSzPct val="100000"/>
              <a:buChar char="•"/>
            </a:pPr>
            <a:r>
              <a:rPr lang="en-US" sz="1100" dirty="0">
                <a:solidFill>
                  <a:srgbClr val="16181D"/>
                </a:solidFill>
                <a:latin typeface="Arial" pitchFamily="34" charset="0"/>
                <a:ea typeface="Arial" pitchFamily="34" charset="-122"/>
                <a:cs typeface="Arial" pitchFamily="34" charset="-120"/>
              </a:rPr>
              <a:t>ISBN 978-3-17-040610-0</a:t>
            </a:r>
            <a:endParaRPr lang="en-US" sz="1100" dirty="0"/>
          </a:p>
          <a:p>
            <a:pPr marL="342900" indent="-342900">
              <a:spcAft>
                <a:spcPts val="600"/>
              </a:spcAft>
              <a:buSzPct val="100000"/>
              <a:buChar char="•"/>
            </a:pPr>
            <a:r>
              <a:rPr lang="en-US" sz="1100" dirty="0">
                <a:solidFill>
                  <a:srgbClr val="16181D"/>
                </a:solidFill>
                <a:latin typeface="Arial" pitchFamily="34" charset="0"/>
                <a:ea typeface="Arial" pitchFamily="34" charset="-122"/>
                <a:cs typeface="Arial" pitchFamily="34" charset="-120"/>
              </a:rPr>
              <a:t>19,00 € inkl. MwSt.</a:t>
            </a:r>
            <a:endParaRPr lang="en-US" sz="1100" dirty="0"/>
          </a:p>
          <a:p>
            <a:pPr marL="342900" indent="-342900">
              <a:spcAft>
                <a:spcPts val="600"/>
              </a:spcAft>
              <a:buSzPct val="100000"/>
              <a:buChar char="•"/>
            </a:pPr>
            <a:r>
              <a:rPr lang="en-US" sz="1100" dirty="0">
                <a:solidFill>
                  <a:srgbClr val="16181D"/>
                </a:solidFill>
                <a:latin typeface="Arial" pitchFamily="34" charset="0"/>
                <a:ea typeface="Arial" pitchFamily="34" charset="-122"/>
                <a:cs typeface="Arial" pitchFamily="34" charset="-120"/>
              </a:rPr>
              <a:t>kartoniert, 148 × 105 × 10 mm</a:t>
            </a:r>
            <a:endParaRPr lang="en-US" sz="1100" dirty="0"/>
          </a:p>
        </p:txBody>
      </p:sp>
      <p:sp>
        <p:nvSpPr>
          <p:cNvPr id="22" name="Shape 20"/>
          <p:cNvSpPr/>
          <p:nvPr/>
        </p:nvSpPr>
        <p:spPr>
          <a:xfrm>
            <a:off x="6227978" y="3520440"/>
            <a:ext cx="2616098" cy="1234440"/>
          </a:xfrm>
          <a:prstGeom prst="rect">
            <a:avLst/>
          </a:prstGeom>
          <a:solidFill>
            <a:srgbClr val="FFFFFF"/>
          </a:solidFill>
          <a:ln w="12700">
            <a:solidFill>
              <a:srgbClr val="D6DDE3"/>
            </a:solidFill>
            <a:prstDash val="solid"/>
          </a:ln>
        </p:spPr>
      </p:sp>
      <p:sp>
        <p:nvSpPr>
          <p:cNvPr id="23" name="Text 21"/>
          <p:cNvSpPr txBox="1"/>
          <p:nvPr/>
        </p:nvSpPr>
        <p:spPr>
          <a:xfrm>
            <a:off x="6365138" y="3611880"/>
            <a:ext cx="2341778" cy="274320"/>
          </a:xfrm>
          <a:prstGeom prst="rect">
            <a:avLst/>
          </a:prstGeom>
          <a:noFill/>
          <a:ln/>
        </p:spPr>
        <p:txBody>
          <a:bodyPr wrap="square" lIns="0" tIns="0" rIns="0" bIns="0" rtlCol="0" anchor="t"/>
          <a:lstStyle/>
          <a:p>
            <a:pPr indent="0" marL="0">
              <a:buNone/>
            </a:pPr>
            <a:r>
              <a:rPr lang="en-US" sz="1300" b="1" dirty="0">
                <a:solidFill>
                  <a:srgbClr val="1B2D5C"/>
                </a:solidFill>
                <a:latin typeface="Arial" pitchFamily="34" charset="0"/>
                <a:ea typeface="Arial" pitchFamily="34" charset="-122"/>
                <a:cs typeface="Arial" pitchFamily="34" charset="-120"/>
              </a:rPr>
              <a:t>eBook (PDF)</a:t>
            </a:r>
            <a:endParaRPr lang="en-US" sz="1300" dirty="0"/>
          </a:p>
        </p:txBody>
      </p:sp>
      <p:sp>
        <p:nvSpPr>
          <p:cNvPr id="24" name="Text 22"/>
          <p:cNvSpPr txBox="1"/>
          <p:nvPr/>
        </p:nvSpPr>
        <p:spPr>
          <a:xfrm>
            <a:off x="6365138" y="3913632"/>
            <a:ext cx="2387498" cy="822960"/>
          </a:xfrm>
          <a:prstGeom prst="rect">
            <a:avLst/>
          </a:prstGeom>
          <a:noFill/>
          <a:ln/>
        </p:spPr>
        <p:txBody>
          <a:bodyPr wrap="square" lIns="0" tIns="0" rIns="0" bIns="0" rtlCol="0" anchor="t"/>
          <a:lstStyle/>
          <a:p>
            <a:pPr marL="342900" indent="-342900">
              <a:spcAft>
                <a:spcPts val="600"/>
              </a:spcAft>
              <a:buSzPct val="100000"/>
              <a:buChar char="•"/>
            </a:pPr>
            <a:r>
              <a:rPr lang="en-US" sz="1100" dirty="0">
                <a:solidFill>
                  <a:srgbClr val="16181D"/>
                </a:solidFill>
                <a:latin typeface="Arial" pitchFamily="34" charset="0"/>
                <a:ea typeface="Arial" pitchFamily="34" charset="-122"/>
                <a:cs typeface="Arial" pitchFamily="34" charset="-120"/>
              </a:rPr>
              <a:t>eigene ISBN</a:t>
            </a:r>
            <a:endParaRPr lang="en-US" sz="1100" dirty="0"/>
          </a:p>
          <a:p>
            <a:pPr marL="342900" indent="-342900">
              <a:spcAft>
                <a:spcPts val="600"/>
              </a:spcAft>
              <a:buSzPct val="100000"/>
              <a:buChar char="•"/>
            </a:pPr>
            <a:r>
              <a:rPr lang="en-US" sz="1100" dirty="0">
                <a:solidFill>
                  <a:srgbClr val="16181D"/>
                </a:solidFill>
                <a:latin typeface="Arial" pitchFamily="34" charset="0"/>
                <a:ea typeface="Arial" pitchFamily="34" charset="-122"/>
                <a:cs typeface="Arial" pitchFamily="34" charset="-120"/>
              </a:rPr>
              <a:t>eigener Preis</a:t>
            </a:r>
            <a:endParaRPr lang="en-US" sz="1100" dirty="0"/>
          </a:p>
          <a:p>
            <a:pPr marL="342900" indent="-342900">
              <a:spcAft>
                <a:spcPts val="600"/>
              </a:spcAft>
              <a:buSzPct val="100000"/>
              <a:buChar char="•"/>
            </a:pPr>
            <a:r>
              <a:rPr lang="en-US" sz="1100" dirty="0">
                <a:solidFill>
                  <a:srgbClr val="16181D"/>
                </a:solidFill>
                <a:latin typeface="Arial" pitchFamily="34" charset="0"/>
                <a:ea typeface="Arial" pitchFamily="34" charset="-122"/>
                <a:cs typeface="Arial" pitchFamily="34" charset="-120"/>
              </a:rPr>
              <a:t>Datei als Download-Asset</a:t>
            </a:r>
            <a:endParaRPr lang="en-US" sz="1100" dirty="0"/>
          </a:p>
        </p:txBody>
      </p:sp>
      <p:sp>
        <p:nvSpPr>
          <p:cNvPr id="25" name="Shape 23"/>
          <p:cNvSpPr/>
          <p:nvPr/>
        </p:nvSpPr>
        <p:spPr>
          <a:xfrm>
            <a:off x="9026957" y="3520440"/>
            <a:ext cx="2616098" cy="1234440"/>
          </a:xfrm>
          <a:prstGeom prst="rect">
            <a:avLst/>
          </a:prstGeom>
          <a:solidFill>
            <a:srgbClr val="FFFFFF"/>
          </a:solidFill>
          <a:ln w="12700">
            <a:solidFill>
              <a:srgbClr val="D6DDE3"/>
            </a:solidFill>
            <a:prstDash val="solid"/>
          </a:ln>
        </p:spPr>
      </p:sp>
      <p:sp>
        <p:nvSpPr>
          <p:cNvPr id="26" name="Text 24"/>
          <p:cNvSpPr txBox="1"/>
          <p:nvPr/>
        </p:nvSpPr>
        <p:spPr>
          <a:xfrm>
            <a:off x="9164117" y="3611880"/>
            <a:ext cx="2341778" cy="274320"/>
          </a:xfrm>
          <a:prstGeom prst="rect">
            <a:avLst/>
          </a:prstGeom>
          <a:noFill/>
          <a:ln/>
        </p:spPr>
        <p:txBody>
          <a:bodyPr wrap="square" lIns="0" tIns="0" rIns="0" bIns="0" rtlCol="0" anchor="t"/>
          <a:lstStyle/>
          <a:p>
            <a:pPr indent="0" marL="0">
              <a:buNone/>
            </a:pPr>
            <a:r>
              <a:rPr lang="en-US" sz="1300" b="1" dirty="0">
                <a:solidFill>
                  <a:srgbClr val="1B2D5C"/>
                </a:solidFill>
                <a:latin typeface="Arial" pitchFamily="34" charset="0"/>
                <a:ea typeface="Arial" pitchFamily="34" charset="-122"/>
                <a:cs typeface="Arial" pitchFamily="34" charset="-120"/>
              </a:rPr>
              <a:t>eBook (ePub)</a:t>
            </a:r>
            <a:endParaRPr lang="en-US" sz="1300" dirty="0"/>
          </a:p>
        </p:txBody>
      </p:sp>
      <p:sp>
        <p:nvSpPr>
          <p:cNvPr id="27" name="Text 25"/>
          <p:cNvSpPr txBox="1"/>
          <p:nvPr/>
        </p:nvSpPr>
        <p:spPr>
          <a:xfrm>
            <a:off x="9164117" y="3913632"/>
            <a:ext cx="2387498" cy="822960"/>
          </a:xfrm>
          <a:prstGeom prst="rect">
            <a:avLst/>
          </a:prstGeom>
          <a:noFill/>
          <a:ln/>
        </p:spPr>
        <p:txBody>
          <a:bodyPr wrap="square" lIns="0" tIns="0" rIns="0" bIns="0" rtlCol="0" anchor="t"/>
          <a:lstStyle/>
          <a:p>
            <a:pPr marL="342900" indent="-342900">
              <a:spcAft>
                <a:spcPts val="600"/>
              </a:spcAft>
              <a:buSzPct val="100000"/>
              <a:buChar char="•"/>
            </a:pPr>
            <a:r>
              <a:rPr lang="en-US" sz="1100" dirty="0">
                <a:solidFill>
                  <a:srgbClr val="16181D"/>
                </a:solidFill>
                <a:latin typeface="Arial" pitchFamily="34" charset="0"/>
                <a:ea typeface="Arial" pitchFamily="34" charset="-122"/>
                <a:cs typeface="Arial" pitchFamily="34" charset="-120"/>
              </a:rPr>
              <a:t>eigene ISBN</a:t>
            </a:r>
            <a:endParaRPr lang="en-US" sz="1100" dirty="0"/>
          </a:p>
          <a:p>
            <a:pPr marL="342900" indent="-342900">
              <a:spcAft>
                <a:spcPts val="600"/>
              </a:spcAft>
              <a:buSzPct val="100000"/>
              <a:buChar char="•"/>
            </a:pPr>
            <a:r>
              <a:rPr lang="en-US" sz="1100" dirty="0">
                <a:solidFill>
                  <a:srgbClr val="16181D"/>
                </a:solidFill>
                <a:latin typeface="Arial" pitchFamily="34" charset="0"/>
                <a:ea typeface="Arial" pitchFamily="34" charset="-122"/>
                <a:cs typeface="Arial" pitchFamily="34" charset="-120"/>
              </a:rPr>
              <a:t>eigener Preis</a:t>
            </a:r>
            <a:endParaRPr lang="en-US" sz="1100" dirty="0"/>
          </a:p>
          <a:p>
            <a:pPr marL="342900" indent="-342900">
              <a:spcAft>
                <a:spcPts val="600"/>
              </a:spcAft>
              <a:buSzPct val="100000"/>
              <a:buChar char="•"/>
            </a:pPr>
            <a:r>
              <a:rPr lang="en-US" sz="1100" dirty="0">
                <a:solidFill>
                  <a:srgbClr val="16181D"/>
                </a:solidFill>
                <a:latin typeface="Arial" pitchFamily="34" charset="0"/>
                <a:ea typeface="Arial" pitchFamily="34" charset="-122"/>
                <a:cs typeface="Arial" pitchFamily="34" charset="-120"/>
              </a:rPr>
              <a:t>Datei als Download-Asset</a:t>
            </a:r>
            <a:endParaRPr lang="en-US" sz="1100" dirty="0"/>
          </a:p>
        </p:txBody>
      </p:sp>
      <p:sp>
        <p:nvSpPr>
          <p:cNvPr id="28" name="Text 26"/>
          <p:cNvSpPr txBox="1"/>
          <p:nvPr/>
        </p:nvSpPr>
        <p:spPr>
          <a:xfrm>
            <a:off x="3429000" y="4937760"/>
            <a:ext cx="8214055" cy="228600"/>
          </a:xfrm>
          <a:prstGeom prst="rect">
            <a:avLst/>
          </a:prstGeom>
          <a:noFill/>
          <a:ln/>
        </p:spPr>
        <p:txBody>
          <a:bodyPr wrap="square" lIns="0" tIns="0" rIns="0" bIns="0" rtlCol="0" anchor="t"/>
          <a:lstStyle/>
          <a:p>
            <a:pPr indent="0" marL="0">
              <a:buNone/>
            </a:pPr>
            <a:r>
              <a:rPr lang="en-US" sz="1000" b="1" spc="100" kern="0" dirty="0">
                <a:solidFill>
                  <a:srgbClr val="4B5563"/>
                </a:solidFill>
                <a:latin typeface="Arial" pitchFamily="34" charset="0"/>
                <a:ea typeface="Arial" pitchFamily="34" charset="-122"/>
                <a:cs typeface="Arial" pitchFamily="34" charset="-120"/>
              </a:rPr>
              <a:t>HIERARCHIEN · EIN TITEL, MEHRERE ORDNUNGEN</a:t>
            </a:r>
            <a:endParaRPr lang="en-US" sz="1000" dirty="0"/>
          </a:p>
        </p:txBody>
      </p:sp>
      <p:sp>
        <p:nvSpPr>
          <p:cNvPr id="29" name="Shape 27"/>
          <p:cNvSpPr/>
          <p:nvPr/>
        </p:nvSpPr>
        <p:spPr>
          <a:xfrm>
            <a:off x="3429000" y="5212080"/>
            <a:ext cx="1950644" cy="914400"/>
          </a:xfrm>
          <a:prstGeom prst="rect">
            <a:avLst/>
          </a:prstGeom>
          <a:solidFill>
            <a:srgbClr val="EEF0F2"/>
          </a:solidFill>
          <a:ln w="12700">
            <a:solidFill>
              <a:srgbClr val="EEF0F2"/>
            </a:solidFill>
            <a:prstDash val="solid"/>
          </a:ln>
        </p:spPr>
      </p:sp>
      <p:sp>
        <p:nvSpPr>
          <p:cNvPr id="30" name="Text 28"/>
          <p:cNvSpPr txBox="1"/>
          <p:nvPr/>
        </p:nvSpPr>
        <p:spPr>
          <a:xfrm>
            <a:off x="3538728" y="5285232"/>
            <a:ext cx="1731188" cy="201168"/>
          </a:xfrm>
          <a:prstGeom prst="rect">
            <a:avLst/>
          </a:prstGeom>
          <a:noFill/>
          <a:ln/>
        </p:spPr>
        <p:txBody>
          <a:bodyPr wrap="square" lIns="0" tIns="0" rIns="0" bIns="0" rtlCol="0" anchor="t"/>
          <a:lstStyle/>
          <a:p>
            <a:pPr indent="0" marL="0">
              <a:buNone/>
            </a:pPr>
            <a:r>
              <a:rPr lang="en-US" sz="900" b="1" dirty="0">
                <a:solidFill>
                  <a:srgbClr val="4B5563"/>
                </a:solidFill>
                <a:latin typeface="Arial" pitchFamily="34" charset="0"/>
                <a:ea typeface="Arial" pitchFamily="34" charset="-122"/>
                <a:cs typeface="Arial" pitchFamily="34" charset="-120"/>
              </a:rPr>
              <a:t>MASTER</a:t>
            </a:r>
            <a:endParaRPr lang="en-US" sz="900" dirty="0"/>
          </a:p>
        </p:txBody>
      </p:sp>
      <p:sp>
        <p:nvSpPr>
          <p:cNvPr id="31" name="Text 29"/>
          <p:cNvSpPr txBox="1"/>
          <p:nvPr/>
        </p:nvSpPr>
        <p:spPr>
          <a:xfrm>
            <a:off x="3538728" y="5504688"/>
            <a:ext cx="1731188" cy="548640"/>
          </a:xfrm>
          <a:prstGeom prst="rect">
            <a:avLst/>
          </a:prstGeom>
          <a:noFill/>
          <a:ln/>
        </p:spPr>
        <p:txBody>
          <a:bodyPr wrap="square" lIns="0" tIns="0" rIns="0" bIns="0" rtlCol="0" anchor="t"/>
          <a:lstStyle/>
          <a:p>
            <a:pPr indent="0" marL="0">
              <a:buNone/>
            </a:pPr>
            <a:r>
              <a:rPr lang="en-US" sz="1100" dirty="0">
                <a:solidFill>
                  <a:srgbClr val="16181D"/>
                </a:solidFill>
                <a:latin typeface="Arial" pitchFamily="34" charset="0"/>
                <a:ea typeface="Arial" pitchFamily="34" charset="-122"/>
                <a:cs typeface="Arial" pitchFamily="34" charset="-120"/>
              </a:rPr>
              <a:t>Brandschutz › Bautechnik / Vorb. Brandschutz</a:t>
            </a:r>
            <a:endParaRPr lang="en-US" sz="1100" dirty="0"/>
          </a:p>
        </p:txBody>
      </p:sp>
      <p:sp>
        <p:nvSpPr>
          <p:cNvPr id="32" name="Shape 30"/>
          <p:cNvSpPr/>
          <p:nvPr/>
        </p:nvSpPr>
        <p:spPr>
          <a:xfrm>
            <a:off x="5516804" y="5212080"/>
            <a:ext cx="1950644" cy="914400"/>
          </a:xfrm>
          <a:prstGeom prst="rect">
            <a:avLst/>
          </a:prstGeom>
          <a:solidFill>
            <a:srgbClr val="EEF0F2"/>
          </a:solidFill>
          <a:ln w="12700">
            <a:solidFill>
              <a:srgbClr val="EEF0F2"/>
            </a:solidFill>
            <a:prstDash val="solid"/>
          </a:ln>
        </p:spPr>
      </p:sp>
      <p:sp>
        <p:nvSpPr>
          <p:cNvPr id="33" name="Text 31"/>
          <p:cNvSpPr txBox="1"/>
          <p:nvPr/>
        </p:nvSpPr>
        <p:spPr>
          <a:xfrm>
            <a:off x="5626532" y="5285232"/>
            <a:ext cx="1731188" cy="201168"/>
          </a:xfrm>
          <a:prstGeom prst="rect">
            <a:avLst/>
          </a:prstGeom>
          <a:noFill/>
          <a:ln/>
        </p:spPr>
        <p:txBody>
          <a:bodyPr wrap="square" lIns="0" tIns="0" rIns="0" bIns="0" rtlCol="0" anchor="t"/>
          <a:lstStyle/>
          <a:p>
            <a:pPr indent="0" marL="0">
              <a:buNone/>
            </a:pPr>
            <a:r>
              <a:rPr lang="en-US" sz="900" b="1" dirty="0">
                <a:solidFill>
                  <a:srgbClr val="4B5563"/>
                </a:solidFill>
                <a:latin typeface="Arial" pitchFamily="34" charset="0"/>
                <a:ea typeface="Arial" pitchFamily="34" charset="-122"/>
                <a:cs typeface="Arial" pitchFamily="34" charset="-120"/>
              </a:rPr>
              <a:t>OUTPUT: SHOP</a:t>
            </a:r>
            <a:endParaRPr lang="en-US" sz="900" dirty="0"/>
          </a:p>
        </p:txBody>
      </p:sp>
      <p:sp>
        <p:nvSpPr>
          <p:cNvPr id="34" name="Text 32"/>
          <p:cNvSpPr txBox="1"/>
          <p:nvPr/>
        </p:nvSpPr>
        <p:spPr>
          <a:xfrm>
            <a:off x="5626532" y="5504688"/>
            <a:ext cx="1731188" cy="548640"/>
          </a:xfrm>
          <a:prstGeom prst="rect">
            <a:avLst/>
          </a:prstGeom>
          <a:noFill/>
          <a:ln/>
        </p:spPr>
        <p:txBody>
          <a:bodyPr wrap="square" lIns="0" tIns="0" rIns="0" bIns="0" rtlCol="0" anchor="t"/>
          <a:lstStyle/>
          <a:p>
            <a:pPr indent="0" marL="0">
              <a:buNone/>
            </a:pPr>
            <a:r>
              <a:rPr lang="en-US" sz="1100" dirty="0">
                <a:solidFill>
                  <a:srgbClr val="16181D"/>
                </a:solidFill>
                <a:latin typeface="Arial" pitchFamily="34" charset="0"/>
                <a:ea typeface="Arial" pitchFamily="34" charset="-122"/>
                <a:cs typeface="Arial" pitchFamily="34" charset="-120"/>
              </a:rPr>
              <a:t>Navigation und Filter des Shops</a:t>
            </a:r>
            <a:endParaRPr lang="en-US" sz="1100" dirty="0"/>
          </a:p>
        </p:txBody>
      </p:sp>
      <p:sp>
        <p:nvSpPr>
          <p:cNvPr id="35" name="Shape 33"/>
          <p:cNvSpPr/>
          <p:nvPr/>
        </p:nvSpPr>
        <p:spPr>
          <a:xfrm>
            <a:off x="7604608" y="5212080"/>
            <a:ext cx="1950644" cy="914400"/>
          </a:xfrm>
          <a:prstGeom prst="rect">
            <a:avLst/>
          </a:prstGeom>
          <a:solidFill>
            <a:srgbClr val="EEF0F2"/>
          </a:solidFill>
          <a:ln w="12700">
            <a:solidFill>
              <a:srgbClr val="EEF0F2"/>
            </a:solidFill>
            <a:prstDash val="solid"/>
          </a:ln>
        </p:spPr>
      </p:sp>
      <p:sp>
        <p:nvSpPr>
          <p:cNvPr id="36" name="Text 34"/>
          <p:cNvSpPr txBox="1"/>
          <p:nvPr/>
        </p:nvSpPr>
        <p:spPr>
          <a:xfrm>
            <a:off x="7714336" y="5285232"/>
            <a:ext cx="1731188" cy="201168"/>
          </a:xfrm>
          <a:prstGeom prst="rect">
            <a:avLst/>
          </a:prstGeom>
          <a:noFill/>
          <a:ln/>
        </p:spPr>
        <p:txBody>
          <a:bodyPr wrap="square" lIns="0" tIns="0" rIns="0" bIns="0" rtlCol="0" anchor="t"/>
          <a:lstStyle/>
          <a:p>
            <a:pPr indent="0" marL="0">
              <a:buNone/>
            </a:pPr>
            <a:r>
              <a:rPr lang="en-US" sz="900" b="1" dirty="0">
                <a:solidFill>
                  <a:srgbClr val="4B5563"/>
                </a:solidFill>
                <a:latin typeface="Arial" pitchFamily="34" charset="0"/>
                <a:ea typeface="Arial" pitchFamily="34" charset="-122"/>
                <a:cs typeface="Arial" pitchFamily="34" charset="-120"/>
              </a:rPr>
              <a:t>OUTPUT: REIHE</a:t>
            </a:r>
            <a:endParaRPr lang="en-US" sz="900" dirty="0"/>
          </a:p>
        </p:txBody>
      </p:sp>
      <p:sp>
        <p:nvSpPr>
          <p:cNvPr id="37" name="Text 35"/>
          <p:cNvSpPr txBox="1"/>
          <p:nvPr/>
        </p:nvSpPr>
        <p:spPr>
          <a:xfrm>
            <a:off x="7714336" y="5504688"/>
            <a:ext cx="1731188" cy="548640"/>
          </a:xfrm>
          <a:prstGeom prst="rect">
            <a:avLst/>
          </a:prstGeom>
          <a:noFill/>
          <a:ln/>
        </p:spPr>
        <p:txBody>
          <a:bodyPr wrap="square" lIns="0" tIns="0" rIns="0" bIns="0" rtlCol="0" anchor="t"/>
          <a:lstStyle/>
          <a:p>
            <a:pPr indent="0" marL="0">
              <a:buNone/>
            </a:pPr>
            <a:r>
              <a:rPr lang="en-US" sz="1100" dirty="0">
                <a:solidFill>
                  <a:srgbClr val="16181D"/>
                </a:solidFill>
                <a:latin typeface="Arial" pitchFamily="34" charset="0"/>
                <a:ea typeface="Arial" pitchFamily="34" charset="-122"/>
                <a:cs typeface="Arial" pitchFamily="34" charset="-120"/>
              </a:rPr>
              <a:t>Die Roten Hefte › Band 75</a:t>
            </a:r>
            <a:endParaRPr lang="en-US" sz="1100" dirty="0"/>
          </a:p>
        </p:txBody>
      </p:sp>
      <p:sp>
        <p:nvSpPr>
          <p:cNvPr id="38" name="Shape 36"/>
          <p:cNvSpPr/>
          <p:nvPr/>
        </p:nvSpPr>
        <p:spPr>
          <a:xfrm>
            <a:off x="9692411" y="5212080"/>
            <a:ext cx="1950644" cy="914400"/>
          </a:xfrm>
          <a:prstGeom prst="rect">
            <a:avLst/>
          </a:prstGeom>
          <a:solidFill>
            <a:srgbClr val="EEF0F2"/>
          </a:solidFill>
          <a:ln w="12700">
            <a:solidFill>
              <a:srgbClr val="EEF0F2"/>
            </a:solidFill>
            <a:prstDash val="solid"/>
          </a:ln>
        </p:spPr>
      </p:sp>
      <p:sp>
        <p:nvSpPr>
          <p:cNvPr id="39" name="Text 37"/>
          <p:cNvSpPr txBox="1"/>
          <p:nvPr/>
        </p:nvSpPr>
        <p:spPr>
          <a:xfrm>
            <a:off x="9802139" y="5285232"/>
            <a:ext cx="1731188" cy="201168"/>
          </a:xfrm>
          <a:prstGeom prst="rect">
            <a:avLst/>
          </a:prstGeom>
          <a:noFill/>
          <a:ln/>
        </p:spPr>
        <p:txBody>
          <a:bodyPr wrap="square" lIns="0" tIns="0" rIns="0" bIns="0" rtlCol="0" anchor="t"/>
          <a:lstStyle/>
          <a:p>
            <a:pPr indent="0" marL="0">
              <a:buNone/>
            </a:pPr>
            <a:r>
              <a:rPr lang="en-US" sz="900" b="1" dirty="0">
                <a:solidFill>
                  <a:srgbClr val="4B5563"/>
                </a:solidFill>
                <a:latin typeface="Arial" pitchFamily="34" charset="0"/>
                <a:ea typeface="Arial" pitchFamily="34" charset="-122"/>
                <a:cs typeface="Arial" pitchFamily="34" charset="-120"/>
              </a:rPr>
              <a:t>OUTPUT: HANDEL</a:t>
            </a:r>
            <a:endParaRPr lang="en-US" sz="900" dirty="0"/>
          </a:p>
        </p:txBody>
      </p:sp>
      <p:sp>
        <p:nvSpPr>
          <p:cNvPr id="40" name="Text 38"/>
          <p:cNvSpPr txBox="1"/>
          <p:nvPr/>
        </p:nvSpPr>
        <p:spPr>
          <a:xfrm>
            <a:off x="9802139" y="5504688"/>
            <a:ext cx="1731188" cy="548640"/>
          </a:xfrm>
          <a:prstGeom prst="rect">
            <a:avLst/>
          </a:prstGeom>
          <a:noFill/>
          <a:ln/>
        </p:spPr>
        <p:txBody>
          <a:bodyPr wrap="square" lIns="0" tIns="0" rIns="0" bIns="0" rtlCol="0" anchor="t"/>
          <a:lstStyle/>
          <a:p>
            <a:pPr indent="0" marL="0">
              <a:buNone/>
            </a:pPr>
            <a:r>
              <a:rPr lang="en-US" sz="1100" dirty="0">
                <a:solidFill>
                  <a:srgbClr val="16181D"/>
                </a:solidFill>
                <a:latin typeface="Arial" pitchFamily="34" charset="0"/>
                <a:ea typeface="Arial" pitchFamily="34" charset="-122"/>
                <a:cs typeface="Arial" pitchFamily="34" charset="-120"/>
              </a:rPr>
              <a:t>z. B. Thema / Warengruppe</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594360"/>
          </a:xfrm>
          <a:prstGeom prst="rect">
            <a:avLst/>
          </a:prstGeom>
          <a:noFill/>
          <a:ln/>
        </p:spPr>
        <p:txBody>
          <a:bodyPr wrap="square" lIns="0" tIns="0" rIns="0" bIns="0" rtlCol="0" anchor="b"/>
          <a:lstStyle/>
          <a:p>
            <a:pPr indent="0" marL="0">
              <a:buNone/>
            </a:pPr>
            <a:r>
              <a:rPr lang="en-US" sz="3000" dirty="0">
                <a:solidFill>
                  <a:srgbClr val="16181D"/>
                </a:solidFill>
                <a:latin typeface="Arial" pitchFamily="34" charset="0"/>
                <a:ea typeface="Arial" pitchFamily="34" charset="-122"/>
                <a:cs typeface="Arial" pitchFamily="34" charset="-120"/>
              </a:rPr>
              <a:t>IHRE BEREICHE – WAS ANYPIM LIEFERT</a:t>
            </a:r>
            <a:endParaRPr lang="en-US" sz="3000" dirty="0"/>
          </a:p>
        </p:txBody>
      </p:sp>
      <p:sp>
        <p:nvSpPr>
          <p:cNvPr id="3" name="Text 1"/>
          <p:cNvSpPr txBox="1"/>
          <p:nvPr/>
        </p:nvSpPr>
        <p:spPr>
          <a:xfrm>
            <a:off x="548640" y="1033272"/>
            <a:ext cx="11094415" cy="365760"/>
          </a:xfrm>
          <a:prstGeom prst="rect">
            <a:avLst/>
          </a:prstGeom>
          <a:noFill/>
          <a:ln/>
        </p:spPr>
        <p:txBody>
          <a:bodyPr wrap="square" lIns="0" tIns="0" rIns="0" bIns="0" rtlCol="0" anchor="t"/>
          <a:lstStyle/>
          <a:p>
            <a:pPr indent="0" marL="0">
              <a:buNone/>
            </a:pPr>
            <a:r>
              <a:rPr lang="en-US" sz="1400" dirty="0">
                <a:solidFill>
                  <a:srgbClr val="4B5563"/>
                </a:solidFill>
                <a:latin typeface="Arial" pitchFamily="34" charset="0"/>
                <a:ea typeface="Arial" pitchFamily="34" charset="-122"/>
                <a:cs typeface="Arial" pitchFamily="34" charset="-120"/>
              </a:rPr>
              <a:t>Die Servicebereiche von kohlhammer.de, zugeordnet zu Funktionen, die heute im Produkt vorhanden sind.</a:t>
            </a:r>
            <a:endParaRPr lang="en-US" sz="1400" dirty="0"/>
          </a:p>
        </p:txBody>
      </p:sp>
      <p:sp>
        <p:nvSpPr>
          <p:cNvPr id="4" name="Text 2"/>
          <p:cNvSpPr txBox="1"/>
          <p:nvPr/>
        </p:nvSpPr>
        <p:spPr>
          <a:xfrm>
            <a:off x="548640" y="6400800"/>
            <a:ext cx="7315200" cy="228600"/>
          </a:xfrm>
          <a:prstGeom prst="rect">
            <a:avLst/>
          </a:prstGeom>
          <a:noFill/>
          <a:ln/>
        </p:spPr>
        <p:txBody>
          <a:bodyPr wrap="square" lIns="0" tIns="0" rIns="0" bIns="0" rtlCol="0" anchor="t"/>
          <a:lstStyle/>
          <a:p>
            <a:pPr indent="0" marL="0">
              <a:buNone/>
            </a:pPr>
            <a:r>
              <a:rPr lang="en-US" sz="900" dirty="0">
                <a:solidFill>
                  <a:srgbClr val="4B5563"/>
                </a:solidFill>
                <a:latin typeface="Arial" pitchFamily="34" charset="0"/>
                <a:ea typeface="Arial" pitchFamily="34" charset="-122"/>
                <a:cs typeface="Arial" pitchFamily="34" charset="-120"/>
              </a:rPr>
              <a:t>anyPIM für Kohlhammer  ·  Entscheidungsvorlage  ·  September 2026</a:t>
            </a:r>
            <a:endParaRPr lang="en-US" sz="900" dirty="0"/>
          </a:p>
        </p:txBody>
      </p:sp>
      <p:sp>
        <p:nvSpPr>
          <p:cNvPr id="5" name="Text 3"/>
          <p:cNvSpPr txBox="1"/>
          <p:nvPr/>
        </p:nvSpPr>
        <p:spPr>
          <a:xfrm>
            <a:off x="10728655" y="6400800"/>
            <a:ext cx="914400" cy="228600"/>
          </a:xfrm>
          <a:prstGeom prst="rect">
            <a:avLst/>
          </a:prstGeom>
          <a:noFill/>
          <a:ln/>
        </p:spPr>
        <p:txBody>
          <a:bodyPr wrap="square" lIns="0" tIns="0" rIns="0" bIns="0" rtlCol="0" anchor="t"/>
          <a:lstStyle/>
          <a:p>
            <a:pPr algn="r" indent="0" marL="0">
              <a:buNone/>
            </a:pPr>
            <a:r>
              <a:rPr lang="en-US" sz="900" dirty="0">
                <a:solidFill>
                  <a:srgbClr val="4B5563"/>
                </a:solidFill>
                <a:latin typeface="Arial" pitchFamily="34" charset="0"/>
                <a:ea typeface="Arial" pitchFamily="34" charset="-122"/>
                <a:cs typeface="Arial" pitchFamily="34" charset="-120"/>
              </a:rPr>
              <a:t>7</a:t>
            </a:r>
            <a:endParaRPr lang="en-US" sz="900" dirty="0"/>
          </a:p>
        </p:txBody>
      </p:sp>
      <p:sp>
        <p:nvSpPr>
          <p:cNvPr id="6" name="Shape 4"/>
          <p:cNvSpPr/>
          <p:nvPr/>
        </p:nvSpPr>
        <p:spPr>
          <a:xfrm>
            <a:off x="548640" y="1600200"/>
            <a:ext cx="3520440" cy="502920"/>
          </a:xfrm>
          <a:prstGeom prst="rect">
            <a:avLst/>
          </a:prstGeom>
          <a:solidFill>
            <a:srgbClr val="000E2F"/>
          </a:solidFill>
          <a:ln w="12700">
            <a:solidFill>
              <a:srgbClr val="000E2F"/>
            </a:solidFill>
            <a:prstDash val="solid"/>
          </a:ln>
        </p:spPr>
      </p:sp>
      <p:sp>
        <p:nvSpPr>
          <p:cNvPr id="7" name="Text 5"/>
          <p:cNvSpPr txBox="1"/>
          <p:nvPr/>
        </p:nvSpPr>
        <p:spPr>
          <a:xfrm>
            <a:off x="731520" y="1600200"/>
            <a:ext cx="2834640" cy="502920"/>
          </a:xfrm>
          <a:prstGeom prst="rect">
            <a:avLst/>
          </a:prstGeom>
          <a:noFill/>
          <a:ln/>
        </p:spPr>
        <p:txBody>
          <a:bodyPr wrap="square" lIns="0" tIns="0" rIns="0" bIns="0" rtlCol="0" anchor="ctr"/>
          <a:lstStyle/>
          <a:p>
            <a:pPr indent="0" marL="0">
              <a:buNone/>
            </a:pPr>
            <a:r>
              <a:rPr lang="en-US" sz="1400" dirty="0">
                <a:solidFill>
                  <a:srgbClr val="FFFFFF"/>
                </a:solidFill>
                <a:latin typeface="Arial" pitchFamily="34" charset="0"/>
                <a:ea typeface="Arial" pitchFamily="34" charset="-122"/>
                <a:cs typeface="Arial" pitchFamily="34" charset="-120"/>
              </a:rPr>
              <a:t>Buchhandel</a:t>
            </a:r>
            <a:endParaRPr lang="en-US" sz="1400" dirty="0"/>
          </a:p>
        </p:txBody>
      </p:sp>
      <p:sp>
        <p:nvSpPr>
          <p:cNvPr id="8" name="Text 6"/>
          <p:cNvSpPr txBox="1"/>
          <p:nvPr/>
        </p:nvSpPr>
        <p:spPr>
          <a:xfrm>
            <a:off x="3566160" y="1600200"/>
            <a:ext cx="365760" cy="502920"/>
          </a:xfrm>
          <a:prstGeom prst="rect">
            <a:avLst/>
          </a:prstGeom>
          <a:noFill/>
          <a:ln/>
        </p:spPr>
        <p:txBody>
          <a:bodyPr wrap="square" lIns="0" tIns="0" rIns="0" bIns="0" rtlCol="0" anchor="ctr"/>
          <a:lstStyle/>
          <a:p>
            <a:pPr algn="r" indent="0" marL="0">
              <a:buNone/>
            </a:pPr>
            <a:r>
              <a:rPr lang="en-US" sz="1800" dirty="0">
                <a:solidFill>
                  <a:srgbClr val="FFFFFF"/>
                </a:solidFill>
                <a:latin typeface="Arial" pitchFamily="34" charset="0"/>
                <a:ea typeface="Arial" pitchFamily="34" charset="-122"/>
                <a:cs typeface="Arial" pitchFamily="34" charset="-120"/>
              </a:rPr>
              <a:t>→</a:t>
            </a:r>
            <a:endParaRPr lang="en-US" sz="1800" dirty="0"/>
          </a:p>
        </p:txBody>
      </p:sp>
      <p:sp>
        <p:nvSpPr>
          <p:cNvPr id="9" name="Text 7"/>
          <p:cNvSpPr txBox="1"/>
          <p:nvPr/>
        </p:nvSpPr>
        <p:spPr>
          <a:xfrm>
            <a:off x="548640" y="2194560"/>
            <a:ext cx="3520440" cy="868680"/>
          </a:xfrm>
          <a:prstGeom prst="rect">
            <a:avLst/>
          </a:prstGeom>
          <a:noFill/>
          <a:ln/>
        </p:spPr>
        <p:txBody>
          <a:bodyPr wrap="square" lIns="0" tIns="0" rIns="0" bIns="0" rtlCol="0" anchor="t"/>
          <a:lstStyle/>
          <a:p>
            <a:pPr indent="0" marL="0">
              <a:lnSpc>
                <a:spcPct val="105000"/>
              </a:lnSpc>
              <a:buNone/>
            </a:pPr>
            <a:r>
              <a:rPr lang="en-US" sz="1150" dirty="0">
                <a:solidFill>
                  <a:srgbClr val="16181D"/>
                </a:solidFill>
                <a:latin typeface="Arial" pitchFamily="34" charset="0"/>
                <a:ea typeface="Arial" pitchFamily="34" charset="-122"/>
                <a:cs typeface="Arial" pitchFamily="34" charset="-120"/>
              </a:rPr>
              <a:t>Geplante Export-Jobs per SFTP/Webhook, Excel/CSV/BMEcat, Delta-Export nur geänderter Titel. ONIX: Projektanteil.</a:t>
            </a:r>
            <a:endParaRPr lang="en-US" sz="1150" dirty="0"/>
          </a:p>
        </p:txBody>
      </p:sp>
      <p:sp>
        <p:nvSpPr>
          <p:cNvPr id="10" name="Shape 8"/>
          <p:cNvSpPr/>
          <p:nvPr/>
        </p:nvSpPr>
        <p:spPr>
          <a:xfrm>
            <a:off x="4335628" y="1600200"/>
            <a:ext cx="3520440" cy="502920"/>
          </a:xfrm>
          <a:prstGeom prst="rect">
            <a:avLst/>
          </a:prstGeom>
          <a:solidFill>
            <a:srgbClr val="000E2F"/>
          </a:solidFill>
          <a:ln w="12700">
            <a:solidFill>
              <a:srgbClr val="000E2F"/>
            </a:solidFill>
            <a:prstDash val="solid"/>
          </a:ln>
        </p:spPr>
      </p:sp>
      <p:sp>
        <p:nvSpPr>
          <p:cNvPr id="11" name="Text 9"/>
          <p:cNvSpPr txBox="1"/>
          <p:nvPr/>
        </p:nvSpPr>
        <p:spPr>
          <a:xfrm>
            <a:off x="4518508" y="1600200"/>
            <a:ext cx="2834640" cy="502920"/>
          </a:xfrm>
          <a:prstGeom prst="rect">
            <a:avLst/>
          </a:prstGeom>
          <a:noFill/>
          <a:ln/>
        </p:spPr>
        <p:txBody>
          <a:bodyPr wrap="square" lIns="0" tIns="0" rIns="0" bIns="0" rtlCol="0" anchor="ctr"/>
          <a:lstStyle/>
          <a:p>
            <a:pPr indent="0" marL="0">
              <a:buNone/>
            </a:pPr>
            <a:r>
              <a:rPr lang="en-US" sz="1400" dirty="0">
                <a:solidFill>
                  <a:srgbClr val="FFFFFF"/>
                </a:solidFill>
                <a:latin typeface="Arial" pitchFamily="34" charset="0"/>
                <a:ea typeface="Arial" pitchFamily="34" charset="-122"/>
                <a:cs typeface="Arial" pitchFamily="34" charset="-120"/>
              </a:rPr>
              <a:t>Bibliotheken</a:t>
            </a:r>
            <a:endParaRPr lang="en-US" sz="1400" dirty="0"/>
          </a:p>
        </p:txBody>
      </p:sp>
      <p:sp>
        <p:nvSpPr>
          <p:cNvPr id="12" name="Text 10"/>
          <p:cNvSpPr txBox="1"/>
          <p:nvPr/>
        </p:nvSpPr>
        <p:spPr>
          <a:xfrm>
            <a:off x="7353148" y="1600200"/>
            <a:ext cx="365760" cy="502920"/>
          </a:xfrm>
          <a:prstGeom prst="rect">
            <a:avLst/>
          </a:prstGeom>
          <a:noFill/>
          <a:ln/>
        </p:spPr>
        <p:txBody>
          <a:bodyPr wrap="square" lIns="0" tIns="0" rIns="0" bIns="0" rtlCol="0" anchor="ctr"/>
          <a:lstStyle/>
          <a:p>
            <a:pPr algn="r" indent="0" marL="0">
              <a:buNone/>
            </a:pPr>
            <a:r>
              <a:rPr lang="en-US" sz="1800" dirty="0">
                <a:solidFill>
                  <a:srgbClr val="FFFFFF"/>
                </a:solidFill>
                <a:latin typeface="Arial" pitchFamily="34" charset="0"/>
                <a:ea typeface="Arial" pitchFamily="34" charset="-122"/>
                <a:cs typeface="Arial" pitchFamily="34" charset="-120"/>
              </a:rPr>
              <a:t>→</a:t>
            </a:r>
            <a:endParaRPr lang="en-US" sz="1800" dirty="0"/>
          </a:p>
        </p:txBody>
      </p:sp>
      <p:sp>
        <p:nvSpPr>
          <p:cNvPr id="13" name="Text 11"/>
          <p:cNvSpPr txBox="1"/>
          <p:nvPr/>
        </p:nvSpPr>
        <p:spPr>
          <a:xfrm>
            <a:off x="4335628" y="2194560"/>
            <a:ext cx="3520440" cy="868680"/>
          </a:xfrm>
          <a:prstGeom prst="rect">
            <a:avLst/>
          </a:prstGeom>
          <a:noFill/>
          <a:ln/>
        </p:spPr>
        <p:txBody>
          <a:bodyPr wrap="square" lIns="0" tIns="0" rIns="0" bIns="0" rtlCol="0" anchor="t"/>
          <a:lstStyle/>
          <a:p>
            <a:pPr indent="0" marL="0">
              <a:lnSpc>
                <a:spcPct val="105000"/>
              </a:lnSpc>
              <a:buNone/>
            </a:pPr>
            <a:r>
              <a:rPr lang="en-US" sz="1150" dirty="0">
                <a:solidFill>
                  <a:srgbClr val="16181D"/>
                </a:solidFill>
                <a:latin typeface="Arial" pitchFamily="34" charset="0"/>
                <a:ea typeface="Arial" pitchFamily="34" charset="-122"/>
                <a:cs typeface="Arial" pitchFamily="34" charset="-120"/>
              </a:rPr>
              <a:t>Öffentlicher Katalog mit Facettensuche und Offline-Katalog (statisches HTML) für Erwerbungsabteilungen.</a:t>
            </a:r>
            <a:endParaRPr lang="en-US" sz="1150" dirty="0"/>
          </a:p>
        </p:txBody>
      </p:sp>
      <p:sp>
        <p:nvSpPr>
          <p:cNvPr id="14" name="Shape 12"/>
          <p:cNvSpPr/>
          <p:nvPr/>
        </p:nvSpPr>
        <p:spPr>
          <a:xfrm>
            <a:off x="8122615" y="1600200"/>
            <a:ext cx="3520440" cy="502920"/>
          </a:xfrm>
          <a:prstGeom prst="rect">
            <a:avLst/>
          </a:prstGeom>
          <a:solidFill>
            <a:srgbClr val="000E2F"/>
          </a:solidFill>
          <a:ln w="12700">
            <a:solidFill>
              <a:srgbClr val="000E2F"/>
            </a:solidFill>
            <a:prstDash val="solid"/>
          </a:ln>
        </p:spPr>
      </p:sp>
      <p:sp>
        <p:nvSpPr>
          <p:cNvPr id="15" name="Text 13"/>
          <p:cNvSpPr txBox="1"/>
          <p:nvPr/>
        </p:nvSpPr>
        <p:spPr>
          <a:xfrm>
            <a:off x="8305495" y="1600200"/>
            <a:ext cx="2834640" cy="502920"/>
          </a:xfrm>
          <a:prstGeom prst="rect">
            <a:avLst/>
          </a:prstGeom>
          <a:noFill/>
          <a:ln/>
        </p:spPr>
        <p:txBody>
          <a:bodyPr wrap="square" lIns="0" tIns="0" rIns="0" bIns="0" rtlCol="0" anchor="ctr"/>
          <a:lstStyle/>
          <a:p>
            <a:pPr indent="0" marL="0">
              <a:buNone/>
            </a:pPr>
            <a:r>
              <a:rPr lang="en-US" sz="1400" dirty="0">
                <a:solidFill>
                  <a:srgbClr val="FFFFFF"/>
                </a:solidFill>
                <a:latin typeface="Arial" pitchFamily="34" charset="0"/>
                <a:ea typeface="Arial" pitchFamily="34" charset="-122"/>
                <a:cs typeface="Arial" pitchFamily="34" charset="-120"/>
              </a:rPr>
              <a:t>AutorInnen</a:t>
            </a:r>
            <a:endParaRPr lang="en-US" sz="1400" dirty="0"/>
          </a:p>
        </p:txBody>
      </p:sp>
      <p:sp>
        <p:nvSpPr>
          <p:cNvPr id="16" name="Text 14"/>
          <p:cNvSpPr txBox="1"/>
          <p:nvPr/>
        </p:nvSpPr>
        <p:spPr>
          <a:xfrm>
            <a:off x="11140135" y="1600200"/>
            <a:ext cx="365760" cy="502920"/>
          </a:xfrm>
          <a:prstGeom prst="rect">
            <a:avLst/>
          </a:prstGeom>
          <a:noFill/>
          <a:ln/>
        </p:spPr>
        <p:txBody>
          <a:bodyPr wrap="square" lIns="0" tIns="0" rIns="0" bIns="0" rtlCol="0" anchor="ctr"/>
          <a:lstStyle/>
          <a:p>
            <a:pPr algn="r" indent="0" marL="0">
              <a:buNone/>
            </a:pPr>
            <a:r>
              <a:rPr lang="en-US" sz="1800" dirty="0">
                <a:solidFill>
                  <a:srgbClr val="FFFFFF"/>
                </a:solidFill>
                <a:latin typeface="Arial" pitchFamily="34" charset="0"/>
                <a:ea typeface="Arial" pitchFamily="34" charset="-122"/>
                <a:cs typeface="Arial" pitchFamily="34" charset="-120"/>
              </a:rPr>
              <a:t>→</a:t>
            </a:r>
            <a:endParaRPr lang="en-US" sz="1800" dirty="0"/>
          </a:p>
        </p:txBody>
      </p:sp>
      <p:sp>
        <p:nvSpPr>
          <p:cNvPr id="17" name="Text 15"/>
          <p:cNvSpPr txBox="1"/>
          <p:nvPr/>
        </p:nvSpPr>
        <p:spPr>
          <a:xfrm>
            <a:off x="8122615" y="2194560"/>
            <a:ext cx="3520440" cy="868680"/>
          </a:xfrm>
          <a:prstGeom prst="rect">
            <a:avLst/>
          </a:prstGeom>
          <a:noFill/>
          <a:ln/>
        </p:spPr>
        <p:txBody>
          <a:bodyPr wrap="square" lIns="0" tIns="0" rIns="0" bIns="0" rtlCol="0" anchor="t"/>
          <a:lstStyle/>
          <a:p>
            <a:pPr indent="0" marL="0">
              <a:lnSpc>
                <a:spcPct val="105000"/>
              </a:lnSpc>
              <a:buNone/>
            </a:pPr>
            <a:r>
              <a:rPr lang="en-US" sz="1150" dirty="0">
                <a:solidFill>
                  <a:srgbClr val="16181D"/>
                </a:solidFill>
                <a:latin typeface="Arial" pitchFamily="34" charset="0"/>
                <a:ea typeface="Arial" pitchFamily="34" charset="-122"/>
                <a:cs typeface="Arial" pitchFamily="34" charset="-120"/>
              </a:rPr>
              <a:t>Zugangslinks ohne Benutzerkonto zur Ansicht und Freigabe von Titeldaten; Workflow-Aufgaben für die Rückläufe.</a:t>
            </a:r>
            <a:endParaRPr lang="en-US" sz="1150" dirty="0"/>
          </a:p>
        </p:txBody>
      </p:sp>
      <p:sp>
        <p:nvSpPr>
          <p:cNvPr id="18" name="Shape 16"/>
          <p:cNvSpPr/>
          <p:nvPr/>
        </p:nvSpPr>
        <p:spPr>
          <a:xfrm>
            <a:off x="548640" y="3172968"/>
            <a:ext cx="3520440" cy="502920"/>
          </a:xfrm>
          <a:prstGeom prst="rect">
            <a:avLst/>
          </a:prstGeom>
          <a:solidFill>
            <a:srgbClr val="000E2F"/>
          </a:solidFill>
          <a:ln w="12700">
            <a:solidFill>
              <a:srgbClr val="000E2F"/>
            </a:solidFill>
            <a:prstDash val="solid"/>
          </a:ln>
        </p:spPr>
      </p:sp>
      <p:sp>
        <p:nvSpPr>
          <p:cNvPr id="19" name="Text 17"/>
          <p:cNvSpPr txBox="1"/>
          <p:nvPr/>
        </p:nvSpPr>
        <p:spPr>
          <a:xfrm>
            <a:off x="731520" y="3172968"/>
            <a:ext cx="2834640" cy="502920"/>
          </a:xfrm>
          <a:prstGeom prst="rect">
            <a:avLst/>
          </a:prstGeom>
          <a:noFill/>
          <a:ln/>
        </p:spPr>
        <p:txBody>
          <a:bodyPr wrap="square" lIns="0" tIns="0" rIns="0" bIns="0" rtlCol="0" anchor="ctr"/>
          <a:lstStyle/>
          <a:p>
            <a:pPr indent="0" marL="0">
              <a:buNone/>
            </a:pPr>
            <a:r>
              <a:rPr lang="en-US" sz="1400" dirty="0">
                <a:solidFill>
                  <a:srgbClr val="FFFFFF"/>
                </a:solidFill>
                <a:latin typeface="Arial" pitchFamily="34" charset="0"/>
                <a:ea typeface="Arial" pitchFamily="34" charset="-122"/>
                <a:cs typeface="Arial" pitchFamily="34" charset="-120"/>
              </a:rPr>
              <a:t>Foreign Rights &amp; Licensing</a:t>
            </a:r>
            <a:endParaRPr lang="en-US" sz="1400" dirty="0"/>
          </a:p>
        </p:txBody>
      </p:sp>
      <p:sp>
        <p:nvSpPr>
          <p:cNvPr id="20" name="Text 18"/>
          <p:cNvSpPr txBox="1"/>
          <p:nvPr/>
        </p:nvSpPr>
        <p:spPr>
          <a:xfrm>
            <a:off x="3566160" y="3172968"/>
            <a:ext cx="365760" cy="502920"/>
          </a:xfrm>
          <a:prstGeom prst="rect">
            <a:avLst/>
          </a:prstGeom>
          <a:noFill/>
          <a:ln/>
        </p:spPr>
        <p:txBody>
          <a:bodyPr wrap="square" lIns="0" tIns="0" rIns="0" bIns="0" rtlCol="0" anchor="ctr"/>
          <a:lstStyle/>
          <a:p>
            <a:pPr algn="r" indent="0" marL="0">
              <a:buNone/>
            </a:pPr>
            <a:r>
              <a:rPr lang="en-US" sz="1800" dirty="0">
                <a:solidFill>
                  <a:srgbClr val="FFFFFF"/>
                </a:solidFill>
                <a:latin typeface="Arial" pitchFamily="34" charset="0"/>
                <a:ea typeface="Arial" pitchFamily="34" charset="-122"/>
                <a:cs typeface="Arial" pitchFamily="34" charset="-120"/>
              </a:rPr>
              <a:t>→</a:t>
            </a:r>
            <a:endParaRPr lang="en-US" sz="1800" dirty="0"/>
          </a:p>
        </p:txBody>
      </p:sp>
      <p:sp>
        <p:nvSpPr>
          <p:cNvPr id="21" name="Text 19"/>
          <p:cNvSpPr txBox="1"/>
          <p:nvPr/>
        </p:nvSpPr>
        <p:spPr>
          <a:xfrm>
            <a:off x="548640" y="3767328"/>
            <a:ext cx="3520440" cy="868680"/>
          </a:xfrm>
          <a:prstGeom prst="rect">
            <a:avLst/>
          </a:prstGeom>
          <a:noFill/>
          <a:ln/>
        </p:spPr>
        <p:txBody>
          <a:bodyPr wrap="square" lIns="0" tIns="0" rIns="0" bIns="0" rtlCol="0" anchor="t"/>
          <a:lstStyle/>
          <a:p>
            <a:pPr indent="0" marL="0">
              <a:lnSpc>
                <a:spcPct val="105000"/>
              </a:lnSpc>
              <a:buNone/>
            </a:pPr>
            <a:r>
              <a:rPr lang="en-US" sz="1150" dirty="0">
                <a:solidFill>
                  <a:srgbClr val="16181D"/>
                </a:solidFill>
                <a:latin typeface="Arial" pitchFamily="34" charset="0"/>
                <a:ea typeface="Arial" pitchFamily="34" charset="-122"/>
                <a:cs typeface="Arial" pitchFamily="34" charset="-120"/>
              </a:rPr>
              <a:t>Unbegrenzte Inhaltssprachen, DeepL-Connector, XLIFF-Austausch, befristete Katalog-Links für Lizenzpartner.</a:t>
            </a:r>
            <a:endParaRPr lang="en-US" sz="1150" dirty="0"/>
          </a:p>
        </p:txBody>
      </p:sp>
      <p:sp>
        <p:nvSpPr>
          <p:cNvPr id="22" name="Shape 20"/>
          <p:cNvSpPr/>
          <p:nvPr/>
        </p:nvSpPr>
        <p:spPr>
          <a:xfrm>
            <a:off x="4335628" y="3172968"/>
            <a:ext cx="3520440" cy="502920"/>
          </a:xfrm>
          <a:prstGeom prst="rect">
            <a:avLst/>
          </a:prstGeom>
          <a:solidFill>
            <a:srgbClr val="000E2F"/>
          </a:solidFill>
          <a:ln w="12700">
            <a:solidFill>
              <a:srgbClr val="000E2F"/>
            </a:solidFill>
            <a:prstDash val="solid"/>
          </a:ln>
        </p:spPr>
      </p:sp>
      <p:sp>
        <p:nvSpPr>
          <p:cNvPr id="23" name="Text 21"/>
          <p:cNvSpPr txBox="1"/>
          <p:nvPr/>
        </p:nvSpPr>
        <p:spPr>
          <a:xfrm>
            <a:off x="4518508" y="3172968"/>
            <a:ext cx="2834640" cy="502920"/>
          </a:xfrm>
          <a:prstGeom prst="rect">
            <a:avLst/>
          </a:prstGeom>
          <a:noFill/>
          <a:ln/>
        </p:spPr>
        <p:txBody>
          <a:bodyPr wrap="square" lIns="0" tIns="0" rIns="0" bIns="0" rtlCol="0" anchor="ctr"/>
          <a:lstStyle/>
          <a:p>
            <a:pPr indent="0" marL="0">
              <a:buNone/>
            </a:pPr>
            <a:r>
              <a:rPr lang="en-US" sz="1400" dirty="0">
                <a:solidFill>
                  <a:srgbClr val="FFFFFF"/>
                </a:solidFill>
                <a:latin typeface="Arial" pitchFamily="34" charset="0"/>
                <a:ea typeface="Arial" pitchFamily="34" charset="-122"/>
                <a:cs typeface="Arial" pitchFamily="34" charset="-120"/>
              </a:rPr>
              <a:t>Presse</a:t>
            </a:r>
            <a:endParaRPr lang="en-US" sz="1400" dirty="0"/>
          </a:p>
        </p:txBody>
      </p:sp>
      <p:sp>
        <p:nvSpPr>
          <p:cNvPr id="24" name="Text 22"/>
          <p:cNvSpPr txBox="1"/>
          <p:nvPr/>
        </p:nvSpPr>
        <p:spPr>
          <a:xfrm>
            <a:off x="7353148" y="3172968"/>
            <a:ext cx="365760" cy="502920"/>
          </a:xfrm>
          <a:prstGeom prst="rect">
            <a:avLst/>
          </a:prstGeom>
          <a:noFill/>
          <a:ln/>
        </p:spPr>
        <p:txBody>
          <a:bodyPr wrap="square" lIns="0" tIns="0" rIns="0" bIns="0" rtlCol="0" anchor="ctr"/>
          <a:lstStyle/>
          <a:p>
            <a:pPr algn="r" indent="0" marL="0">
              <a:buNone/>
            </a:pPr>
            <a:r>
              <a:rPr lang="en-US" sz="1800" dirty="0">
                <a:solidFill>
                  <a:srgbClr val="FFFFFF"/>
                </a:solidFill>
                <a:latin typeface="Arial" pitchFamily="34" charset="0"/>
                <a:ea typeface="Arial" pitchFamily="34" charset="-122"/>
                <a:cs typeface="Arial" pitchFamily="34" charset="-120"/>
              </a:rPr>
              <a:t>→</a:t>
            </a:r>
            <a:endParaRPr lang="en-US" sz="1800" dirty="0"/>
          </a:p>
        </p:txBody>
      </p:sp>
      <p:sp>
        <p:nvSpPr>
          <p:cNvPr id="25" name="Text 23"/>
          <p:cNvSpPr txBox="1"/>
          <p:nvPr/>
        </p:nvSpPr>
        <p:spPr>
          <a:xfrm>
            <a:off x="4335628" y="3767328"/>
            <a:ext cx="3520440" cy="868680"/>
          </a:xfrm>
          <a:prstGeom prst="rect">
            <a:avLst/>
          </a:prstGeom>
          <a:noFill/>
          <a:ln/>
        </p:spPr>
        <p:txBody>
          <a:bodyPr wrap="square" lIns="0" tIns="0" rIns="0" bIns="0" rtlCol="0" anchor="t"/>
          <a:lstStyle/>
          <a:p>
            <a:pPr indent="0" marL="0">
              <a:lnSpc>
                <a:spcPct val="105000"/>
              </a:lnSpc>
              <a:buNone/>
            </a:pPr>
            <a:r>
              <a:rPr lang="en-US" sz="1150" dirty="0">
                <a:solidFill>
                  <a:srgbClr val="16181D"/>
                </a:solidFill>
                <a:latin typeface="Arial" pitchFamily="34" charset="0"/>
                <a:ea typeface="Arial" pitchFamily="34" charset="-122"/>
                <a:cs typeface="Arial" pitchFamily="34" charset="-120"/>
              </a:rPr>
              <a:t>Asset-Katalog mit Ordnern, Tags und Download: Cover, AutorInnenfotos, Leseproben – ohne E-Mail-Pingpong.</a:t>
            </a:r>
            <a:endParaRPr lang="en-US" sz="1150" dirty="0"/>
          </a:p>
        </p:txBody>
      </p:sp>
      <p:sp>
        <p:nvSpPr>
          <p:cNvPr id="26" name="Shape 24"/>
          <p:cNvSpPr/>
          <p:nvPr/>
        </p:nvSpPr>
        <p:spPr>
          <a:xfrm>
            <a:off x="8122615" y="3172968"/>
            <a:ext cx="3520440" cy="502920"/>
          </a:xfrm>
          <a:prstGeom prst="rect">
            <a:avLst/>
          </a:prstGeom>
          <a:solidFill>
            <a:srgbClr val="000E2F"/>
          </a:solidFill>
          <a:ln w="12700">
            <a:solidFill>
              <a:srgbClr val="000E2F"/>
            </a:solidFill>
            <a:prstDash val="solid"/>
          </a:ln>
        </p:spPr>
      </p:sp>
      <p:sp>
        <p:nvSpPr>
          <p:cNvPr id="27" name="Text 25"/>
          <p:cNvSpPr txBox="1"/>
          <p:nvPr/>
        </p:nvSpPr>
        <p:spPr>
          <a:xfrm>
            <a:off x="8305495" y="3172968"/>
            <a:ext cx="2834640" cy="502920"/>
          </a:xfrm>
          <a:prstGeom prst="rect">
            <a:avLst/>
          </a:prstGeom>
          <a:noFill/>
          <a:ln/>
        </p:spPr>
        <p:txBody>
          <a:bodyPr wrap="square" lIns="0" tIns="0" rIns="0" bIns="0" rtlCol="0" anchor="ctr"/>
          <a:lstStyle/>
          <a:p>
            <a:pPr indent="0" marL="0">
              <a:buNone/>
            </a:pPr>
            <a:r>
              <a:rPr lang="en-US" sz="1400" dirty="0">
                <a:solidFill>
                  <a:srgbClr val="FFFFFF"/>
                </a:solidFill>
                <a:latin typeface="Arial" pitchFamily="34" charset="0"/>
                <a:ea typeface="Arial" pitchFamily="34" charset="-122"/>
                <a:cs typeface="Arial" pitchFamily="34" charset="-120"/>
              </a:rPr>
              <a:t>Mediadaten</a:t>
            </a:r>
            <a:endParaRPr lang="en-US" sz="1400" dirty="0"/>
          </a:p>
        </p:txBody>
      </p:sp>
      <p:sp>
        <p:nvSpPr>
          <p:cNvPr id="28" name="Text 26"/>
          <p:cNvSpPr txBox="1"/>
          <p:nvPr/>
        </p:nvSpPr>
        <p:spPr>
          <a:xfrm>
            <a:off x="11140135" y="3172968"/>
            <a:ext cx="365760" cy="502920"/>
          </a:xfrm>
          <a:prstGeom prst="rect">
            <a:avLst/>
          </a:prstGeom>
          <a:noFill/>
          <a:ln/>
        </p:spPr>
        <p:txBody>
          <a:bodyPr wrap="square" lIns="0" tIns="0" rIns="0" bIns="0" rtlCol="0" anchor="ctr"/>
          <a:lstStyle/>
          <a:p>
            <a:pPr algn="r" indent="0" marL="0">
              <a:buNone/>
            </a:pPr>
            <a:r>
              <a:rPr lang="en-US" sz="1800" dirty="0">
                <a:solidFill>
                  <a:srgbClr val="FFFFFF"/>
                </a:solidFill>
                <a:latin typeface="Arial" pitchFamily="34" charset="0"/>
                <a:ea typeface="Arial" pitchFamily="34" charset="-122"/>
                <a:cs typeface="Arial" pitchFamily="34" charset="-120"/>
              </a:rPr>
              <a:t>→</a:t>
            </a:r>
            <a:endParaRPr lang="en-US" sz="1800" dirty="0"/>
          </a:p>
        </p:txBody>
      </p:sp>
      <p:sp>
        <p:nvSpPr>
          <p:cNvPr id="29" name="Text 27"/>
          <p:cNvSpPr txBox="1"/>
          <p:nvPr/>
        </p:nvSpPr>
        <p:spPr>
          <a:xfrm>
            <a:off x="8122615" y="3767328"/>
            <a:ext cx="3520440" cy="868680"/>
          </a:xfrm>
          <a:prstGeom prst="rect">
            <a:avLst/>
          </a:prstGeom>
          <a:noFill/>
          <a:ln/>
        </p:spPr>
        <p:txBody>
          <a:bodyPr wrap="square" lIns="0" tIns="0" rIns="0" bIns="0" rtlCol="0" anchor="t"/>
          <a:lstStyle/>
          <a:p>
            <a:pPr indent="0" marL="0">
              <a:lnSpc>
                <a:spcPct val="105000"/>
              </a:lnSpc>
              <a:buNone/>
            </a:pPr>
            <a:r>
              <a:rPr lang="en-US" sz="1150" dirty="0">
                <a:solidFill>
                  <a:srgbClr val="16181D"/>
                </a:solidFill>
                <a:latin typeface="Arial" pitchFamily="34" charset="0"/>
                <a:ea typeface="Arial" pitchFamily="34" charset="-122"/>
                <a:cs typeface="Arial" pitchFamily="34" charset="-120"/>
              </a:rPr>
              <a:t>PDF-Vorlagen aus PIM-Daten: Datenblätter, Preislisten und Mediadaten ohne manuelles Layout.</a:t>
            </a:r>
            <a:endParaRPr lang="en-US" sz="1150" dirty="0"/>
          </a:p>
        </p:txBody>
      </p:sp>
      <p:sp>
        <p:nvSpPr>
          <p:cNvPr id="30" name="Shape 28"/>
          <p:cNvSpPr/>
          <p:nvPr/>
        </p:nvSpPr>
        <p:spPr>
          <a:xfrm>
            <a:off x="548640" y="4745736"/>
            <a:ext cx="3520440" cy="502920"/>
          </a:xfrm>
          <a:prstGeom prst="rect">
            <a:avLst/>
          </a:prstGeom>
          <a:solidFill>
            <a:srgbClr val="000E2F"/>
          </a:solidFill>
          <a:ln w="12700">
            <a:solidFill>
              <a:srgbClr val="000E2F"/>
            </a:solidFill>
            <a:prstDash val="solid"/>
          </a:ln>
        </p:spPr>
      </p:sp>
      <p:sp>
        <p:nvSpPr>
          <p:cNvPr id="31" name="Text 29"/>
          <p:cNvSpPr txBox="1"/>
          <p:nvPr/>
        </p:nvSpPr>
        <p:spPr>
          <a:xfrm>
            <a:off x="731520" y="4745736"/>
            <a:ext cx="2834640" cy="502920"/>
          </a:xfrm>
          <a:prstGeom prst="rect">
            <a:avLst/>
          </a:prstGeom>
          <a:noFill/>
          <a:ln/>
        </p:spPr>
        <p:txBody>
          <a:bodyPr wrap="square" lIns="0" tIns="0" rIns="0" bIns="0" rtlCol="0" anchor="ctr"/>
          <a:lstStyle/>
          <a:p>
            <a:pPr indent="0" marL="0">
              <a:buNone/>
            </a:pPr>
            <a:r>
              <a:rPr lang="en-US" sz="1400" dirty="0">
                <a:solidFill>
                  <a:srgbClr val="FFFFFF"/>
                </a:solidFill>
                <a:latin typeface="Arial" pitchFamily="34" charset="0"/>
                <a:ea typeface="Arial" pitchFamily="34" charset="-122"/>
                <a:cs typeface="Arial" pitchFamily="34" charset="-120"/>
              </a:rPr>
              <a:t>Zeitschriften</a:t>
            </a:r>
            <a:endParaRPr lang="en-US" sz="1400" dirty="0"/>
          </a:p>
        </p:txBody>
      </p:sp>
      <p:sp>
        <p:nvSpPr>
          <p:cNvPr id="32" name="Text 30"/>
          <p:cNvSpPr txBox="1"/>
          <p:nvPr/>
        </p:nvSpPr>
        <p:spPr>
          <a:xfrm>
            <a:off x="3566160" y="4745736"/>
            <a:ext cx="365760" cy="502920"/>
          </a:xfrm>
          <a:prstGeom prst="rect">
            <a:avLst/>
          </a:prstGeom>
          <a:noFill/>
          <a:ln/>
        </p:spPr>
        <p:txBody>
          <a:bodyPr wrap="square" lIns="0" tIns="0" rIns="0" bIns="0" rtlCol="0" anchor="ctr"/>
          <a:lstStyle/>
          <a:p>
            <a:pPr algn="r" indent="0" marL="0">
              <a:buNone/>
            </a:pPr>
            <a:r>
              <a:rPr lang="en-US" sz="1800" dirty="0">
                <a:solidFill>
                  <a:srgbClr val="FFFFFF"/>
                </a:solidFill>
                <a:latin typeface="Arial" pitchFamily="34" charset="0"/>
                <a:ea typeface="Arial" pitchFamily="34" charset="-122"/>
                <a:cs typeface="Arial" pitchFamily="34" charset="-120"/>
              </a:rPr>
              <a:t>→</a:t>
            </a:r>
            <a:endParaRPr lang="en-US" sz="1800" dirty="0"/>
          </a:p>
        </p:txBody>
      </p:sp>
      <p:sp>
        <p:nvSpPr>
          <p:cNvPr id="33" name="Text 31"/>
          <p:cNvSpPr txBox="1"/>
          <p:nvPr/>
        </p:nvSpPr>
        <p:spPr>
          <a:xfrm>
            <a:off x="548640" y="5340096"/>
            <a:ext cx="3520440" cy="868680"/>
          </a:xfrm>
          <a:prstGeom prst="rect">
            <a:avLst/>
          </a:prstGeom>
          <a:noFill/>
          <a:ln/>
        </p:spPr>
        <p:txBody>
          <a:bodyPr wrap="square" lIns="0" tIns="0" rIns="0" bIns="0" rtlCol="0" anchor="t"/>
          <a:lstStyle/>
          <a:p>
            <a:pPr indent="0" marL="0">
              <a:lnSpc>
                <a:spcPct val="105000"/>
              </a:lnSpc>
              <a:buNone/>
            </a:pPr>
            <a:r>
              <a:rPr lang="en-US" sz="1150" dirty="0">
                <a:solidFill>
                  <a:srgbClr val="16181D"/>
                </a:solidFill>
                <a:latin typeface="Arial" pitchFamily="34" charset="0"/>
                <a:ea typeface="Arial" pitchFamily="34" charset="-122"/>
                <a:cs typeface="Arial" pitchFamily="34" charset="-120"/>
              </a:rPr>
              <a:t>Eigener Produkttyp mit eigenen Pflichtfeldern: ISSN, Erscheinungsweise, Abo-Preisarten, Staffelpreise.</a:t>
            </a:r>
            <a:endParaRPr lang="en-US" sz="1150" dirty="0"/>
          </a:p>
        </p:txBody>
      </p:sp>
      <p:sp>
        <p:nvSpPr>
          <p:cNvPr id="34" name="Shape 32"/>
          <p:cNvSpPr/>
          <p:nvPr/>
        </p:nvSpPr>
        <p:spPr>
          <a:xfrm>
            <a:off x="4335628" y="4745736"/>
            <a:ext cx="3520440" cy="502920"/>
          </a:xfrm>
          <a:prstGeom prst="rect">
            <a:avLst/>
          </a:prstGeom>
          <a:solidFill>
            <a:srgbClr val="000E2F"/>
          </a:solidFill>
          <a:ln w="12700">
            <a:solidFill>
              <a:srgbClr val="000E2F"/>
            </a:solidFill>
            <a:prstDash val="solid"/>
          </a:ln>
        </p:spPr>
      </p:sp>
      <p:sp>
        <p:nvSpPr>
          <p:cNvPr id="35" name="Text 33"/>
          <p:cNvSpPr txBox="1"/>
          <p:nvPr/>
        </p:nvSpPr>
        <p:spPr>
          <a:xfrm>
            <a:off x="4518508" y="4745736"/>
            <a:ext cx="2834640" cy="502920"/>
          </a:xfrm>
          <a:prstGeom prst="rect">
            <a:avLst/>
          </a:prstGeom>
          <a:noFill/>
          <a:ln/>
        </p:spPr>
        <p:txBody>
          <a:bodyPr wrap="square" lIns="0" tIns="0" rIns="0" bIns="0" rtlCol="0" anchor="ctr"/>
          <a:lstStyle/>
          <a:p>
            <a:pPr indent="0" marL="0">
              <a:buNone/>
            </a:pPr>
            <a:r>
              <a:rPr lang="en-US" sz="1400" dirty="0">
                <a:solidFill>
                  <a:srgbClr val="FFFFFF"/>
                </a:solidFill>
                <a:latin typeface="Arial" pitchFamily="34" charset="0"/>
                <a:ea typeface="Arial" pitchFamily="34" charset="-122"/>
                <a:cs typeface="Arial" pitchFamily="34" charset="-120"/>
              </a:rPr>
              <a:t>Formulare</a:t>
            </a:r>
            <a:endParaRPr lang="en-US" sz="1400" dirty="0"/>
          </a:p>
        </p:txBody>
      </p:sp>
      <p:sp>
        <p:nvSpPr>
          <p:cNvPr id="36" name="Text 34"/>
          <p:cNvSpPr txBox="1"/>
          <p:nvPr/>
        </p:nvSpPr>
        <p:spPr>
          <a:xfrm>
            <a:off x="7353148" y="4745736"/>
            <a:ext cx="365760" cy="502920"/>
          </a:xfrm>
          <a:prstGeom prst="rect">
            <a:avLst/>
          </a:prstGeom>
          <a:noFill/>
          <a:ln/>
        </p:spPr>
        <p:txBody>
          <a:bodyPr wrap="square" lIns="0" tIns="0" rIns="0" bIns="0" rtlCol="0" anchor="ctr"/>
          <a:lstStyle/>
          <a:p>
            <a:pPr algn="r" indent="0" marL="0">
              <a:buNone/>
            </a:pPr>
            <a:r>
              <a:rPr lang="en-US" sz="1800" dirty="0">
                <a:solidFill>
                  <a:srgbClr val="FFFFFF"/>
                </a:solidFill>
                <a:latin typeface="Arial" pitchFamily="34" charset="0"/>
                <a:ea typeface="Arial" pitchFamily="34" charset="-122"/>
                <a:cs typeface="Arial" pitchFamily="34" charset="-120"/>
              </a:rPr>
              <a:t>→</a:t>
            </a:r>
            <a:endParaRPr lang="en-US" sz="1800" dirty="0"/>
          </a:p>
        </p:txBody>
      </p:sp>
      <p:sp>
        <p:nvSpPr>
          <p:cNvPr id="37" name="Text 35"/>
          <p:cNvSpPr txBox="1"/>
          <p:nvPr/>
        </p:nvSpPr>
        <p:spPr>
          <a:xfrm>
            <a:off x="4335628" y="5340096"/>
            <a:ext cx="3520440" cy="868680"/>
          </a:xfrm>
          <a:prstGeom prst="rect">
            <a:avLst/>
          </a:prstGeom>
          <a:noFill/>
          <a:ln/>
        </p:spPr>
        <p:txBody>
          <a:bodyPr wrap="square" lIns="0" tIns="0" rIns="0" bIns="0" rtlCol="0" anchor="t"/>
          <a:lstStyle/>
          <a:p>
            <a:pPr indent="0" marL="0">
              <a:lnSpc>
                <a:spcPct val="105000"/>
              </a:lnSpc>
              <a:buNone/>
            </a:pPr>
            <a:r>
              <a:rPr lang="en-US" sz="1150" dirty="0">
                <a:solidFill>
                  <a:srgbClr val="16181D"/>
                </a:solidFill>
                <a:latin typeface="Arial" pitchFamily="34" charset="0"/>
                <a:ea typeface="Arial" pitchFamily="34" charset="-122"/>
                <a:cs typeface="Arial" pitchFamily="34" charset="-120"/>
              </a:rPr>
              <a:t>Produkttypen für Formular und Software; Formularsätze als Bundle, Varianten für Ausführungen.</a:t>
            </a:r>
            <a:endParaRPr lang="en-US" sz="1150" dirty="0"/>
          </a:p>
        </p:txBody>
      </p:sp>
      <p:sp>
        <p:nvSpPr>
          <p:cNvPr id="38" name="Shape 36"/>
          <p:cNvSpPr/>
          <p:nvPr/>
        </p:nvSpPr>
        <p:spPr>
          <a:xfrm>
            <a:off x="8122615" y="4745736"/>
            <a:ext cx="3520440" cy="502920"/>
          </a:xfrm>
          <a:prstGeom prst="rect">
            <a:avLst/>
          </a:prstGeom>
          <a:solidFill>
            <a:srgbClr val="000E2F"/>
          </a:solidFill>
          <a:ln w="12700">
            <a:solidFill>
              <a:srgbClr val="000E2F"/>
            </a:solidFill>
            <a:prstDash val="solid"/>
          </a:ln>
        </p:spPr>
      </p:sp>
      <p:sp>
        <p:nvSpPr>
          <p:cNvPr id="39" name="Text 37"/>
          <p:cNvSpPr txBox="1"/>
          <p:nvPr/>
        </p:nvSpPr>
        <p:spPr>
          <a:xfrm>
            <a:off x="8305495" y="4745736"/>
            <a:ext cx="2834640" cy="502920"/>
          </a:xfrm>
          <a:prstGeom prst="rect">
            <a:avLst/>
          </a:prstGeom>
          <a:noFill/>
          <a:ln/>
        </p:spPr>
        <p:txBody>
          <a:bodyPr wrap="square" lIns="0" tIns="0" rIns="0" bIns="0" rtlCol="0" anchor="ctr"/>
          <a:lstStyle/>
          <a:p>
            <a:pPr indent="0" marL="0">
              <a:buNone/>
            </a:pPr>
            <a:r>
              <a:rPr lang="en-US" sz="1400" dirty="0">
                <a:solidFill>
                  <a:srgbClr val="FFFFFF"/>
                </a:solidFill>
                <a:latin typeface="Arial" pitchFamily="34" charset="0"/>
                <a:ea typeface="Arial" pitchFamily="34" charset="-122"/>
                <a:cs typeface="Arial" pitchFamily="34" charset="-120"/>
              </a:rPr>
              <a:t>Seminare</a:t>
            </a:r>
            <a:endParaRPr lang="en-US" sz="1400" dirty="0"/>
          </a:p>
        </p:txBody>
      </p:sp>
      <p:sp>
        <p:nvSpPr>
          <p:cNvPr id="40" name="Text 38"/>
          <p:cNvSpPr txBox="1"/>
          <p:nvPr/>
        </p:nvSpPr>
        <p:spPr>
          <a:xfrm>
            <a:off x="11140135" y="4745736"/>
            <a:ext cx="365760" cy="502920"/>
          </a:xfrm>
          <a:prstGeom prst="rect">
            <a:avLst/>
          </a:prstGeom>
          <a:noFill/>
          <a:ln/>
        </p:spPr>
        <p:txBody>
          <a:bodyPr wrap="square" lIns="0" tIns="0" rIns="0" bIns="0" rtlCol="0" anchor="ctr"/>
          <a:lstStyle/>
          <a:p>
            <a:pPr algn="r" indent="0" marL="0">
              <a:buNone/>
            </a:pPr>
            <a:r>
              <a:rPr lang="en-US" sz="1800" dirty="0">
                <a:solidFill>
                  <a:srgbClr val="FFFFFF"/>
                </a:solidFill>
                <a:latin typeface="Arial" pitchFamily="34" charset="0"/>
                <a:ea typeface="Arial" pitchFamily="34" charset="-122"/>
                <a:cs typeface="Arial" pitchFamily="34" charset="-120"/>
              </a:rPr>
              <a:t>→</a:t>
            </a:r>
            <a:endParaRPr lang="en-US" sz="1800" dirty="0"/>
          </a:p>
        </p:txBody>
      </p:sp>
      <p:sp>
        <p:nvSpPr>
          <p:cNvPr id="41" name="Text 39"/>
          <p:cNvSpPr txBox="1"/>
          <p:nvPr/>
        </p:nvSpPr>
        <p:spPr>
          <a:xfrm>
            <a:off x="8122615" y="5340096"/>
            <a:ext cx="3520440" cy="868680"/>
          </a:xfrm>
          <a:prstGeom prst="rect">
            <a:avLst/>
          </a:prstGeom>
          <a:noFill/>
          <a:ln/>
        </p:spPr>
        <p:txBody>
          <a:bodyPr wrap="square" lIns="0" tIns="0" rIns="0" bIns="0" rtlCol="0" anchor="t"/>
          <a:lstStyle/>
          <a:p>
            <a:pPr indent="0" marL="0">
              <a:lnSpc>
                <a:spcPct val="105000"/>
              </a:lnSpc>
              <a:buNone/>
            </a:pPr>
            <a:r>
              <a:rPr lang="en-US" sz="1150" dirty="0">
                <a:solidFill>
                  <a:srgbClr val="16181D"/>
                </a:solidFill>
                <a:latin typeface="Arial" pitchFamily="34" charset="0"/>
                <a:ea typeface="Arial" pitchFamily="34" charset="-122"/>
                <a:cs typeface="Arial" pitchFamily="34" charset="-120"/>
              </a:rPr>
              <a:t>Produkttyp Schulung mit Terminen und Preisen – verknüpft mit der Begleitliteratur über Relationen.</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594360"/>
          </a:xfrm>
          <a:prstGeom prst="rect">
            <a:avLst/>
          </a:prstGeom>
          <a:noFill/>
          <a:ln/>
        </p:spPr>
        <p:txBody>
          <a:bodyPr wrap="square" lIns="0" tIns="0" rIns="0" bIns="0" rtlCol="0" anchor="b"/>
          <a:lstStyle/>
          <a:p>
            <a:pPr indent="0" marL="0">
              <a:buNone/>
            </a:pPr>
            <a:r>
              <a:rPr lang="en-US" sz="3000" dirty="0">
                <a:solidFill>
                  <a:srgbClr val="16181D"/>
                </a:solidFill>
                <a:latin typeface="Arial" pitchFamily="34" charset="0"/>
                <a:ea typeface="Arial" pitchFamily="34" charset="-122"/>
                <a:cs typeface="Arial" pitchFamily="34" charset="-120"/>
              </a:rPr>
              <a:t>ZEHN ARGUMENTE FÜR ANYPIM</a:t>
            </a:r>
            <a:endParaRPr lang="en-US" sz="3000" dirty="0"/>
          </a:p>
        </p:txBody>
      </p:sp>
      <p:sp>
        <p:nvSpPr>
          <p:cNvPr id="3" name="Text 1"/>
          <p:cNvSpPr txBox="1"/>
          <p:nvPr/>
        </p:nvSpPr>
        <p:spPr>
          <a:xfrm>
            <a:off x="548640" y="1033272"/>
            <a:ext cx="11094415" cy="365760"/>
          </a:xfrm>
          <a:prstGeom prst="rect">
            <a:avLst/>
          </a:prstGeom>
          <a:noFill/>
          <a:ln/>
        </p:spPr>
        <p:txBody>
          <a:bodyPr wrap="square" lIns="0" tIns="0" rIns="0" bIns="0" rtlCol="0" anchor="t"/>
          <a:lstStyle/>
          <a:p>
            <a:pPr indent="0" marL="0">
              <a:buNone/>
            </a:pPr>
            <a:r>
              <a:rPr lang="en-US" sz="1400" dirty="0">
                <a:solidFill>
                  <a:srgbClr val="4B5563"/>
                </a:solidFill>
                <a:latin typeface="Arial" pitchFamily="34" charset="0"/>
                <a:ea typeface="Arial" pitchFamily="34" charset="-122"/>
                <a:cs typeface="Arial" pitchFamily="34" charset="-120"/>
              </a:rPr>
              <a:t>Jeweils mit dem Mechanismus dahinter – keine Versprechen, die das System heute nicht einlöst.</a:t>
            </a:r>
            <a:endParaRPr lang="en-US" sz="1400" dirty="0"/>
          </a:p>
        </p:txBody>
      </p:sp>
      <p:sp>
        <p:nvSpPr>
          <p:cNvPr id="4" name="Text 2"/>
          <p:cNvSpPr txBox="1"/>
          <p:nvPr/>
        </p:nvSpPr>
        <p:spPr>
          <a:xfrm>
            <a:off x="548640" y="6400800"/>
            <a:ext cx="7315200" cy="228600"/>
          </a:xfrm>
          <a:prstGeom prst="rect">
            <a:avLst/>
          </a:prstGeom>
          <a:noFill/>
          <a:ln/>
        </p:spPr>
        <p:txBody>
          <a:bodyPr wrap="square" lIns="0" tIns="0" rIns="0" bIns="0" rtlCol="0" anchor="t"/>
          <a:lstStyle/>
          <a:p>
            <a:pPr indent="0" marL="0">
              <a:buNone/>
            </a:pPr>
            <a:r>
              <a:rPr lang="en-US" sz="900" dirty="0">
                <a:solidFill>
                  <a:srgbClr val="4B5563"/>
                </a:solidFill>
                <a:latin typeface="Arial" pitchFamily="34" charset="0"/>
                <a:ea typeface="Arial" pitchFamily="34" charset="-122"/>
                <a:cs typeface="Arial" pitchFamily="34" charset="-120"/>
              </a:rPr>
              <a:t>anyPIM für Kohlhammer  ·  Entscheidungsvorlage  ·  September 2026</a:t>
            </a:r>
            <a:endParaRPr lang="en-US" sz="900" dirty="0"/>
          </a:p>
        </p:txBody>
      </p:sp>
      <p:sp>
        <p:nvSpPr>
          <p:cNvPr id="5" name="Text 3"/>
          <p:cNvSpPr txBox="1"/>
          <p:nvPr/>
        </p:nvSpPr>
        <p:spPr>
          <a:xfrm>
            <a:off x="10728655" y="6400800"/>
            <a:ext cx="914400" cy="228600"/>
          </a:xfrm>
          <a:prstGeom prst="rect">
            <a:avLst/>
          </a:prstGeom>
          <a:noFill/>
          <a:ln/>
        </p:spPr>
        <p:txBody>
          <a:bodyPr wrap="square" lIns="0" tIns="0" rIns="0" bIns="0" rtlCol="0" anchor="t"/>
          <a:lstStyle/>
          <a:p>
            <a:pPr algn="r" indent="0" marL="0">
              <a:buNone/>
            </a:pPr>
            <a:r>
              <a:rPr lang="en-US" sz="900" dirty="0">
                <a:solidFill>
                  <a:srgbClr val="4B5563"/>
                </a:solidFill>
                <a:latin typeface="Arial" pitchFamily="34" charset="0"/>
                <a:ea typeface="Arial" pitchFamily="34" charset="-122"/>
                <a:cs typeface="Arial" pitchFamily="34" charset="-120"/>
              </a:rPr>
              <a:t>8</a:t>
            </a:r>
            <a:endParaRPr lang="en-US" sz="900" dirty="0"/>
          </a:p>
        </p:txBody>
      </p:sp>
      <p:sp>
        <p:nvSpPr>
          <p:cNvPr id="6" name="Text 4"/>
          <p:cNvSpPr txBox="1"/>
          <p:nvPr/>
        </p:nvSpPr>
        <p:spPr>
          <a:xfrm>
            <a:off x="548640" y="1572768"/>
            <a:ext cx="5318608" cy="228600"/>
          </a:xfrm>
          <a:prstGeom prst="rect">
            <a:avLst/>
          </a:prstGeom>
          <a:noFill/>
          <a:ln/>
        </p:spPr>
        <p:txBody>
          <a:bodyPr wrap="square" lIns="0" tIns="0" rIns="0" bIns="0" rtlCol="0" anchor="t"/>
          <a:lstStyle/>
          <a:p>
            <a:pPr indent="0" marL="0">
              <a:buNone/>
            </a:pPr>
            <a:r>
              <a:rPr lang="en-US" sz="1000" b="1" spc="100" kern="0" dirty="0">
                <a:solidFill>
                  <a:srgbClr val="E2211C"/>
                </a:solidFill>
                <a:latin typeface="Arial" pitchFamily="34" charset="0"/>
                <a:ea typeface="Arial" pitchFamily="34" charset="-122"/>
                <a:cs typeface="Arial" pitchFamily="34" charset="-120"/>
              </a:rPr>
              <a:t>01 · WERK UND AUSGABE</a:t>
            </a:r>
            <a:endParaRPr lang="en-US" sz="1000" dirty="0"/>
          </a:p>
        </p:txBody>
      </p:sp>
      <p:sp>
        <p:nvSpPr>
          <p:cNvPr id="7" name="Text 5"/>
          <p:cNvSpPr txBox="1"/>
          <p:nvPr/>
        </p:nvSpPr>
        <p:spPr>
          <a:xfrm>
            <a:off x="548640" y="1810512"/>
            <a:ext cx="5318608" cy="292608"/>
          </a:xfrm>
          <a:prstGeom prst="rect">
            <a:avLst/>
          </a:prstGeom>
          <a:noFill/>
          <a:ln/>
        </p:spPr>
        <p:txBody>
          <a:bodyPr wrap="square" lIns="0" tIns="0" rIns="0" bIns="0" rtlCol="0" anchor="t"/>
          <a:lstStyle/>
          <a:p>
            <a:pPr indent="0" marL="0">
              <a:buNone/>
            </a:pPr>
            <a:r>
              <a:rPr lang="en-US" sz="1500" b="1" dirty="0">
                <a:solidFill>
                  <a:srgbClr val="16181D"/>
                </a:solidFill>
                <a:latin typeface="Arial" pitchFamily="34" charset="0"/>
                <a:ea typeface="Arial" pitchFamily="34" charset="-122"/>
                <a:cs typeface="Arial" pitchFamily="34" charset="-120"/>
              </a:rPr>
              <a:t>Pflege einmal, Abweichung nur dort, wo sie ist</a:t>
            </a:r>
            <a:endParaRPr lang="en-US" sz="1500" dirty="0"/>
          </a:p>
        </p:txBody>
      </p:sp>
      <p:sp>
        <p:nvSpPr>
          <p:cNvPr id="8" name="Text 6"/>
          <p:cNvSpPr txBox="1"/>
          <p:nvPr/>
        </p:nvSpPr>
        <p:spPr>
          <a:xfrm>
            <a:off x="548640" y="2121408"/>
            <a:ext cx="5318608" cy="274320"/>
          </a:xfrm>
          <a:prstGeom prst="rect">
            <a:avLst/>
          </a:prstGeom>
          <a:noFill/>
          <a:ln/>
        </p:spPr>
        <p:txBody>
          <a:bodyPr wrap="square" lIns="0" tIns="0" rIns="0" bIns="0" rtlCol="0" anchor="t"/>
          <a:lstStyle/>
          <a:p>
            <a:pPr indent="0" marL="0">
              <a:buNone/>
            </a:pPr>
            <a:r>
              <a:rPr lang="en-US" sz="1200" dirty="0">
                <a:solidFill>
                  <a:srgbClr val="4B5563"/>
                </a:solidFill>
                <a:latin typeface="Arial" pitchFamily="34" charset="0"/>
                <a:ea typeface="Arial" pitchFamily="34" charset="-122"/>
                <a:cs typeface="Arial" pitchFamily="34" charset="-120"/>
              </a:rPr>
              <a:t>Vererbung Hierarchie → Produkt → Variante, pro Attribut steuerbar.</a:t>
            </a:r>
            <a:endParaRPr lang="en-US" sz="1200" dirty="0"/>
          </a:p>
        </p:txBody>
      </p:sp>
      <p:sp>
        <p:nvSpPr>
          <p:cNvPr id="9" name="Text 7"/>
          <p:cNvSpPr txBox="1"/>
          <p:nvPr/>
        </p:nvSpPr>
        <p:spPr>
          <a:xfrm>
            <a:off x="6324448" y="1572768"/>
            <a:ext cx="5318608" cy="228600"/>
          </a:xfrm>
          <a:prstGeom prst="rect">
            <a:avLst/>
          </a:prstGeom>
          <a:noFill/>
          <a:ln/>
        </p:spPr>
        <p:txBody>
          <a:bodyPr wrap="square" lIns="0" tIns="0" rIns="0" bIns="0" rtlCol="0" anchor="t"/>
          <a:lstStyle/>
          <a:p>
            <a:pPr indent="0" marL="0">
              <a:buNone/>
            </a:pPr>
            <a:r>
              <a:rPr lang="en-US" sz="1000" b="1" spc="100" kern="0" dirty="0">
                <a:solidFill>
                  <a:srgbClr val="E2211C"/>
                </a:solidFill>
                <a:latin typeface="Arial" pitchFamily="34" charset="0"/>
                <a:ea typeface="Arial" pitchFamily="34" charset="-122"/>
                <a:cs typeface="Arial" pitchFamily="34" charset="-120"/>
              </a:rPr>
              <a:t>02 · KLASSIFIKATIONEN</a:t>
            </a:r>
            <a:endParaRPr lang="en-US" sz="1000" dirty="0"/>
          </a:p>
        </p:txBody>
      </p:sp>
      <p:sp>
        <p:nvSpPr>
          <p:cNvPr id="10" name="Text 8"/>
          <p:cNvSpPr txBox="1"/>
          <p:nvPr/>
        </p:nvSpPr>
        <p:spPr>
          <a:xfrm>
            <a:off x="6324448" y="1810512"/>
            <a:ext cx="5318608" cy="292608"/>
          </a:xfrm>
          <a:prstGeom prst="rect">
            <a:avLst/>
          </a:prstGeom>
          <a:noFill/>
          <a:ln/>
        </p:spPr>
        <p:txBody>
          <a:bodyPr wrap="square" lIns="0" tIns="0" rIns="0" bIns="0" rtlCol="0" anchor="t"/>
          <a:lstStyle/>
          <a:p>
            <a:pPr indent="0" marL="0">
              <a:buNone/>
            </a:pPr>
            <a:r>
              <a:rPr lang="en-US" sz="1500" b="1" dirty="0">
                <a:solidFill>
                  <a:srgbClr val="16181D"/>
                </a:solidFill>
                <a:latin typeface="Arial" pitchFamily="34" charset="0"/>
                <a:ea typeface="Arial" pitchFamily="34" charset="-122"/>
                <a:cs typeface="Arial" pitchFamily="34" charset="-120"/>
              </a:rPr>
              <a:t>Mehrere Ordnungen ohne Dubletten</a:t>
            </a:r>
            <a:endParaRPr lang="en-US" sz="1500" dirty="0"/>
          </a:p>
        </p:txBody>
      </p:sp>
      <p:sp>
        <p:nvSpPr>
          <p:cNvPr id="11" name="Text 9"/>
          <p:cNvSpPr txBox="1"/>
          <p:nvPr/>
        </p:nvSpPr>
        <p:spPr>
          <a:xfrm>
            <a:off x="6324448" y="2121408"/>
            <a:ext cx="5318608" cy="274320"/>
          </a:xfrm>
          <a:prstGeom prst="rect">
            <a:avLst/>
          </a:prstGeom>
          <a:noFill/>
          <a:ln/>
        </p:spPr>
        <p:txBody>
          <a:bodyPr wrap="square" lIns="0" tIns="0" rIns="0" bIns="0" rtlCol="0" anchor="t"/>
          <a:lstStyle/>
          <a:p>
            <a:pPr indent="0" marL="0">
              <a:buNone/>
            </a:pPr>
            <a:r>
              <a:rPr lang="en-US" sz="1200" dirty="0">
                <a:solidFill>
                  <a:srgbClr val="4B5563"/>
                </a:solidFill>
                <a:latin typeface="Arial" pitchFamily="34" charset="0"/>
                <a:ea typeface="Arial" pitchFamily="34" charset="-122"/>
                <a:cs typeface="Arial" pitchFamily="34" charset="-120"/>
              </a:rPr>
              <a:t>Master- und Output-Hierarchien, Attribut-Mappings mit Umrechnung.</a:t>
            </a:r>
            <a:endParaRPr lang="en-US" sz="1200" dirty="0"/>
          </a:p>
        </p:txBody>
      </p:sp>
      <p:sp>
        <p:nvSpPr>
          <p:cNvPr id="12" name="Text 10"/>
          <p:cNvSpPr txBox="1"/>
          <p:nvPr/>
        </p:nvSpPr>
        <p:spPr>
          <a:xfrm>
            <a:off x="548640" y="2514600"/>
            <a:ext cx="5318608" cy="228600"/>
          </a:xfrm>
          <a:prstGeom prst="rect">
            <a:avLst/>
          </a:prstGeom>
          <a:noFill/>
          <a:ln/>
        </p:spPr>
        <p:txBody>
          <a:bodyPr wrap="square" lIns="0" tIns="0" rIns="0" bIns="0" rtlCol="0" anchor="t"/>
          <a:lstStyle/>
          <a:p>
            <a:pPr indent="0" marL="0">
              <a:buNone/>
            </a:pPr>
            <a:r>
              <a:rPr lang="en-US" sz="1000" b="1" spc="100" kern="0" dirty="0">
                <a:solidFill>
                  <a:srgbClr val="E2211C"/>
                </a:solidFill>
                <a:latin typeface="Arial" pitchFamily="34" charset="0"/>
                <a:ea typeface="Arial" pitchFamily="34" charset="-122"/>
                <a:cs typeface="Arial" pitchFamily="34" charset="-120"/>
              </a:rPr>
              <a:t>03 · DATENMODELL</a:t>
            </a:r>
            <a:endParaRPr lang="en-US" sz="1000" dirty="0"/>
          </a:p>
        </p:txBody>
      </p:sp>
      <p:sp>
        <p:nvSpPr>
          <p:cNvPr id="13" name="Text 11"/>
          <p:cNvSpPr txBox="1"/>
          <p:nvPr/>
        </p:nvSpPr>
        <p:spPr>
          <a:xfrm>
            <a:off x="548640" y="2752344"/>
            <a:ext cx="5318608" cy="292608"/>
          </a:xfrm>
          <a:prstGeom prst="rect">
            <a:avLst/>
          </a:prstGeom>
          <a:noFill/>
          <a:ln/>
        </p:spPr>
        <p:txBody>
          <a:bodyPr wrap="square" lIns="0" tIns="0" rIns="0" bIns="0" rtlCol="0" anchor="t"/>
          <a:lstStyle/>
          <a:p>
            <a:pPr indent="0" marL="0">
              <a:buNone/>
            </a:pPr>
            <a:r>
              <a:rPr lang="en-US" sz="1500" b="1" dirty="0">
                <a:solidFill>
                  <a:srgbClr val="16181D"/>
                </a:solidFill>
                <a:latin typeface="Arial" pitchFamily="34" charset="0"/>
                <a:ea typeface="Arial" pitchFamily="34" charset="-122"/>
                <a:cs typeface="Arial" pitchFamily="34" charset="-120"/>
              </a:rPr>
              <a:t>Fachabteilung statt Entwicklerticket</a:t>
            </a:r>
            <a:endParaRPr lang="en-US" sz="1500" dirty="0"/>
          </a:p>
        </p:txBody>
      </p:sp>
      <p:sp>
        <p:nvSpPr>
          <p:cNvPr id="14" name="Text 12"/>
          <p:cNvSpPr txBox="1"/>
          <p:nvPr/>
        </p:nvSpPr>
        <p:spPr>
          <a:xfrm>
            <a:off x="548640" y="3063240"/>
            <a:ext cx="5318608" cy="274320"/>
          </a:xfrm>
          <a:prstGeom prst="rect">
            <a:avLst/>
          </a:prstGeom>
          <a:noFill/>
          <a:ln/>
        </p:spPr>
        <p:txBody>
          <a:bodyPr wrap="square" lIns="0" tIns="0" rIns="0" bIns="0" rtlCol="0" anchor="t"/>
          <a:lstStyle/>
          <a:p>
            <a:pPr indent="0" marL="0">
              <a:buNone/>
            </a:pPr>
            <a:r>
              <a:rPr lang="en-US" sz="1200" dirty="0">
                <a:solidFill>
                  <a:srgbClr val="4B5563"/>
                </a:solidFill>
                <a:latin typeface="Arial" pitchFamily="34" charset="0"/>
                <a:ea typeface="Arial" pitchFamily="34" charset="-122"/>
                <a:cs typeface="Arial" pitchFamily="34" charset="-120"/>
              </a:rPr>
              <a:t>21 Datentypen, neue Attribute über die Oberfläche – ohne Deployment.</a:t>
            </a:r>
            <a:endParaRPr lang="en-US" sz="1200" dirty="0"/>
          </a:p>
        </p:txBody>
      </p:sp>
      <p:sp>
        <p:nvSpPr>
          <p:cNvPr id="15" name="Text 13"/>
          <p:cNvSpPr txBox="1"/>
          <p:nvPr/>
        </p:nvSpPr>
        <p:spPr>
          <a:xfrm>
            <a:off x="6324448" y="2514600"/>
            <a:ext cx="5318608" cy="228600"/>
          </a:xfrm>
          <a:prstGeom prst="rect">
            <a:avLst/>
          </a:prstGeom>
          <a:noFill/>
          <a:ln/>
        </p:spPr>
        <p:txBody>
          <a:bodyPr wrap="square" lIns="0" tIns="0" rIns="0" bIns="0" rtlCol="0" anchor="t"/>
          <a:lstStyle/>
          <a:p>
            <a:pPr indent="0" marL="0">
              <a:buNone/>
            </a:pPr>
            <a:r>
              <a:rPr lang="en-US" sz="1000" b="1" spc="100" kern="0" dirty="0">
                <a:solidFill>
                  <a:srgbClr val="E2211C"/>
                </a:solidFill>
                <a:latin typeface="Arial" pitchFamily="34" charset="0"/>
                <a:ea typeface="Arial" pitchFamily="34" charset="-122"/>
                <a:cs typeface="Arial" pitchFamily="34" charset="-120"/>
              </a:rPr>
              <a:t>04 · PRINT</a:t>
            </a:r>
            <a:endParaRPr lang="en-US" sz="1000" dirty="0"/>
          </a:p>
        </p:txBody>
      </p:sp>
      <p:sp>
        <p:nvSpPr>
          <p:cNvPr id="16" name="Text 14"/>
          <p:cNvSpPr txBox="1"/>
          <p:nvPr/>
        </p:nvSpPr>
        <p:spPr>
          <a:xfrm>
            <a:off x="6324448" y="2752344"/>
            <a:ext cx="5318608" cy="292608"/>
          </a:xfrm>
          <a:prstGeom prst="rect">
            <a:avLst/>
          </a:prstGeom>
          <a:noFill/>
          <a:ln/>
        </p:spPr>
        <p:txBody>
          <a:bodyPr wrap="square" lIns="0" tIns="0" rIns="0" bIns="0" rtlCol="0" anchor="t"/>
          <a:lstStyle/>
          <a:p>
            <a:pPr indent="0" marL="0">
              <a:buNone/>
            </a:pPr>
            <a:r>
              <a:rPr lang="en-US" sz="1500" b="1" dirty="0">
                <a:solidFill>
                  <a:srgbClr val="16181D"/>
                </a:solidFill>
                <a:latin typeface="Arial" pitchFamily="34" charset="0"/>
                <a:ea typeface="Arial" pitchFamily="34" charset="-122"/>
                <a:cs typeface="Arial" pitchFamily="34" charset="-120"/>
              </a:rPr>
              <a:t>Vorschau und Prospekt aus denselben Daten</a:t>
            </a:r>
            <a:endParaRPr lang="en-US" sz="1500" dirty="0"/>
          </a:p>
        </p:txBody>
      </p:sp>
      <p:sp>
        <p:nvSpPr>
          <p:cNvPr id="17" name="Text 15"/>
          <p:cNvSpPr txBox="1"/>
          <p:nvPr/>
        </p:nvSpPr>
        <p:spPr>
          <a:xfrm>
            <a:off x="6324448" y="3063240"/>
            <a:ext cx="5318608" cy="274320"/>
          </a:xfrm>
          <a:prstGeom prst="rect">
            <a:avLst/>
          </a:prstGeom>
          <a:noFill/>
          <a:ln/>
        </p:spPr>
        <p:txBody>
          <a:bodyPr wrap="square" lIns="0" tIns="0" rIns="0" bIns="0" rtlCol="0" anchor="t"/>
          <a:lstStyle/>
          <a:p>
            <a:pPr indent="0" marL="0">
              <a:buNone/>
            </a:pPr>
            <a:r>
              <a:rPr lang="en-US" sz="1200" dirty="0">
                <a:solidFill>
                  <a:srgbClr val="4B5563"/>
                </a:solidFill>
                <a:latin typeface="Arial" pitchFamily="34" charset="0"/>
                <a:ea typeface="Arial" pitchFamily="34" charset="-122"/>
                <a:cs typeface="Arial" pitchFamily="34" charset="-120"/>
              </a:rPr>
              <a:t>PDF-Vorlagen, InDesign-Skript-Export und Publixx-Anbindung.</a:t>
            </a:r>
            <a:endParaRPr lang="en-US" sz="1200" dirty="0"/>
          </a:p>
        </p:txBody>
      </p:sp>
      <p:sp>
        <p:nvSpPr>
          <p:cNvPr id="18" name="Text 16"/>
          <p:cNvSpPr txBox="1"/>
          <p:nvPr/>
        </p:nvSpPr>
        <p:spPr>
          <a:xfrm>
            <a:off x="548640" y="3456432"/>
            <a:ext cx="5318608" cy="228600"/>
          </a:xfrm>
          <a:prstGeom prst="rect">
            <a:avLst/>
          </a:prstGeom>
          <a:noFill/>
          <a:ln/>
        </p:spPr>
        <p:txBody>
          <a:bodyPr wrap="square" lIns="0" tIns="0" rIns="0" bIns="0" rtlCol="0" anchor="t"/>
          <a:lstStyle/>
          <a:p>
            <a:pPr indent="0" marL="0">
              <a:buNone/>
            </a:pPr>
            <a:r>
              <a:rPr lang="en-US" sz="1000" b="1" spc="100" kern="0" dirty="0">
                <a:solidFill>
                  <a:srgbClr val="E2211C"/>
                </a:solidFill>
                <a:latin typeface="Arial" pitchFamily="34" charset="0"/>
                <a:ea typeface="Arial" pitchFamily="34" charset="-122"/>
                <a:cs typeface="Arial" pitchFamily="34" charset="-120"/>
              </a:rPr>
              <a:t>05 · SHOP UND WEB</a:t>
            </a:r>
            <a:endParaRPr lang="en-US" sz="1000" dirty="0"/>
          </a:p>
        </p:txBody>
      </p:sp>
      <p:sp>
        <p:nvSpPr>
          <p:cNvPr id="19" name="Text 17"/>
          <p:cNvSpPr txBox="1"/>
          <p:nvPr/>
        </p:nvSpPr>
        <p:spPr>
          <a:xfrm>
            <a:off x="548640" y="3694176"/>
            <a:ext cx="5318608" cy="292608"/>
          </a:xfrm>
          <a:prstGeom prst="rect">
            <a:avLst/>
          </a:prstGeom>
          <a:noFill/>
          <a:ln/>
        </p:spPr>
        <p:txBody>
          <a:bodyPr wrap="square" lIns="0" tIns="0" rIns="0" bIns="0" rtlCol="0" anchor="t"/>
          <a:lstStyle/>
          <a:p>
            <a:pPr indent="0" marL="0">
              <a:buNone/>
            </a:pPr>
            <a:r>
              <a:rPr lang="en-US" sz="1500" b="1" dirty="0">
                <a:solidFill>
                  <a:srgbClr val="16181D"/>
                </a:solidFill>
                <a:latin typeface="Arial" pitchFamily="34" charset="0"/>
                <a:ea typeface="Arial" pitchFamily="34" charset="-122"/>
                <a:cs typeface="Arial" pitchFamily="34" charset="-120"/>
              </a:rPr>
              <a:t>Anbinden statt ersetzen</a:t>
            </a:r>
            <a:endParaRPr lang="en-US" sz="1500" dirty="0"/>
          </a:p>
        </p:txBody>
      </p:sp>
      <p:sp>
        <p:nvSpPr>
          <p:cNvPr id="20" name="Text 18"/>
          <p:cNvSpPr txBox="1"/>
          <p:nvPr/>
        </p:nvSpPr>
        <p:spPr>
          <a:xfrm>
            <a:off x="548640" y="4005072"/>
            <a:ext cx="5318608" cy="274320"/>
          </a:xfrm>
          <a:prstGeom prst="rect">
            <a:avLst/>
          </a:prstGeom>
          <a:noFill/>
          <a:ln/>
        </p:spPr>
        <p:txBody>
          <a:bodyPr wrap="square" lIns="0" tIns="0" rIns="0" bIns="0" rtlCol="0" anchor="t"/>
          <a:lstStyle/>
          <a:p>
            <a:pPr indent="0" marL="0">
              <a:buNone/>
            </a:pPr>
            <a:r>
              <a:rPr lang="en-US" sz="1200" dirty="0">
                <a:solidFill>
                  <a:srgbClr val="4B5563"/>
                </a:solidFill>
                <a:latin typeface="Arial" pitchFamily="34" charset="0"/>
                <a:ea typeface="Arial" pitchFamily="34" charset="-122"/>
                <a:cs typeface="Arial" pitchFamily="34" charset="-120"/>
              </a:rPr>
              <a:t>Shopware 6, Shopify, Katalog-Widget für CMS, umfassende REST-API.</a:t>
            </a:r>
            <a:endParaRPr lang="en-US" sz="1200" dirty="0"/>
          </a:p>
        </p:txBody>
      </p:sp>
      <p:sp>
        <p:nvSpPr>
          <p:cNvPr id="21" name="Text 19"/>
          <p:cNvSpPr txBox="1"/>
          <p:nvPr/>
        </p:nvSpPr>
        <p:spPr>
          <a:xfrm>
            <a:off x="6324448" y="3456432"/>
            <a:ext cx="5318608" cy="228600"/>
          </a:xfrm>
          <a:prstGeom prst="rect">
            <a:avLst/>
          </a:prstGeom>
          <a:noFill/>
          <a:ln/>
        </p:spPr>
        <p:txBody>
          <a:bodyPr wrap="square" lIns="0" tIns="0" rIns="0" bIns="0" rtlCol="0" anchor="t"/>
          <a:lstStyle/>
          <a:p>
            <a:pPr indent="0" marL="0">
              <a:buNone/>
            </a:pPr>
            <a:r>
              <a:rPr lang="en-US" sz="1000" b="1" spc="100" kern="0" dirty="0">
                <a:solidFill>
                  <a:srgbClr val="E2211C"/>
                </a:solidFill>
                <a:latin typeface="Arial" pitchFamily="34" charset="0"/>
                <a:ea typeface="Arial" pitchFamily="34" charset="-122"/>
                <a:cs typeface="Arial" pitchFamily="34" charset="-120"/>
              </a:rPr>
              <a:t>06 · SUCHE</a:t>
            </a:r>
            <a:endParaRPr lang="en-US" sz="1000" dirty="0"/>
          </a:p>
        </p:txBody>
      </p:sp>
      <p:sp>
        <p:nvSpPr>
          <p:cNvPr id="22" name="Text 20"/>
          <p:cNvSpPr txBox="1"/>
          <p:nvPr/>
        </p:nvSpPr>
        <p:spPr>
          <a:xfrm>
            <a:off x="6324448" y="3694176"/>
            <a:ext cx="5318608" cy="292608"/>
          </a:xfrm>
          <a:prstGeom prst="rect">
            <a:avLst/>
          </a:prstGeom>
          <a:noFill/>
          <a:ln/>
        </p:spPr>
        <p:txBody>
          <a:bodyPr wrap="square" lIns="0" tIns="0" rIns="0" bIns="0" rtlCol="0" anchor="t"/>
          <a:lstStyle/>
          <a:p>
            <a:pPr indent="0" marL="0">
              <a:buNone/>
            </a:pPr>
            <a:r>
              <a:rPr lang="en-US" sz="1500" b="1" dirty="0">
                <a:solidFill>
                  <a:srgbClr val="16181D"/>
                </a:solidFill>
                <a:latin typeface="Arial" pitchFamily="34" charset="0"/>
                <a:ea typeface="Arial" pitchFamily="34" charset="-122"/>
                <a:cs typeface="Arial" pitchFamily="34" charset="-120"/>
              </a:rPr>
              <a:t>Gebaut für deutsche Fachsprache</a:t>
            </a:r>
            <a:endParaRPr lang="en-US" sz="1500" dirty="0"/>
          </a:p>
        </p:txBody>
      </p:sp>
      <p:sp>
        <p:nvSpPr>
          <p:cNvPr id="23" name="Text 21"/>
          <p:cNvSpPr txBox="1"/>
          <p:nvPr/>
        </p:nvSpPr>
        <p:spPr>
          <a:xfrm>
            <a:off x="6324448" y="4005072"/>
            <a:ext cx="5318608" cy="274320"/>
          </a:xfrm>
          <a:prstGeom prst="rect">
            <a:avLst/>
          </a:prstGeom>
          <a:noFill/>
          <a:ln/>
        </p:spPr>
        <p:txBody>
          <a:bodyPr wrap="square" lIns="0" tIns="0" rIns="0" bIns="0" rtlCol="0" anchor="t"/>
          <a:lstStyle/>
          <a:p>
            <a:pPr indent="0" marL="0">
              <a:buNone/>
            </a:pPr>
            <a:r>
              <a:rPr lang="en-US" sz="1200" dirty="0">
                <a:solidFill>
                  <a:srgbClr val="4B5563"/>
                </a:solidFill>
                <a:latin typeface="Arial" pitchFamily="34" charset="0"/>
                <a:ea typeface="Arial" pitchFamily="34" charset="-122"/>
                <a:cs typeface="Arial" pitchFamily="34" charset="-120"/>
              </a:rPr>
              <a:t>Fuzzy-Suche und Kölner Phonetik: „Kirchner“ findet „Kircher“.</a:t>
            </a:r>
            <a:endParaRPr lang="en-US" sz="1200" dirty="0"/>
          </a:p>
        </p:txBody>
      </p:sp>
      <p:sp>
        <p:nvSpPr>
          <p:cNvPr id="24" name="Text 22"/>
          <p:cNvSpPr txBox="1"/>
          <p:nvPr/>
        </p:nvSpPr>
        <p:spPr>
          <a:xfrm>
            <a:off x="548640" y="4398264"/>
            <a:ext cx="5318608" cy="228600"/>
          </a:xfrm>
          <a:prstGeom prst="rect">
            <a:avLst/>
          </a:prstGeom>
          <a:noFill/>
          <a:ln/>
        </p:spPr>
        <p:txBody>
          <a:bodyPr wrap="square" lIns="0" tIns="0" rIns="0" bIns="0" rtlCol="0" anchor="t"/>
          <a:lstStyle/>
          <a:p>
            <a:pPr indent="0" marL="0">
              <a:buNone/>
            </a:pPr>
            <a:r>
              <a:rPr lang="en-US" sz="1000" b="1" spc="100" kern="0" dirty="0">
                <a:solidFill>
                  <a:srgbClr val="E2211C"/>
                </a:solidFill>
                <a:latin typeface="Arial" pitchFamily="34" charset="0"/>
                <a:ea typeface="Arial" pitchFamily="34" charset="-122"/>
                <a:cs typeface="Arial" pitchFamily="34" charset="-120"/>
              </a:rPr>
              <a:t>07 · PROGRAMMPLANUNG</a:t>
            </a:r>
            <a:endParaRPr lang="en-US" sz="1000" dirty="0"/>
          </a:p>
        </p:txBody>
      </p:sp>
      <p:sp>
        <p:nvSpPr>
          <p:cNvPr id="25" name="Text 23"/>
          <p:cNvSpPr txBox="1"/>
          <p:nvPr/>
        </p:nvSpPr>
        <p:spPr>
          <a:xfrm>
            <a:off x="548640" y="4636008"/>
            <a:ext cx="5318608" cy="292608"/>
          </a:xfrm>
          <a:prstGeom prst="rect">
            <a:avLst/>
          </a:prstGeom>
          <a:noFill/>
          <a:ln/>
        </p:spPr>
        <p:txBody>
          <a:bodyPr wrap="square" lIns="0" tIns="0" rIns="0" bIns="0" rtlCol="0" anchor="t"/>
          <a:lstStyle/>
          <a:p>
            <a:pPr indent="0" marL="0">
              <a:buNone/>
            </a:pPr>
            <a:r>
              <a:rPr lang="en-US" sz="1500" b="1" dirty="0">
                <a:solidFill>
                  <a:srgbClr val="16181D"/>
                </a:solidFill>
                <a:latin typeface="Arial" pitchFamily="34" charset="0"/>
                <a:ea typeface="Arial" pitchFamily="34" charset="-122"/>
                <a:cs typeface="Arial" pitchFamily="34" charset="-120"/>
              </a:rPr>
              <a:t>Erscheinungstermine im System</a:t>
            </a:r>
            <a:endParaRPr lang="en-US" sz="1500" dirty="0"/>
          </a:p>
        </p:txBody>
      </p:sp>
      <p:sp>
        <p:nvSpPr>
          <p:cNvPr id="26" name="Text 24"/>
          <p:cNvSpPr txBox="1"/>
          <p:nvPr/>
        </p:nvSpPr>
        <p:spPr>
          <a:xfrm>
            <a:off x="548640" y="4946904"/>
            <a:ext cx="5318608" cy="274320"/>
          </a:xfrm>
          <a:prstGeom prst="rect">
            <a:avLst/>
          </a:prstGeom>
          <a:noFill/>
          <a:ln/>
        </p:spPr>
        <p:txBody>
          <a:bodyPr wrap="square" lIns="0" tIns="0" rIns="0" bIns="0" rtlCol="0" anchor="t"/>
          <a:lstStyle/>
          <a:p>
            <a:pPr indent="0" marL="0">
              <a:buNone/>
            </a:pPr>
            <a:r>
              <a:rPr lang="en-US" sz="1200" dirty="0">
                <a:solidFill>
                  <a:srgbClr val="4B5563"/>
                </a:solidFill>
                <a:latin typeface="Arial" pitchFamily="34" charset="0"/>
                <a:ea typeface="Arial" pitchFamily="34" charset="-122"/>
                <a:cs typeface="Arial" pitchFamily="34" charset="-120"/>
              </a:rPr>
              <a:t>Versionen mit Veröffentlichungsdatum und Rollback, Planungskalender.</a:t>
            </a:r>
            <a:endParaRPr lang="en-US" sz="1200" dirty="0"/>
          </a:p>
        </p:txBody>
      </p:sp>
      <p:sp>
        <p:nvSpPr>
          <p:cNvPr id="27" name="Text 25"/>
          <p:cNvSpPr txBox="1"/>
          <p:nvPr/>
        </p:nvSpPr>
        <p:spPr>
          <a:xfrm>
            <a:off x="6324448" y="4398264"/>
            <a:ext cx="5318608" cy="228600"/>
          </a:xfrm>
          <a:prstGeom prst="rect">
            <a:avLst/>
          </a:prstGeom>
          <a:noFill/>
          <a:ln/>
        </p:spPr>
        <p:txBody>
          <a:bodyPr wrap="square" lIns="0" tIns="0" rIns="0" bIns="0" rtlCol="0" anchor="t"/>
          <a:lstStyle/>
          <a:p>
            <a:pPr indent="0" marL="0">
              <a:buNone/>
            </a:pPr>
            <a:r>
              <a:rPr lang="en-US" sz="1000" b="1" spc="100" kern="0" dirty="0">
                <a:solidFill>
                  <a:srgbClr val="E2211C"/>
                </a:solidFill>
                <a:latin typeface="Arial" pitchFamily="34" charset="0"/>
                <a:ea typeface="Arial" pitchFamily="34" charset="-122"/>
                <a:cs typeface="Arial" pitchFamily="34" charset="-120"/>
              </a:rPr>
              <a:t>08 · DATENQUALITÄT</a:t>
            </a:r>
            <a:endParaRPr lang="en-US" sz="1000" dirty="0"/>
          </a:p>
        </p:txBody>
      </p:sp>
      <p:sp>
        <p:nvSpPr>
          <p:cNvPr id="28" name="Text 26"/>
          <p:cNvSpPr txBox="1"/>
          <p:nvPr/>
        </p:nvSpPr>
        <p:spPr>
          <a:xfrm>
            <a:off x="6324448" y="4636008"/>
            <a:ext cx="5318608" cy="292608"/>
          </a:xfrm>
          <a:prstGeom prst="rect">
            <a:avLst/>
          </a:prstGeom>
          <a:noFill/>
          <a:ln/>
        </p:spPr>
        <p:txBody>
          <a:bodyPr wrap="square" lIns="0" tIns="0" rIns="0" bIns="0" rtlCol="0" anchor="t"/>
          <a:lstStyle/>
          <a:p>
            <a:pPr indent="0" marL="0">
              <a:buNone/>
            </a:pPr>
            <a:r>
              <a:rPr lang="en-US" sz="1500" b="1" dirty="0">
                <a:solidFill>
                  <a:srgbClr val="16181D"/>
                </a:solidFill>
                <a:latin typeface="Arial" pitchFamily="34" charset="0"/>
                <a:ea typeface="Arial" pitchFamily="34" charset="-122"/>
                <a:cs typeface="Arial" pitchFamily="34" charset="-120"/>
              </a:rPr>
              <a:t>Vollständigkeit wird messbar</a:t>
            </a:r>
            <a:endParaRPr lang="en-US" sz="1500" dirty="0"/>
          </a:p>
        </p:txBody>
      </p:sp>
      <p:sp>
        <p:nvSpPr>
          <p:cNvPr id="29" name="Text 27"/>
          <p:cNvSpPr txBox="1"/>
          <p:nvPr/>
        </p:nvSpPr>
        <p:spPr>
          <a:xfrm>
            <a:off x="6324448" y="4946904"/>
            <a:ext cx="5318608" cy="274320"/>
          </a:xfrm>
          <a:prstGeom prst="rect">
            <a:avLst/>
          </a:prstGeom>
          <a:noFill/>
          <a:ln/>
        </p:spPr>
        <p:txBody>
          <a:bodyPr wrap="square" lIns="0" tIns="0" rIns="0" bIns="0" rtlCol="0" anchor="t"/>
          <a:lstStyle/>
          <a:p>
            <a:pPr indent="0" marL="0">
              <a:buNone/>
            </a:pPr>
            <a:r>
              <a:rPr lang="en-US" sz="1200" dirty="0">
                <a:solidFill>
                  <a:srgbClr val="4B5563"/>
                </a:solidFill>
                <a:latin typeface="Arial" pitchFamily="34" charset="0"/>
                <a:ea typeface="Arial" pitchFamily="34" charset="-122"/>
                <a:cs typeface="Arial" pitchFamily="34" charset="-120"/>
              </a:rPr>
              <a:t>Konformitätsprofile je Kanal, Reports, Journal und Audit-Trail.</a:t>
            </a:r>
            <a:endParaRPr lang="en-US" sz="1200" dirty="0"/>
          </a:p>
        </p:txBody>
      </p:sp>
      <p:sp>
        <p:nvSpPr>
          <p:cNvPr id="30" name="Text 28"/>
          <p:cNvSpPr txBox="1"/>
          <p:nvPr/>
        </p:nvSpPr>
        <p:spPr>
          <a:xfrm>
            <a:off x="548640" y="5340096"/>
            <a:ext cx="5318608" cy="228600"/>
          </a:xfrm>
          <a:prstGeom prst="rect">
            <a:avLst/>
          </a:prstGeom>
          <a:noFill/>
          <a:ln/>
        </p:spPr>
        <p:txBody>
          <a:bodyPr wrap="square" lIns="0" tIns="0" rIns="0" bIns="0" rtlCol="0" anchor="t"/>
          <a:lstStyle/>
          <a:p>
            <a:pPr indent="0" marL="0">
              <a:buNone/>
            </a:pPr>
            <a:r>
              <a:rPr lang="en-US" sz="1000" b="1" spc="100" kern="0" dirty="0">
                <a:solidFill>
                  <a:srgbClr val="E2211C"/>
                </a:solidFill>
                <a:latin typeface="Arial" pitchFamily="34" charset="0"/>
                <a:ea typeface="Arial" pitchFamily="34" charset="-122"/>
                <a:cs typeface="Arial" pitchFamily="34" charset="-120"/>
              </a:rPr>
              <a:t>09 · IMPORT</a:t>
            </a:r>
            <a:endParaRPr lang="en-US" sz="1000" dirty="0"/>
          </a:p>
        </p:txBody>
      </p:sp>
      <p:sp>
        <p:nvSpPr>
          <p:cNvPr id="31" name="Text 29"/>
          <p:cNvSpPr txBox="1"/>
          <p:nvPr/>
        </p:nvSpPr>
        <p:spPr>
          <a:xfrm>
            <a:off x="548640" y="5577840"/>
            <a:ext cx="5318608" cy="292608"/>
          </a:xfrm>
          <a:prstGeom prst="rect">
            <a:avLst/>
          </a:prstGeom>
          <a:noFill/>
          <a:ln/>
        </p:spPr>
        <p:txBody>
          <a:bodyPr wrap="square" lIns="0" tIns="0" rIns="0" bIns="0" rtlCol="0" anchor="t"/>
          <a:lstStyle/>
          <a:p>
            <a:pPr indent="0" marL="0">
              <a:buNone/>
            </a:pPr>
            <a:r>
              <a:rPr lang="en-US" sz="1500" b="1" dirty="0">
                <a:solidFill>
                  <a:srgbClr val="16181D"/>
                </a:solidFill>
                <a:latin typeface="Arial" pitchFamily="34" charset="0"/>
                <a:ea typeface="Arial" pitchFamily="34" charset="-122"/>
                <a:cs typeface="Arial" pitchFamily="34" charset="-120"/>
              </a:rPr>
              <a:t>Bestand schnell übernehmen</a:t>
            </a:r>
            <a:endParaRPr lang="en-US" sz="1500" dirty="0"/>
          </a:p>
        </p:txBody>
      </p:sp>
      <p:sp>
        <p:nvSpPr>
          <p:cNvPr id="32" name="Text 30"/>
          <p:cNvSpPr txBox="1"/>
          <p:nvPr/>
        </p:nvSpPr>
        <p:spPr>
          <a:xfrm>
            <a:off x="548640" y="5888736"/>
            <a:ext cx="5318608" cy="274320"/>
          </a:xfrm>
          <a:prstGeom prst="rect">
            <a:avLst/>
          </a:prstGeom>
          <a:noFill/>
          <a:ln/>
        </p:spPr>
        <p:txBody>
          <a:bodyPr wrap="square" lIns="0" tIns="0" rIns="0" bIns="0" rtlCol="0" anchor="t"/>
          <a:lstStyle/>
          <a:p>
            <a:pPr indent="0" marL="0">
              <a:buNone/>
            </a:pPr>
            <a:r>
              <a:rPr lang="en-US" sz="1200" dirty="0">
                <a:solidFill>
                  <a:srgbClr val="4B5563"/>
                </a:solidFill>
                <a:latin typeface="Arial" pitchFamily="34" charset="0"/>
                <a:ea typeface="Arial" pitchFamily="34" charset="-122"/>
                <a:cs typeface="Arial" pitchFamily="34" charset="-120"/>
              </a:rPr>
              <a:t>Excel-Import mit dreistufiger Validierung, JSON-Voll-Import, BMEcat.</a:t>
            </a:r>
            <a:endParaRPr lang="en-US" sz="1200" dirty="0"/>
          </a:p>
        </p:txBody>
      </p:sp>
      <p:sp>
        <p:nvSpPr>
          <p:cNvPr id="33" name="Text 31"/>
          <p:cNvSpPr txBox="1"/>
          <p:nvPr/>
        </p:nvSpPr>
        <p:spPr>
          <a:xfrm>
            <a:off x="6324448" y="5340096"/>
            <a:ext cx="5318608" cy="228600"/>
          </a:xfrm>
          <a:prstGeom prst="rect">
            <a:avLst/>
          </a:prstGeom>
          <a:noFill/>
          <a:ln/>
        </p:spPr>
        <p:txBody>
          <a:bodyPr wrap="square" lIns="0" tIns="0" rIns="0" bIns="0" rtlCol="0" anchor="t"/>
          <a:lstStyle/>
          <a:p>
            <a:pPr indent="0" marL="0">
              <a:buNone/>
            </a:pPr>
            <a:r>
              <a:rPr lang="en-US" sz="1000" b="1" spc="100" kern="0" dirty="0">
                <a:solidFill>
                  <a:srgbClr val="E2211C"/>
                </a:solidFill>
                <a:latin typeface="Arial" pitchFamily="34" charset="0"/>
                <a:ea typeface="Arial" pitchFamily="34" charset="-122"/>
                <a:cs typeface="Arial" pitchFamily="34" charset="-120"/>
              </a:rPr>
              <a:t>10 · BETRIEB UND LIZENZ</a:t>
            </a:r>
            <a:endParaRPr lang="en-US" sz="1000" dirty="0"/>
          </a:p>
        </p:txBody>
      </p:sp>
      <p:sp>
        <p:nvSpPr>
          <p:cNvPr id="34" name="Text 32"/>
          <p:cNvSpPr txBox="1"/>
          <p:nvPr/>
        </p:nvSpPr>
        <p:spPr>
          <a:xfrm>
            <a:off x="6324448" y="5577840"/>
            <a:ext cx="5318608" cy="292608"/>
          </a:xfrm>
          <a:prstGeom prst="rect">
            <a:avLst/>
          </a:prstGeom>
          <a:noFill/>
          <a:ln/>
        </p:spPr>
        <p:txBody>
          <a:bodyPr wrap="square" lIns="0" tIns="0" rIns="0" bIns="0" rtlCol="0" anchor="t"/>
          <a:lstStyle/>
          <a:p>
            <a:pPr indent="0" marL="0">
              <a:buNone/>
            </a:pPr>
            <a:r>
              <a:rPr lang="en-US" sz="1500" b="1" dirty="0">
                <a:solidFill>
                  <a:srgbClr val="16181D"/>
                </a:solidFill>
                <a:latin typeface="Arial" pitchFamily="34" charset="0"/>
                <a:ea typeface="Arial" pitchFamily="34" charset="-122"/>
                <a:cs typeface="Arial" pitchFamily="34" charset="-120"/>
              </a:rPr>
              <a:t>Schlanker Betrieb, Lizenz nach Nutzung</a:t>
            </a:r>
            <a:endParaRPr lang="en-US" sz="1500" dirty="0"/>
          </a:p>
        </p:txBody>
      </p:sp>
      <p:sp>
        <p:nvSpPr>
          <p:cNvPr id="35" name="Text 33"/>
          <p:cNvSpPr txBox="1"/>
          <p:nvPr/>
        </p:nvSpPr>
        <p:spPr>
          <a:xfrm>
            <a:off x="6324448" y="5888736"/>
            <a:ext cx="5318608" cy="274320"/>
          </a:xfrm>
          <a:prstGeom prst="rect">
            <a:avLst/>
          </a:prstGeom>
          <a:noFill/>
          <a:ln/>
        </p:spPr>
        <p:txBody>
          <a:bodyPr wrap="square" lIns="0" tIns="0" rIns="0" bIns="0" rtlCol="0" anchor="t"/>
          <a:lstStyle/>
          <a:p>
            <a:pPr indent="0" marL="0">
              <a:buNone/>
            </a:pPr>
            <a:r>
              <a:rPr lang="en-US" sz="1200" dirty="0">
                <a:solidFill>
                  <a:srgbClr val="4B5563"/>
                </a:solidFill>
                <a:latin typeface="Arial" pitchFamily="34" charset="0"/>
                <a:ea typeface="Arial" pitchFamily="34" charset="-122"/>
                <a:cs typeface="Arial" pitchFamily="34" charset="-120"/>
              </a:rPr>
              <a:t>Nativ ohne Docker und OpenSearch; GPL-Kern, Enterprise-Module einzeln.</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594360"/>
          </a:xfrm>
          <a:prstGeom prst="rect">
            <a:avLst/>
          </a:prstGeom>
          <a:noFill/>
          <a:ln/>
        </p:spPr>
        <p:txBody>
          <a:bodyPr wrap="square" lIns="0" tIns="0" rIns="0" bIns="0" rtlCol="0" anchor="b"/>
          <a:lstStyle/>
          <a:p>
            <a:pPr indent="0" marL="0">
              <a:buNone/>
            </a:pPr>
            <a:r>
              <a:rPr lang="en-US" sz="3000" dirty="0">
                <a:solidFill>
                  <a:srgbClr val="16181D"/>
                </a:solidFill>
                <a:latin typeface="Arial" pitchFamily="34" charset="0"/>
                <a:ea typeface="Arial" pitchFamily="34" charset="-122"/>
                <a:cs typeface="Arial" pitchFamily="34" charset="-120"/>
              </a:rPr>
              <a:t>AUCH MIT ANYPIM GIBT ES EIN PROJEKT</a:t>
            </a:r>
            <a:endParaRPr lang="en-US" sz="3000" dirty="0"/>
          </a:p>
        </p:txBody>
      </p:sp>
      <p:sp>
        <p:nvSpPr>
          <p:cNvPr id="3" name="Text 1"/>
          <p:cNvSpPr txBox="1"/>
          <p:nvPr/>
        </p:nvSpPr>
        <p:spPr>
          <a:xfrm>
            <a:off x="548640" y="1033272"/>
            <a:ext cx="11094415" cy="365760"/>
          </a:xfrm>
          <a:prstGeom prst="rect">
            <a:avLst/>
          </a:prstGeom>
          <a:noFill/>
          <a:ln/>
        </p:spPr>
        <p:txBody>
          <a:bodyPr wrap="square" lIns="0" tIns="0" rIns="0" bIns="0" rtlCol="0" anchor="t"/>
          <a:lstStyle/>
          <a:p>
            <a:pPr indent="0" marL="0">
              <a:buNone/>
            </a:pPr>
            <a:r>
              <a:rPr lang="en-US" sz="1400" dirty="0">
                <a:solidFill>
                  <a:srgbClr val="4B5563"/>
                </a:solidFill>
                <a:latin typeface="Arial" pitchFamily="34" charset="0"/>
                <a:ea typeface="Arial" pitchFamily="34" charset="-122"/>
                <a:cs typeface="Arial" pitchFamily="34" charset="-120"/>
              </a:rPr>
              <a:t>Ehrlich gesagt: die Kohlhammer-Funktionsliste, grob eingeordnet – nicht alles ist heute Standard.</a:t>
            </a:r>
            <a:endParaRPr lang="en-US" sz="1400" dirty="0"/>
          </a:p>
        </p:txBody>
      </p:sp>
      <p:sp>
        <p:nvSpPr>
          <p:cNvPr id="4" name="Text 2"/>
          <p:cNvSpPr txBox="1"/>
          <p:nvPr/>
        </p:nvSpPr>
        <p:spPr>
          <a:xfrm>
            <a:off x="548640" y="6400800"/>
            <a:ext cx="7315200" cy="228600"/>
          </a:xfrm>
          <a:prstGeom prst="rect">
            <a:avLst/>
          </a:prstGeom>
          <a:noFill/>
          <a:ln/>
        </p:spPr>
        <p:txBody>
          <a:bodyPr wrap="square" lIns="0" tIns="0" rIns="0" bIns="0" rtlCol="0" anchor="t"/>
          <a:lstStyle/>
          <a:p>
            <a:pPr indent="0" marL="0">
              <a:buNone/>
            </a:pPr>
            <a:r>
              <a:rPr lang="en-US" sz="900" dirty="0">
                <a:solidFill>
                  <a:srgbClr val="4B5563"/>
                </a:solidFill>
                <a:latin typeface="Arial" pitchFamily="34" charset="0"/>
                <a:ea typeface="Arial" pitchFamily="34" charset="-122"/>
                <a:cs typeface="Arial" pitchFamily="34" charset="-120"/>
              </a:rPr>
              <a:t>anyPIM für Kohlhammer  ·  Entscheidungsvorlage  ·  September 2026</a:t>
            </a:r>
            <a:endParaRPr lang="en-US" sz="900" dirty="0"/>
          </a:p>
        </p:txBody>
      </p:sp>
      <p:sp>
        <p:nvSpPr>
          <p:cNvPr id="5" name="Text 3"/>
          <p:cNvSpPr txBox="1"/>
          <p:nvPr/>
        </p:nvSpPr>
        <p:spPr>
          <a:xfrm>
            <a:off x="10728655" y="6400800"/>
            <a:ext cx="914400" cy="228600"/>
          </a:xfrm>
          <a:prstGeom prst="rect">
            <a:avLst/>
          </a:prstGeom>
          <a:noFill/>
          <a:ln/>
        </p:spPr>
        <p:txBody>
          <a:bodyPr wrap="square" lIns="0" tIns="0" rIns="0" bIns="0" rtlCol="0" anchor="t"/>
          <a:lstStyle/>
          <a:p>
            <a:pPr algn="r" indent="0" marL="0">
              <a:buNone/>
            </a:pPr>
            <a:r>
              <a:rPr lang="en-US" sz="900" dirty="0">
                <a:solidFill>
                  <a:srgbClr val="4B5563"/>
                </a:solidFill>
                <a:latin typeface="Arial" pitchFamily="34" charset="0"/>
                <a:ea typeface="Arial" pitchFamily="34" charset="-122"/>
                <a:cs typeface="Arial" pitchFamily="34" charset="-120"/>
              </a:rPr>
              <a:t>9</a:t>
            </a:r>
            <a:endParaRPr lang="en-US" sz="900" dirty="0"/>
          </a:p>
        </p:txBody>
      </p:sp>
      <p:sp>
        <p:nvSpPr>
          <p:cNvPr id="6" name="Shape 4"/>
          <p:cNvSpPr/>
          <p:nvPr/>
        </p:nvSpPr>
        <p:spPr>
          <a:xfrm>
            <a:off x="548640" y="1645920"/>
            <a:ext cx="3520440" cy="3246120"/>
          </a:xfrm>
          <a:prstGeom prst="rect">
            <a:avLst/>
          </a:prstGeom>
          <a:solidFill>
            <a:srgbClr val="FFFFFF"/>
          </a:solidFill>
          <a:ln w="12700">
            <a:solidFill>
              <a:srgbClr val="D6DDE3"/>
            </a:solidFill>
            <a:prstDash val="solid"/>
          </a:ln>
        </p:spPr>
      </p:sp>
      <p:sp>
        <p:nvSpPr>
          <p:cNvPr id="7" name="Shape 5"/>
          <p:cNvSpPr/>
          <p:nvPr/>
        </p:nvSpPr>
        <p:spPr>
          <a:xfrm>
            <a:off x="777240" y="1874520"/>
            <a:ext cx="1737360" cy="365760"/>
          </a:xfrm>
          <a:prstGeom prst="roundRect">
            <a:avLst>
              <a:gd name="adj" fmla="val 50000"/>
            </a:avLst>
          </a:prstGeom>
          <a:solidFill>
            <a:srgbClr val="DFF3EA"/>
          </a:solidFill>
          <a:ln w="12700">
            <a:solidFill>
              <a:srgbClr val="DFF3EA"/>
            </a:solidFill>
            <a:prstDash val="solid"/>
          </a:ln>
        </p:spPr>
      </p:sp>
      <p:sp>
        <p:nvSpPr>
          <p:cNvPr id="8" name="Text 6"/>
          <p:cNvSpPr txBox="1"/>
          <p:nvPr/>
        </p:nvSpPr>
        <p:spPr>
          <a:xfrm>
            <a:off x="777240" y="1874520"/>
            <a:ext cx="1737360" cy="365760"/>
          </a:xfrm>
          <a:prstGeom prst="rect">
            <a:avLst/>
          </a:prstGeom>
          <a:noFill/>
          <a:ln/>
        </p:spPr>
        <p:txBody>
          <a:bodyPr wrap="square" lIns="0" tIns="0" rIns="0" bIns="0" rtlCol="0" anchor="ctr"/>
          <a:lstStyle/>
          <a:p>
            <a:pPr algn="ctr" indent="0" marL="0">
              <a:buNone/>
            </a:pPr>
            <a:r>
              <a:rPr lang="en-US" sz="1200" b="1" dirty="0">
                <a:solidFill>
                  <a:srgbClr val="0F7A4D"/>
                </a:solidFill>
                <a:latin typeface="Arial" pitchFamily="34" charset="0"/>
                <a:ea typeface="Arial" pitchFamily="34" charset="-122"/>
                <a:cs typeface="Arial" pitchFamily="34" charset="-120"/>
              </a:rPr>
              <a:t>Heute Standard</a:t>
            </a:r>
            <a:endParaRPr lang="en-US" sz="1200" dirty="0"/>
          </a:p>
        </p:txBody>
      </p:sp>
      <p:sp>
        <p:nvSpPr>
          <p:cNvPr id="9" name="Text 7"/>
          <p:cNvSpPr txBox="1"/>
          <p:nvPr/>
        </p:nvSpPr>
        <p:spPr>
          <a:xfrm>
            <a:off x="777240" y="2423160"/>
            <a:ext cx="3108960" cy="2331720"/>
          </a:xfrm>
          <a:prstGeom prst="rect">
            <a:avLst/>
          </a:prstGeom>
          <a:noFill/>
          <a:ln/>
        </p:spPr>
        <p:txBody>
          <a:bodyPr wrap="square" lIns="0" tIns="0" rIns="0" bIns="0" rtlCol="0" anchor="t"/>
          <a:lstStyle/>
          <a:p>
            <a:pPr marL="342900" indent="-342900">
              <a:lnSpc>
                <a:spcPct val="105000"/>
              </a:lnSpc>
              <a:spcAft>
                <a:spcPts val="600"/>
              </a:spcAft>
              <a:buSzPct val="100000"/>
              <a:buChar char="•"/>
            </a:pPr>
            <a:r>
              <a:rPr lang="en-US" sz="1400" dirty="0">
                <a:solidFill>
                  <a:srgbClr val="16181D"/>
                </a:solidFill>
                <a:latin typeface="Arial" pitchFamily="34" charset="0"/>
                <a:ea typeface="Arial" pitchFamily="34" charset="-122"/>
                <a:cs typeface="Arial" pitchFamily="34" charset="-120"/>
              </a:rPr>
              <a:t>Berechtigungen über Rollen</a:t>
            </a:r>
            <a:endParaRPr lang="en-US" sz="1400" dirty="0"/>
          </a:p>
          <a:p>
            <a:pPr marL="342900" indent="-342900">
              <a:lnSpc>
                <a:spcPct val="105000"/>
              </a:lnSpc>
              <a:spcAft>
                <a:spcPts val="600"/>
              </a:spcAft>
              <a:buSzPct val="100000"/>
              <a:buChar char="•"/>
            </a:pPr>
            <a:r>
              <a:rPr lang="en-US" sz="1400" dirty="0">
                <a:solidFill>
                  <a:srgbClr val="16181D"/>
                </a:solidFill>
                <a:latin typeface="Arial" pitchFamily="34" charset="0"/>
                <a:ea typeface="Arial" pitchFamily="34" charset="-122"/>
                <a:cs typeface="Arial" pitchFamily="34" charset="-120"/>
              </a:rPr>
              <a:t>Import von Assets</a:t>
            </a:r>
            <a:endParaRPr lang="en-US" sz="1400" dirty="0"/>
          </a:p>
          <a:p>
            <a:pPr marL="342900" indent="-342900">
              <a:lnSpc>
                <a:spcPct val="105000"/>
              </a:lnSpc>
              <a:spcAft>
                <a:spcPts val="600"/>
              </a:spcAft>
              <a:buSzPct val="100000"/>
              <a:buChar char="•"/>
            </a:pPr>
            <a:r>
              <a:rPr lang="en-US" sz="1400" dirty="0">
                <a:solidFill>
                  <a:srgbClr val="16181D"/>
                </a:solidFill>
                <a:latin typeface="Arial" pitchFamily="34" charset="0"/>
                <a:ea typeface="Arial" pitchFamily="34" charset="-122"/>
                <a:cs typeface="Arial" pitchFamily="34" charset="-120"/>
              </a:rPr>
              <a:t>Downloads</a:t>
            </a:r>
            <a:endParaRPr lang="en-US" sz="1400" dirty="0"/>
          </a:p>
          <a:p>
            <a:pPr marL="342900" indent="-342900">
              <a:lnSpc>
                <a:spcPct val="105000"/>
              </a:lnSpc>
              <a:spcAft>
                <a:spcPts val="600"/>
              </a:spcAft>
              <a:buSzPct val="100000"/>
              <a:buChar char="•"/>
            </a:pPr>
            <a:r>
              <a:rPr lang="en-US" sz="1400" dirty="0">
                <a:solidFill>
                  <a:srgbClr val="16181D"/>
                </a:solidFill>
                <a:latin typeface="Arial" pitchFamily="34" charset="0"/>
                <a:ea typeface="Arial" pitchFamily="34" charset="-122"/>
                <a:cs typeface="Arial" pitchFamily="34" charset="-120"/>
              </a:rPr>
              <a:t>Schnittstelle zum Buchshop</a:t>
            </a:r>
            <a:endParaRPr lang="en-US" sz="1400" dirty="0"/>
          </a:p>
          <a:p>
            <a:pPr marL="342900" indent="-342900">
              <a:lnSpc>
                <a:spcPct val="105000"/>
              </a:lnSpc>
              <a:spcAft>
                <a:spcPts val="600"/>
              </a:spcAft>
              <a:buSzPct val="100000"/>
              <a:buChar char="•"/>
            </a:pPr>
            <a:r>
              <a:rPr lang="en-US" sz="1400" dirty="0">
                <a:solidFill>
                  <a:srgbClr val="16181D"/>
                </a:solidFill>
                <a:latin typeface="Arial" pitchFamily="34" charset="0"/>
                <a:ea typeface="Arial" pitchFamily="34" charset="-122"/>
                <a:cs typeface="Arial" pitchFamily="34" charset="-120"/>
              </a:rPr>
              <a:t>Titeldaten, Varianten, Hierarchien</a:t>
            </a:r>
            <a:endParaRPr lang="en-US" sz="1400" dirty="0"/>
          </a:p>
        </p:txBody>
      </p:sp>
      <p:sp>
        <p:nvSpPr>
          <p:cNvPr id="10" name="Shape 8"/>
          <p:cNvSpPr/>
          <p:nvPr/>
        </p:nvSpPr>
        <p:spPr>
          <a:xfrm>
            <a:off x="4335628" y="1645920"/>
            <a:ext cx="3520440" cy="3246120"/>
          </a:xfrm>
          <a:prstGeom prst="rect">
            <a:avLst/>
          </a:prstGeom>
          <a:solidFill>
            <a:srgbClr val="FFFFFF"/>
          </a:solidFill>
          <a:ln w="12700">
            <a:solidFill>
              <a:srgbClr val="D6DDE3"/>
            </a:solidFill>
            <a:prstDash val="solid"/>
          </a:ln>
        </p:spPr>
      </p:sp>
      <p:sp>
        <p:nvSpPr>
          <p:cNvPr id="11" name="Shape 9"/>
          <p:cNvSpPr/>
          <p:nvPr/>
        </p:nvSpPr>
        <p:spPr>
          <a:xfrm>
            <a:off x="4564228" y="1874520"/>
            <a:ext cx="1737360" cy="365760"/>
          </a:xfrm>
          <a:prstGeom prst="roundRect">
            <a:avLst>
              <a:gd name="adj" fmla="val 50000"/>
            </a:avLst>
          </a:prstGeom>
          <a:solidFill>
            <a:srgbClr val="EEF0F2"/>
          </a:solidFill>
          <a:ln w="12700">
            <a:solidFill>
              <a:srgbClr val="EEF0F2"/>
            </a:solidFill>
            <a:prstDash val="solid"/>
          </a:ln>
        </p:spPr>
      </p:sp>
      <p:sp>
        <p:nvSpPr>
          <p:cNvPr id="12" name="Text 10"/>
          <p:cNvSpPr txBox="1"/>
          <p:nvPr/>
        </p:nvSpPr>
        <p:spPr>
          <a:xfrm>
            <a:off x="4564228" y="1874520"/>
            <a:ext cx="1737360" cy="365760"/>
          </a:xfrm>
          <a:prstGeom prst="rect">
            <a:avLst/>
          </a:prstGeom>
          <a:noFill/>
          <a:ln/>
        </p:spPr>
        <p:txBody>
          <a:bodyPr wrap="square" lIns="0" tIns="0" rIns="0" bIns="0" rtlCol="0" anchor="ctr"/>
          <a:lstStyle/>
          <a:p>
            <a:pPr algn="ctr" indent="0" marL="0">
              <a:buNone/>
            </a:pPr>
            <a:r>
              <a:rPr lang="en-US" sz="1200" b="1" dirty="0">
                <a:solidFill>
                  <a:srgbClr val="1B2D5C"/>
                </a:solidFill>
                <a:latin typeface="Arial" pitchFamily="34" charset="0"/>
                <a:ea typeface="Arial" pitchFamily="34" charset="-122"/>
                <a:cs typeface="Arial" pitchFamily="34" charset="-120"/>
              </a:rPr>
              <a:t>Einrichtung</a:t>
            </a:r>
            <a:endParaRPr lang="en-US" sz="1200" dirty="0"/>
          </a:p>
        </p:txBody>
      </p:sp>
      <p:sp>
        <p:nvSpPr>
          <p:cNvPr id="13" name="Text 11"/>
          <p:cNvSpPr txBox="1"/>
          <p:nvPr/>
        </p:nvSpPr>
        <p:spPr>
          <a:xfrm>
            <a:off x="4564228" y="2423160"/>
            <a:ext cx="3108960" cy="2331720"/>
          </a:xfrm>
          <a:prstGeom prst="rect">
            <a:avLst/>
          </a:prstGeom>
          <a:noFill/>
          <a:ln/>
        </p:spPr>
        <p:txBody>
          <a:bodyPr wrap="square" lIns="0" tIns="0" rIns="0" bIns="0" rtlCol="0" anchor="t"/>
          <a:lstStyle/>
          <a:p>
            <a:pPr marL="342900" indent="-342900">
              <a:lnSpc>
                <a:spcPct val="105000"/>
              </a:lnSpc>
              <a:spcAft>
                <a:spcPts val="600"/>
              </a:spcAft>
              <a:buSzPct val="100000"/>
              <a:buChar char="•"/>
            </a:pPr>
            <a:r>
              <a:rPr lang="en-US" sz="1400" dirty="0">
                <a:solidFill>
                  <a:srgbClr val="16181D"/>
                </a:solidFill>
                <a:latin typeface="Arial" pitchFamily="34" charset="0"/>
                <a:ea typeface="Arial" pitchFamily="34" charset="-122"/>
                <a:cs typeface="Arial" pitchFamily="34" charset="-120"/>
              </a:rPr>
              <a:t>Export zum Onlinekatalog</a:t>
            </a:r>
            <a:endParaRPr lang="en-US" sz="1400" dirty="0"/>
          </a:p>
          <a:p>
            <a:pPr marL="342900" indent="-342900">
              <a:lnSpc>
                <a:spcPct val="105000"/>
              </a:lnSpc>
              <a:spcAft>
                <a:spcPts val="600"/>
              </a:spcAft>
              <a:buSzPct val="100000"/>
              <a:buChar char="•"/>
            </a:pPr>
            <a:r>
              <a:rPr lang="en-US" sz="1400" dirty="0">
                <a:solidFill>
                  <a:srgbClr val="16181D"/>
                </a:solidFill>
                <a:latin typeface="Arial" pitchFamily="34" charset="0"/>
                <a:ea typeface="Arial" pitchFamily="34" charset="-122"/>
                <a:cs typeface="Arial" pitchFamily="34" charset="-120"/>
              </a:rPr>
              <a:t>Bestellblöcke und Flyer (PDF-Vorlagen)</a:t>
            </a:r>
            <a:endParaRPr lang="en-US" sz="1400" dirty="0"/>
          </a:p>
          <a:p>
            <a:pPr marL="342900" indent="-342900">
              <a:lnSpc>
                <a:spcPct val="105000"/>
              </a:lnSpc>
              <a:spcAft>
                <a:spcPts val="600"/>
              </a:spcAft>
              <a:buSzPct val="100000"/>
              <a:buChar char="•"/>
            </a:pPr>
            <a:r>
              <a:rPr lang="en-US" sz="1400" dirty="0">
                <a:solidFill>
                  <a:srgbClr val="16181D"/>
                </a:solidFill>
                <a:latin typeface="Arial" pitchFamily="34" charset="0"/>
                <a:ea typeface="Arial" pitchFamily="34" charset="-122"/>
                <a:cs typeface="Arial" pitchFamily="34" charset="-120"/>
              </a:rPr>
              <a:t>Titelübersicht</a:t>
            </a:r>
            <a:endParaRPr lang="en-US" sz="1400" dirty="0"/>
          </a:p>
          <a:p>
            <a:pPr marL="342900" indent="-342900">
              <a:lnSpc>
                <a:spcPct val="105000"/>
              </a:lnSpc>
              <a:spcAft>
                <a:spcPts val="600"/>
              </a:spcAft>
              <a:buSzPct val="100000"/>
              <a:buChar char="•"/>
            </a:pPr>
            <a:r>
              <a:rPr lang="en-US" sz="1400" dirty="0">
                <a:solidFill>
                  <a:srgbClr val="16181D"/>
                </a:solidFill>
                <a:latin typeface="Arial" pitchFamily="34" charset="0"/>
                <a:ea typeface="Arial" pitchFamily="34" charset="-122"/>
                <a:cs typeface="Arial" pitchFamily="34" charset="-120"/>
              </a:rPr>
              <a:t>Textprüfungen (Prüfregeln)</a:t>
            </a:r>
            <a:endParaRPr lang="en-US" sz="1400" dirty="0"/>
          </a:p>
          <a:p>
            <a:pPr marL="342900" indent="-342900">
              <a:lnSpc>
                <a:spcPct val="105000"/>
              </a:lnSpc>
              <a:spcAft>
                <a:spcPts val="600"/>
              </a:spcAft>
              <a:buSzPct val="100000"/>
              <a:buChar char="•"/>
            </a:pPr>
            <a:r>
              <a:rPr lang="en-US" sz="1400" dirty="0">
                <a:solidFill>
                  <a:srgbClr val="16181D"/>
                </a:solidFill>
                <a:latin typeface="Arial" pitchFamily="34" charset="0"/>
                <a:ea typeface="Arial" pitchFamily="34" charset="-122"/>
                <a:cs typeface="Arial" pitchFamily="34" charset="-120"/>
              </a:rPr>
              <a:t>Schnittstelle zum Formularserver</a:t>
            </a:r>
            <a:endParaRPr lang="en-US" sz="1400" dirty="0"/>
          </a:p>
        </p:txBody>
      </p:sp>
      <p:sp>
        <p:nvSpPr>
          <p:cNvPr id="14" name="Shape 12"/>
          <p:cNvSpPr/>
          <p:nvPr/>
        </p:nvSpPr>
        <p:spPr>
          <a:xfrm>
            <a:off x="8122615" y="1645920"/>
            <a:ext cx="3520440" cy="3246120"/>
          </a:xfrm>
          <a:prstGeom prst="rect">
            <a:avLst/>
          </a:prstGeom>
          <a:solidFill>
            <a:srgbClr val="000E2F"/>
          </a:solidFill>
          <a:ln w="12700">
            <a:solidFill>
              <a:srgbClr val="000E2F"/>
            </a:solidFill>
            <a:prstDash val="solid"/>
          </a:ln>
        </p:spPr>
      </p:sp>
      <p:sp>
        <p:nvSpPr>
          <p:cNvPr id="15" name="Shape 13"/>
          <p:cNvSpPr/>
          <p:nvPr/>
        </p:nvSpPr>
        <p:spPr>
          <a:xfrm>
            <a:off x="8351215" y="1874520"/>
            <a:ext cx="2377440" cy="365760"/>
          </a:xfrm>
          <a:prstGeom prst="roundRect">
            <a:avLst>
              <a:gd name="adj" fmla="val 50000"/>
            </a:avLst>
          </a:prstGeom>
          <a:solidFill>
            <a:srgbClr val="FFFFFF"/>
          </a:solidFill>
          <a:ln w="12700">
            <a:solidFill>
              <a:srgbClr val="FFFFFF"/>
            </a:solidFill>
            <a:prstDash val="solid"/>
          </a:ln>
        </p:spPr>
      </p:sp>
      <p:sp>
        <p:nvSpPr>
          <p:cNvPr id="16" name="Text 14"/>
          <p:cNvSpPr txBox="1"/>
          <p:nvPr/>
        </p:nvSpPr>
        <p:spPr>
          <a:xfrm>
            <a:off x="8351215" y="1874520"/>
            <a:ext cx="2377440" cy="365760"/>
          </a:xfrm>
          <a:prstGeom prst="rect">
            <a:avLst/>
          </a:prstGeom>
          <a:noFill/>
          <a:ln/>
        </p:spPr>
        <p:txBody>
          <a:bodyPr wrap="square" lIns="0" tIns="0" rIns="0" bIns="0" rtlCol="0" anchor="ctr"/>
          <a:lstStyle/>
          <a:p>
            <a:pPr algn="ctr" indent="0" marL="0">
              <a:buNone/>
            </a:pPr>
            <a:r>
              <a:rPr lang="en-US" sz="1200" b="1" dirty="0">
                <a:solidFill>
                  <a:srgbClr val="000E2F"/>
                </a:solidFill>
                <a:latin typeface="Arial" pitchFamily="34" charset="0"/>
                <a:ea typeface="Arial" pitchFamily="34" charset="-122"/>
                <a:cs typeface="Arial" pitchFamily="34" charset="-120"/>
              </a:rPr>
              <a:t>Projekt → wird Standard</a:t>
            </a:r>
            <a:endParaRPr lang="en-US" sz="1200" dirty="0"/>
          </a:p>
        </p:txBody>
      </p:sp>
      <p:sp>
        <p:nvSpPr>
          <p:cNvPr id="17" name="Text 15"/>
          <p:cNvSpPr txBox="1"/>
          <p:nvPr/>
        </p:nvSpPr>
        <p:spPr>
          <a:xfrm>
            <a:off x="8351215" y="2423160"/>
            <a:ext cx="3108960" cy="2331720"/>
          </a:xfrm>
          <a:prstGeom prst="rect">
            <a:avLst/>
          </a:prstGeom>
          <a:noFill/>
          <a:ln/>
        </p:spPr>
        <p:txBody>
          <a:bodyPr wrap="square" lIns="0" tIns="0" rIns="0" bIns="0" rtlCol="0" anchor="t"/>
          <a:lstStyle/>
          <a:p>
            <a:pPr marL="342900" indent="-342900">
              <a:lnSpc>
                <a:spcPct val="105000"/>
              </a:lnSpc>
              <a:spcAft>
                <a:spcPts val="600"/>
              </a:spcAft>
              <a:buSzPct val="100000"/>
              <a:buChar char="•"/>
            </a:pPr>
            <a:r>
              <a:rPr lang="en-US" sz="1400" dirty="0">
                <a:solidFill>
                  <a:srgbClr val="FFFFFF"/>
                </a:solidFill>
                <a:latin typeface="Arial" pitchFamily="34" charset="0"/>
                <a:ea typeface="Arial" pitchFamily="34" charset="-122"/>
                <a:cs typeface="Arial" pitchFamily="34" charset="-120"/>
              </a:rPr>
              <a:t>Übernahme Metadaten aus Cover</a:t>
            </a:r>
            <a:endParaRPr lang="en-US" sz="1400" dirty="0"/>
          </a:p>
          <a:p>
            <a:pPr marL="342900" indent="-342900">
              <a:lnSpc>
                <a:spcPct val="105000"/>
              </a:lnSpc>
              <a:spcAft>
                <a:spcPts val="600"/>
              </a:spcAft>
              <a:buSzPct val="100000"/>
              <a:buChar char="•"/>
            </a:pPr>
            <a:r>
              <a:rPr lang="en-US" sz="1400" dirty="0">
                <a:solidFill>
                  <a:srgbClr val="FFFFFF"/>
                </a:solidFill>
                <a:latin typeface="Arial" pitchFamily="34" charset="0"/>
                <a:ea typeface="Arial" pitchFamily="34" charset="-122"/>
                <a:cs typeface="Arial" pitchFamily="34" charset="-120"/>
              </a:rPr>
              <a:t>Exporte nach EasyCatalog: Vorschau, Vorschau RS, Buchinfo, Foreign Rights</a:t>
            </a:r>
            <a:endParaRPr lang="en-US" sz="1400" dirty="0"/>
          </a:p>
          <a:p>
            <a:pPr marL="342900" indent="-342900">
              <a:lnSpc>
                <a:spcPct val="105000"/>
              </a:lnSpc>
              <a:spcAft>
                <a:spcPts val="600"/>
              </a:spcAft>
              <a:buSzPct val="100000"/>
              <a:buChar char="•"/>
            </a:pPr>
            <a:r>
              <a:rPr lang="en-US" sz="1400" dirty="0">
                <a:solidFill>
                  <a:srgbClr val="FFFFFF"/>
                </a:solidFill>
                <a:latin typeface="Arial" pitchFamily="34" charset="0"/>
                <a:ea typeface="Arial" pitchFamily="34" charset="-122"/>
                <a:cs typeface="Arial" pitchFamily="34" charset="-120"/>
              </a:rPr>
              <a:t>Export Thieme</a:t>
            </a:r>
            <a:endParaRPr lang="en-US" sz="1400" dirty="0"/>
          </a:p>
          <a:p>
            <a:pPr marL="342900" indent="-342900">
              <a:lnSpc>
                <a:spcPct val="105000"/>
              </a:lnSpc>
              <a:spcAft>
                <a:spcPts val="600"/>
              </a:spcAft>
              <a:buSzPct val="100000"/>
              <a:buChar char="•"/>
            </a:pPr>
            <a:r>
              <a:rPr lang="en-US" sz="1400" dirty="0">
                <a:solidFill>
                  <a:srgbClr val="FFFFFF"/>
                </a:solidFill>
                <a:latin typeface="Arial" pitchFamily="34" charset="0"/>
                <a:ea typeface="Arial" pitchFamily="34" charset="-122"/>
                <a:cs typeface="Arial" pitchFamily="34" charset="-120"/>
              </a:rPr>
              <a:t>XML-Metadaten / ONIX</a:t>
            </a:r>
            <a:endParaRPr lang="en-US" sz="1400" dirty="0"/>
          </a:p>
          <a:p>
            <a:pPr marL="342900" indent="-342900">
              <a:lnSpc>
                <a:spcPct val="105000"/>
              </a:lnSpc>
              <a:spcAft>
                <a:spcPts val="600"/>
              </a:spcAft>
              <a:buSzPct val="100000"/>
              <a:buChar char="•"/>
            </a:pPr>
            <a:r>
              <a:rPr lang="en-US" sz="1400" dirty="0">
                <a:solidFill>
                  <a:srgbClr val="FFFFFF"/>
                </a:solidFill>
                <a:latin typeface="Arial" pitchFamily="34" charset="0"/>
                <a:ea typeface="Arial" pitchFamily="34" charset="-122"/>
                <a:cs typeface="Arial" pitchFamily="34" charset="-120"/>
              </a:rPr>
              <a:t>Uploads im Onlinekatalog</a:t>
            </a:r>
            <a:endParaRPr lang="en-US" sz="1400" dirty="0"/>
          </a:p>
        </p:txBody>
      </p:sp>
      <p:sp>
        <p:nvSpPr>
          <p:cNvPr id="18" name="Text 16"/>
          <p:cNvSpPr txBox="1"/>
          <p:nvPr/>
        </p:nvSpPr>
        <p:spPr>
          <a:xfrm>
            <a:off x="548640" y="5029200"/>
            <a:ext cx="11094415" cy="320040"/>
          </a:xfrm>
          <a:prstGeom prst="rect">
            <a:avLst/>
          </a:prstGeom>
          <a:noFill/>
          <a:ln/>
        </p:spPr>
        <p:txBody>
          <a:bodyPr wrap="square" lIns="0" tIns="0" rIns="0" bIns="0" rtlCol="0" anchor="t"/>
          <a:lstStyle/>
          <a:p>
            <a:pPr indent="0" marL="0">
              <a:buNone/>
            </a:pPr>
            <a:r>
              <a:rPr lang="en-US" sz="1200" b="1" dirty="0">
                <a:solidFill>
                  <a:srgbClr val="4B5563"/>
                </a:solidFill>
                <a:latin typeface="Arial" pitchFamily="34" charset="0"/>
                <a:ea typeface="Arial" pitchFamily="34" charset="-122"/>
                <a:cs typeface="Arial" pitchFamily="34" charset="-120"/>
              </a:rPr>
              <a:t>Zu klären: </a:t>
            </a:r>
            <a:pPr indent="0" marL="0">
              <a:buNone/>
            </a:pPr>
            <a:r>
              <a:rPr lang="en-US" sz="1200" dirty="0">
                <a:solidFill>
                  <a:srgbClr val="4B5563"/>
                </a:solidFill>
                <a:latin typeface="Arial" pitchFamily="34" charset="0"/>
                <a:ea typeface="Arial" pitchFamily="34" charset="-122"/>
                <a:cs typeface="Arial" pitchFamily="34" charset="-120"/>
              </a:rPr>
              <a:t>Pimcore für den Ärzteshop (eigene Instanz oder eigener Bereich?)  ·  Cloud-Anwendung für Compu</a:t>
            </a:r>
            <a:endParaRPr lang="en-US" sz="1200" dirty="0"/>
          </a:p>
        </p:txBody>
      </p:sp>
      <p:sp>
        <p:nvSpPr>
          <p:cNvPr id="19" name="Shape 17"/>
          <p:cNvSpPr/>
          <p:nvPr/>
        </p:nvSpPr>
        <p:spPr>
          <a:xfrm>
            <a:off x="548640" y="5440680"/>
            <a:ext cx="11094415" cy="777240"/>
          </a:xfrm>
          <a:prstGeom prst="rect">
            <a:avLst/>
          </a:prstGeom>
          <a:solidFill>
            <a:srgbClr val="C6E6E3"/>
          </a:solidFill>
          <a:ln w="12700">
            <a:solidFill>
              <a:srgbClr val="C6E6E3"/>
            </a:solidFill>
            <a:prstDash val="solid"/>
          </a:ln>
        </p:spPr>
      </p:sp>
      <p:sp>
        <p:nvSpPr>
          <p:cNvPr id="20" name="Text 18"/>
          <p:cNvSpPr txBox="1"/>
          <p:nvPr/>
        </p:nvSpPr>
        <p:spPr>
          <a:xfrm>
            <a:off x="777240" y="5440680"/>
            <a:ext cx="10637215" cy="777240"/>
          </a:xfrm>
          <a:prstGeom prst="rect">
            <a:avLst/>
          </a:prstGeom>
          <a:noFill/>
          <a:ln/>
        </p:spPr>
        <p:txBody>
          <a:bodyPr wrap="square" lIns="0" tIns="0" rIns="0" bIns="0" rtlCol="0" anchor="ctr"/>
          <a:lstStyle/>
          <a:p>
            <a:pPr indent="0" marL="0">
              <a:buNone/>
            </a:pPr>
            <a:r>
              <a:rPr lang="en-US" sz="1350" b="1" dirty="0">
                <a:solidFill>
                  <a:srgbClr val="E2211C"/>
                </a:solidFill>
                <a:latin typeface="Arial" pitchFamily="34" charset="0"/>
                <a:ea typeface="Arial" pitchFamily="34" charset="-122"/>
                <a:cs typeface="Arial" pitchFamily="34" charset="-120"/>
              </a:rPr>
              <a:t>→  </a:t>
            </a:r>
            <a:pPr indent="0" marL="0">
              <a:buNone/>
            </a:pPr>
            <a:r>
              <a:rPr lang="en-US" sz="1350" b="1" dirty="0">
                <a:solidFill>
                  <a:srgbClr val="000E2F"/>
                </a:solidFill>
                <a:latin typeface="Arial" pitchFamily="34" charset="0"/>
                <a:ea typeface="Arial" pitchFamily="34" charset="-122"/>
                <a:cs typeface="Arial" pitchFamily="34" charset="-120"/>
              </a:rPr>
              <a:t>Der Unterschied: </a:t>
            </a:r>
            <a:pPr indent="0" marL="0">
              <a:buNone/>
            </a:pPr>
            <a:r>
              <a:rPr lang="en-US" sz="1350" dirty="0">
                <a:solidFill>
                  <a:srgbClr val="000E2F"/>
                </a:solidFill>
                <a:latin typeface="Arial" pitchFamily="34" charset="0"/>
                <a:ea typeface="Arial" pitchFamily="34" charset="-122"/>
                <a:cs typeface="Arial" pitchFamily="34" charset="-120"/>
              </a:rPr>
              <a:t>Beim Pimcore-Upgrade werden diese Funktionen erneut als Eigenentwicklung portiert und bei jedem Release wieder angefasst. Bei anyPIM bauen wir sie einmal als Standardfunktion – Kohlhammer erhält sie danach mit jedem Update.</a:t>
            </a:r>
            <a:endParaRPr lang="en-US" sz="13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594360"/>
          </a:xfrm>
          <a:prstGeom prst="rect">
            <a:avLst/>
          </a:prstGeom>
          <a:noFill/>
          <a:ln/>
        </p:spPr>
        <p:txBody>
          <a:bodyPr wrap="square" lIns="0" tIns="0" rIns="0" bIns="0" rtlCol="0" anchor="b"/>
          <a:lstStyle/>
          <a:p>
            <a:pPr indent="0" marL="0">
              <a:buNone/>
            </a:pPr>
            <a:r>
              <a:rPr lang="en-US" sz="3000" dirty="0">
                <a:solidFill>
                  <a:srgbClr val="16181D"/>
                </a:solidFill>
                <a:latin typeface="Arial" pitchFamily="34" charset="0"/>
                <a:ea typeface="Arial" pitchFamily="34" charset="-122"/>
                <a:cs typeface="Arial" pitchFamily="34" charset="-120"/>
              </a:rPr>
              <a:t>VERGLEICH I: WEG, KOSTEN, BETRIEB</a:t>
            </a:r>
            <a:endParaRPr lang="en-US" sz="3000" dirty="0"/>
          </a:p>
        </p:txBody>
      </p:sp>
      <p:sp>
        <p:nvSpPr>
          <p:cNvPr id="3" name="Text 1"/>
          <p:cNvSpPr txBox="1"/>
          <p:nvPr/>
        </p:nvSpPr>
        <p:spPr>
          <a:xfrm>
            <a:off x="548640" y="1033272"/>
            <a:ext cx="11094415" cy="365760"/>
          </a:xfrm>
          <a:prstGeom prst="rect">
            <a:avLst/>
          </a:prstGeom>
          <a:noFill/>
          <a:ln/>
        </p:spPr>
        <p:txBody>
          <a:bodyPr wrap="square" lIns="0" tIns="0" rIns="0" bIns="0" rtlCol="0" anchor="t"/>
          <a:lstStyle/>
          <a:p>
            <a:pPr indent="0" marL="0">
              <a:buNone/>
            </a:pPr>
            <a:r>
              <a:rPr lang="en-US" sz="1400" dirty="0">
                <a:solidFill>
                  <a:srgbClr val="4B5563"/>
                </a:solidFill>
                <a:latin typeface="Arial" pitchFamily="34" charset="0"/>
                <a:ea typeface="Arial" pitchFamily="34" charset="-122"/>
                <a:cs typeface="Arial" pitchFamily="34" charset="-120"/>
              </a:rPr>
              <a:t>anyPIM gegenüber dem aktuellen Pimcore (2026.x) nach einem Upgrade von Pimcore 6.</a:t>
            </a:r>
            <a:endParaRPr lang="en-US" sz="1400" dirty="0"/>
          </a:p>
        </p:txBody>
      </p:sp>
      <p:sp>
        <p:nvSpPr>
          <p:cNvPr id="4" name="Text 2"/>
          <p:cNvSpPr txBox="1"/>
          <p:nvPr/>
        </p:nvSpPr>
        <p:spPr>
          <a:xfrm>
            <a:off x="548640" y="6400800"/>
            <a:ext cx="7315200" cy="228600"/>
          </a:xfrm>
          <a:prstGeom prst="rect">
            <a:avLst/>
          </a:prstGeom>
          <a:noFill/>
          <a:ln/>
        </p:spPr>
        <p:txBody>
          <a:bodyPr wrap="square" lIns="0" tIns="0" rIns="0" bIns="0" rtlCol="0" anchor="t"/>
          <a:lstStyle/>
          <a:p>
            <a:pPr indent="0" marL="0">
              <a:buNone/>
            </a:pPr>
            <a:r>
              <a:rPr lang="en-US" sz="900" dirty="0">
                <a:solidFill>
                  <a:srgbClr val="4B5563"/>
                </a:solidFill>
                <a:latin typeface="Arial" pitchFamily="34" charset="0"/>
                <a:ea typeface="Arial" pitchFamily="34" charset="-122"/>
                <a:cs typeface="Arial" pitchFamily="34" charset="-120"/>
              </a:rPr>
              <a:t>anyPIM für Kohlhammer  ·  Entscheidungsvorlage  ·  September 2026</a:t>
            </a:r>
            <a:endParaRPr lang="en-US" sz="900" dirty="0"/>
          </a:p>
        </p:txBody>
      </p:sp>
      <p:sp>
        <p:nvSpPr>
          <p:cNvPr id="5" name="Text 3"/>
          <p:cNvSpPr txBox="1"/>
          <p:nvPr/>
        </p:nvSpPr>
        <p:spPr>
          <a:xfrm>
            <a:off x="10728655" y="6400800"/>
            <a:ext cx="914400" cy="228600"/>
          </a:xfrm>
          <a:prstGeom prst="rect">
            <a:avLst/>
          </a:prstGeom>
          <a:noFill/>
          <a:ln/>
        </p:spPr>
        <p:txBody>
          <a:bodyPr wrap="square" lIns="0" tIns="0" rIns="0" bIns="0" rtlCol="0" anchor="t"/>
          <a:lstStyle/>
          <a:p>
            <a:pPr algn="r" indent="0" marL="0">
              <a:buNone/>
            </a:pPr>
            <a:r>
              <a:rPr lang="en-US" sz="900" dirty="0">
                <a:solidFill>
                  <a:srgbClr val="4B5563"/>
                </a:solidFill>
                <a:latin typeface="Arial" pitchFamily="34" charset="0"/>
                <a:ea typeface="Arial" pitchFamily="34" charset="-122"/>
                <a:cs typeface="Arial" pitchFamily="34" charset="-120"/>
              </a:rPr>
              <a:t>10</a:t>
            </a:r>
            <a:endParaRPr lang="en-US" sz="9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572768"/>
          <a:ext cx="11094415" cy="914400"/>
        </p:xfrm>
        <a:graphic>
          <a:graphicData uri="http://schemas.openxmlformats.org/drawingml/2006/table">
            <a:tbl>
              <a:tblPr/>
              <a:tblGrid>
                <a:gridCol w="2011680"/>
                <a:gridCol w="3886200"/>
                <a:gridCol w="3886200"/>
                <a:gridCol w="1307592"/>
              </a:tblGrid>
              <a:tr h="384048">
                <a:tc>
                  <a:txBody>
                    <a:bodyPr/>
                    <a:lstStyle/>
                    <a:p>
                      <a:pPr indent="0" marL="0">
                        <a:buNone/>
                      </a:pPr>
                      <a:r>
                        <a:rPr lang="en-US" sz="1300" dirty="0">
                          <a:solidFill>
                            <a:srgbClr val="FFFFFF"/>
                          </a:solidFill>
                          <a:latin typeface="Arial" pitchFamily="34" charset="0"/>
                          <a:ea typeface="Arial" pitchFamily="34" charset="-122"/>
                          <a:cs typeface="Arial" pitchFamily="34" charset="-120"/>
                        </a:rPr>
                        <a:t>Kriterium</a:t>
                      </a:r>
                      <a:endParaRPr lang="en-US" sz="130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000E2F"/>
                    </a:solidFill>
                  </a:tcPr>
                </a:tc>
                <a:tc>
                  <a:txBody>
                    <a:bodyPr/>
                    <a:lstStyle/>
                    <a:p>
                      <a:pPr indent="0" marL="0">
                        <a:buNone/>
                      </a:pPr>
                      <a:r>
                        <a:rPr lang="en-US" sz="1300" dirty="0">
                          <a:solidFill>
                            <a:srgbClr val="FFFFFF"/>
                          </a:solidFill>
                          <a:latin typeface="Arial" pitchFamily="34" charset="0"/>
                          <a:ea typeface="Arial" pitchFamily="34" charset="-122"/>
                          <a:cs typeface="Arial" pitchFamily="34" charset="-120"/>
                        </a:rPr>
                        <a:t>anyPIM</a:t>
                      </a:r>
                      <a:endParaRPr lang="en-US" sz="130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000E2F"/>
                    </a:solidFill>
                  </a:tcPr>
                </a:tc>
                <a:tc>
                  <a:txBody>
                    <a:bodyPr/>
                    <a:lstStyle/>
                    <a:p>
                      <a:pPr indent="0" marL="0">
                        <a:buNone/>
                      </a:pPr>
                      <a:r>
                        <a:rPr lang="en-US" sz="1300" dirty="0">
                          <a:solidFill>
                            <a:srgbClr val="FFFFFF"/>
                          </a:solidFill>
                          <a:latin typeface="Arial" pitchFamily="34" charset="0"/>
                          <a:ea typeface="Arial" pitchFamily="34" charset="-122"/>
                          <a:cs typeface="Arial" pitchFamily="34" charset="-120"/>
                        </a:rPr>
                        <a:t>Pimcore (aktuelle Version)</a:t>
                      </a:r>
                      <a:endParaRPr lang="en-US" sz="130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000E2F"/>
                    </a:solidFill>
                  </a:tcPr>
                </a:tc>
                <a:tc>
                  <a:txBody>
                    <a:bodyPr/>
                    <a:lstStyle/>
                    <a:p>
                      <a:pPr indent="0" marL="0">
                        <a:buNone/>
                      </a:pPr>
                      <a:r>
                        <a:rPr lang="en-US" sz="1300" dirty="0">
                          <a:solidFill>
                            <a:srgbClr val="FFFFFF"/>
                          </a:solidFill>
                          <a:latin typeface="Arial" pitchFamily="34" charset="0"/>
                          <a:ea typeface="Arial" pitchFamily="34" charset="-122"/>
                          <a:cs typeface="Arial" pitchFamily="34" charset="-120"/>
                        </a:rPr>
                        <a:t>Vorteil</a:t>
                      </a:r>
                      <a:endParaRPr lang="en-US" sz="130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000E2F"/>
                    </a:solidFill>
                  </a:tcPr>
                </a:tc>
              </a:tr>
              <a:tr h="512064">
                <a:tc>
                  <a:txBody>
                    <a:bodyPr/>
                    <a:lstStyle/>
                    <a:p>
                      <a:pPr indent="0" marL="0">
                        <a:buNone/>
                      </a:pPr>
                      <a:r>
                        <a:rPr lang="en-US" sz="1100" b="1" dirty="0">
                          <a:solidFill>
                            <a:srgbClr val="16181D"/>
                          </a:solidFill>
                          <a:latin typeface="Arial" pitchFamily="34" charset="0"/>
                          <a:ea typeface="Arial" pitchFamily="34" charset="-122"/>
                          <a:cs typeface="Arial" pitchFamily="34" charset="-120"/>
                        </a:rPr>
                        <a:t>Weg von Pimcore 6</a:t>
                      </a:r>
                      <a:endParaRPr lang="en-US" sz="110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FFFFF"/>
                    </a:solidFill>
                  </a:tcPr>
                </a:tc>
                <a:tc>
                  <a:txBody>
                    <a:bodyPr/>
                    <a:lstStyle/>
                    <a:p>
                      <a:pPr indent="0" marL="0">
                        <a:buNone/>
                      </a:pPr>
                      <a:r>
                        <a:rPr lang="en-US" sz="1100" dirty="0">
                          <a:solidFill>
                            <a:srgbClr val="16181D"/>
                          </a:solidFill>
                          <a:latin typeface="Arial" pitchFamily="34" charset="0"/>
                          <a:ea typeface="Arial" pitchFamily="34" charset="-122"/>
                          <a:cs typeface="Arial" pitchFamily="34" charset="-120"/>
                        </a:rPr>
                        <a:t>Datenübernahme plus Projekt; Kohlhammer-Funktionen werden Standard im Produkt</a:t>
                      </a:r>
                      <a:endParaRPr lang="en-US" sz="110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FFFFF"/>
                    </a:solidFill>
                  </a:tcPr>
                </a:tc>
                <a:tc>
                  <a:txBody>
                    <a:bodyPr/>
                    <a:lstStyle/>
                    <a:p>
                      <a:pPr indent="0" marL="0">
                        <a:buNone/>
                      </a:pPr>
                      <a:r>
                        <a:rPr lang="en-US" sz="1100" dirty="0">
                          <a:solidFill>
                            <a:srgbClr val="16181D"/>
                          </a:solidFill>
                          <a:latin typeface="Arial" pitchFamily="34" charset="0"/>
                          <a:ea typeface="Arial" pitchFamily="34" charset="-122"/>
                          <a:cs typeface="Arial" pitchFamily="34" charset="-120"/>
                        </a:rPr>
                        <a:t>Upgrade über 10 und 11 bis 2026.x; Eigenentwicklungen je Stufe portieren</a:t>
                      </a:r>
                      <a:endParaRPr lang="en-US" sz="110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6B7280"/>
                          </a:solidFill>
                          <a:latin typeface="Arial" pitchFamily="34" charset="0"/>
                          <a:ea typeface="Arial" pitchFamily="34" charset="-122"/>
                          <a:cs typeface="Arial" pitchFamily="34" charset="-120"/>
                        </a:rPr>
                        <a:t>je nach Eigenanteil</a:t>
                      </a:r>
                      <a:endParaRPr lang="en-US" sz="105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EEF0F2"/>
                    </a:solidFill>
                  </a:tcPr>
                </a:tc>
              </a:tr>
              <a:tr h="512064">
                <a:tc>
                  <a:txBody>
                    <a:bodyPr/>
                    <a:lstStyle/>
                    <a:p>
                      <a:pPr indent="0" marL="0">
                        <a:buNone/>
                      </a:pPr>
                      <a:r>
                        <a:rPr lang="en-US" sz="1100" b="1" dirty="0">
                          <a:solidFill>
                            <a:srgbClr val="16181D"/>
                          </a:solidFill>
                          <a:latin typeface="Arial" pitchFamily="34" charset="0"/>
                          <a:ea typeface="Arial" pitchFamily="34" charset="-122"/>
                          <a:cs typeface="Arial" pitchFamily="34" charset="-120"/>
                        </a:rPr>
                        <a:t>Datenkontinuität</a:t>
                      </a:r>
                      <a:endParaRPr lang="en-US" sz="110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7F9FA"/>
                    </a:solidFill>
                  </a:tcPr>
                </a:tc>
                <a:tc>
                  <a:txBody>
                    <a:bodyPr/>
                    <a:lstStyle/>
                    <a:p>
                      <a:pPr indent="0" marL="0">
                        <a:buNone/>
                      </a:pPr>
                      <a:r>
                        <a:rPr lang="en-US" sz="1100" dirty="0">
                          <a:solidFill>
                            <a:srgbClr val="16181D"/>
                          </a:solidFill>
                          <a:latin typeface="Arial" pitchFamily="34" charset="0"/>
                          <a:ea typeface="Arial" pitchFamily="34" charset="-122"/>
                          <a:cs typeface="Arial" pitchFamily="34" charset="-120"/>
                        </a:rPr>
                        <a:t>Datenübernahme nötig – mit dem Wissen aus 20 Jahren Betreuung gut planbar</a:t>
                      </a:r>
                      <a:endParaRPr lang="en-US" sz="110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7F9FA"/>
                    </a:solidFill>
                  </a:tcPr>
                </a:tc>
                <a:tc>
                  <a:txBody>
                    <a:bodyPr/>
                    <a:lstStyle/>
                    <a:p>
                      <a:pPr indent="0" marL="0">
                        <a:buNone/>
                      </a:pPr>
                      <a:r>
                        <a:rPr lang="en-US" sz="1100" dirty="0">
                          <a:solidFill>
                            <a:srgbClr val="16181D"/>
                          </a:solidFill>
                          <a:latin typeface="Arial" pitchFamily="34" charset="0"/>
                          <a:ea typeface="Arial" pitchFamily="34" charset="-122"/>
                          <a:cs typeface="Arial" pitchFamily="34" charset="-120"/>
                        </a:rPr>
                        <a:t>Daten bleiben in der Datenbank und werden je Version migriert</a:t>
                      </a:r>
                      <a:endParaRPr lang="en-US" sz="110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7F9FA"/>
                    </a:solidFill>
                  </a:tcPr>
                </a:tc>
                <a:tc>
                  <a:txBody>
                    <a:bodyPr/>
                    <a:lstStyle/>
                    <a:p>
                      <a:pPr algn="ctr" indent="0" marL="0">
                        <a:buNone/>
                      </a:pPr>
                      <a:r>
                        <a:rPr lang="en-US" sz="1050" b="1" dirty="0">
                          <a:solidFill>
                            <a:srgbClr val="1B2D5C"/>
                          </a:solidFill>
                          <a:latin typeface="Arial" pitchFamily="34" charset="0"/>
                          <a:ea typeface="Arial" pitchFamily="34" charset="-122"/>
                          <a:cs typeface="Arial" pitchFamily="34" charset="-120"/>
                        </a:rPr>
                        <a:t>Pimcore</a:t>
                      </a:r>
                      <a:endParaRPr lang="en-US" sz="105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E3E8F4"/>
                    </a:solidFill>
                  </a:tcPr>
                </a:tc>
              </a:tr>
              <a:tr h="512064">
                <a:tc>
                  <a:txBody>
                    <a:bodyPr/>
                    <a:lstStyle/>
                    <a:p>
                      <a:pPr indent="0" marL="0">
                        <a:buNone/>
                      </a:pPr>
                      <a:r>
                        <a:rPr lang="en-US" sz="1100" b="1" dirty="0">
                          <a:solidFill>
                            <a:srgbClr val="16181D"/>
                          </a:solidFill>
                          <a:latin typeface="Arial" pitchFamily="34" charset="0"/>
                          <a:ea typeface="Arial" pitchFamily="34" charset="-122"/>
                          <a:cs typeface="Arial" pitchFamily="34" charset="-120"/>
                        </a:rPr>
                        <a:t>Laufende Updates</a:t>
                      </a:r>
                      <a:endParaRPr lang="en-US" sz="110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FFFFF"/>
                    </a:solidFill>
                  </a:tcPr>
                </a:tc>
                <a:tc>
                  <a:txBody>
                    <a:bodyPr/>
                    <a:lstStyle/>
                    <a:p>
                      <a:pPr indent="0" marL="0">
                        <a:buNone/>
                      </a:pPr>
                      <a:r>
                        <a:rPr lang="en-US" sz="1100" dirty="0">
                          <a:solidFill>
                            <a:srgbClr val="16181D"/>
                          </a:solidFill>
                          <a:latin typeface="Arial" pitchFamily="34" charset="0"/>
                          <a:ea typeface="Arial" pitchFamily="34" charset="-122"/>
                          <a:cs typeface="Arial" pitchFamily="34" charset="-120"/>
                        </a:rPr>
                        <a:t>Update per Skript: Migrationen, Build, Neustart – im eigenen Takt</a:t>
                      </a:r>
                      <a:endParaRPr lang="en-US" sz="110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FFFFF"/>
                    </a:solidFill>
                  </a:tcPr>
                </a:tc>
                <a:tc>
                  <a:txBody>
                    <a:bodyPr/>
                    <a:lstStyle/>
                    <a:p>
                      <a:pPr indent="0" marL="0">
                        <a:buNone/>
                      </a:pPr>
                      <a:r>
                        <a:rPr lang="en-US" sz="1100" dirty="0">
                          <a:solidFill>
                            <a:srgbClr val="16181D"/>
                          </a:solidFill>
                          <a:latin typeface="Arial" pitchFamily="34" charset="0"/>
                          <a:ea typeface="Arial" pitchFamily="34" charset="-122"/>
                          <a:cs typeface="Arial" pitchFamily="34" charset="-120"/>
                        </a:rPr>
                        <a:t>Jedes Release nachziehen (2026.3 folgt): Core, Bundles, Studio, Container, Suchindex</a:t>
                      </a:r>
                      <a:endParaRPr lang="en-US" sz="110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0F7A4D"/>
                          </a:solidFill>
                          <a:latin typeface="Arial" pitchFamily="34" charset="0"/>
                          <a:ea typeface="Arial" pitchFamily="34" charset="-122"/>
                          <a:cs typeface="Arial" pitchFamily="34" charset="-120"/>
                        </a:rPr>
                        <a:t>anyPIM</a:t>
                      </a:r>
                      <a:endParaRPr lang="en-US" sz="105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DFF3EA"/>
                    </a:solidFill>
                  </a:tcPr>
                </a:tc>
              </a:tr>
              <a:tr h="512064">
                <a:tc>
                  <a:txBody>
                    <a:bodyPr/>
                    <a:lstStyle/>
                    <a:p>
                      <a:pPr indent="0" marL="0">
                        <a:buNone/>
                      </a:pPr>
                      <a:r>
                        <a:rPr lang="en-US" sz="1100" b="1" dirty="0">
                          <a:solidFill>
                            <a:srgbClr val="16181D"/>
                          </a:solidFill>
                          <a:latin typeface="Arial" pitchFamily="34" charset="0"/>
                          <a:ea typeface="Arial" pitchFamily="34" charset="-122"/>
                          <a:cs typeface="Arial" pitchFamily="34" charset="-120"/>
                        </a:rPr>
                        <a:t>Betriebskomplexität</a:t>
                      </a:r>
                      <a:endParaRPr lang="en-US" sz="110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7F9FA"/>
                    </a:solidFill>
                  </a:tcPr>
                </a:tc>
                <a:tc>
                  <a:txBody>
                    <a:bodyPr/>
                    <a:lstStyle/>
                    <a:p>
                      <a:pPr indent="0" marL="0">
                        <a:buNone/>
                      </a:pPr>
                      <a:r>
                        <a:rPr lang="en-US" sz="1100" dirty="0">
                          <a:solidFill>
                            <a:srgbClr val="16181D"/>
                          </a:solidFill>
                          <a:latin typeface="Arial" pitchFamily="34" charset="0"/>
                          <a:ea typeface="Arial" pitchFamily="34" charset="-122"/>
                          <a:cs typeface="Arial" pitchFamily="34" charset="-120"/>
                        </a:rPr>
                        <a:t>Apache/PHP, MySQL, Redis, Queue-Worker, Typesense – ohne Docker und OpenSearch</a:t>
                      </a:r>
                      <a:endParaRPr lang="en-US" sz="110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7F9FA"/>
                    </a:solidFill>
                  </a:tcPr>
                </a:tc>
                <a:tc>
                  <a:txBody>
                    <a:bodyPr/>
                    <a:lstStyle/>
                    <a:p>
                      <a:pPr indent="0" marL="0">
                        <a:buNone/>
                      </a:pPr>
                      <a:r>
                        <a:rPr lang="en-US" sz="1100" dirty="0">
                          <a:solidFill>
                            <a:srgbClr val="16181D"/>
                          </a:solidFill>
                          <a:latin typeface="Arial" pitchFamily="34" charset="0"/>
                          <a:ea typeface="Arial" pitchFamily="34" charset="-122"/>
                          <a:cs typeface="Arial" pitchFamily="34" charset="-120"/>
                        </a:rPr>
                        <a:t>Container-Stack mit OpenSearch, Messenger-Workern und Enterprise-Bundles</a:t>
                      </a:r>
                      <a:endParaRPr lang="en-US" sz="110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7F9FA"/>
                    </a:solidFill>
                  </a:tcPr>
                </a:tc>
                <a:tc>
                  <a:txBody>
                    <a:bodyPr/>
                    <a:lstStyle/>
                    <a:p>
                      <a:pPr algn="ctr" indent="0" marL="0">
                        <a:buNone/>
                      </a:pPr>
                      <a:r>
                        <a:rPr lang="en-US" sz="1050" b="1" dirty="0">
                          <a:solidFill>
                            <a:srgbClr val="0F7A4D"/>
                          </a:solidFill>
                          <a:latin typeface="Arial" pitchFamily="34" charset="0"/>
                          <a:ea typeface="Arial" pitchFamily="34" charset="-122"/>
                          <a:cs typeface="Arial" pitchFamily="34" charset="-120"/>
                        </a:rPr>
                        <a:t>anyPIM</a:t>
                      </a:r>
                      <a:endParaRPr lang="en-US" sz="105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DFF3EA"/>
                    </a:solidFill>
                  </a:tcPr>
                </a:tc>
              </a:tr>
              <a:tr h="512064">
                <a:tc>
                  <a:txBody>
                    <a:bodyPr/>
                    <a:lstStyle/>
                    <a:p>
                      <a:pPr indent="0" marL="0">
                        <a:buNone/>
                      </a:pPr>
                      <a:r>
                        <a:rPr lang="en-US" sz="1100" b="1" dirty="0">
                          <a:solidFill>
                            <a:srgbClr val="16181D"/>
                          </a:solidFill>
                          <a:latin typeface="Arial" pitchFamily="34" charset="0"/>
                          <a:ea typeface="Arial" pitchFamily="34" charset="-122"/>
                          <a:cs typeface="Arial" pitchFamily="34" charset="-120"/>
                        </a:rPr>
                        <a:t>Lizenzmodell</a:t>
                      </a:r>
                      <a:endParaRPr lang="en-US" sz="110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FFFFF"/>
                    </a:solidFill>
                  </a:tcPr>
                </a:tc>
                <a:tc>
                  <a:txBody>
                    <a:bodyPr/>
                    <a:lstStyle/>
                    <a:p>
                      <a:pPr indent="0" marL="0">
                        <a:buNone/>
                      </a:pPr>
                      <a:r>
                        <a:rPr lang="en-US" sz="1100" dirty="0">
                          <a:solidFill>
                            <a:srgbClr val="16181D"/>
                          </a:solidFill>
                          <a:latin typeface="Arial" pitchFamily="34" charset="0"/>
                          <a:ea typeface="Arial" pitchFamily="34" charset="-122"/>
                          <a:cs typeface="Arial" pitchFamily="34" charset="-120"/>
                        </a:rPr>
                        <a:t>GPL-Kern; Enterprise-Module einzeln lizenzierbar – nur, was genutzt wird</a:t>
                      </a:r>
                      <a:endParaRPr lang="en-US" sz="110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FFFFF"/>
                    </a:solidFill>
                  </a:tcPr>
                </a:tc>
                <a:tc>
                  <a:txBody>
                    <a:bodyPr/>
                    <a:lstStyle/>
                    <a:p>
                      <a:pPr indent="0" marL="0">
                        <a:buNone/>
                      </a:pPr>
                      <a:r>
                        <a:rPr lang="en-US" sz="1100" dirty="0">
                          <a:solidFill>
                            <a:srgbClr val="16181D"/>
                          </a:solidFill>
                          <a:latin typeface="Arial" pitchFamily="34" charset="0"/>
                          <a:ea typeface="Arial" pitchFamily="34" charset="-122"/>
                          <a:cs typeface="Arial" pitchFamily="34" charset="-120"/>
                        </a:rPr>
                        <a:t>POCL: kommerziell über 5 Mio. € Umsatz; Erweiterungen wie Datahub, Portale mit wenig Nutzen</a:t>
                      </a:r>
                      <a:endParaRPr lang="en-US" sz="110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0F7A4D"/>
                          </a:solidFill>
                          <a:latin typeface="Arial" pitchFamily="34" charset="0"/>
                          <a:ea typeface="Arial" pitchFamily="34" charset="-122"/>
                          <a:cs typeface="Arial" pitchFamily="34" charset="-120"/>
                        </a:rPr>
                        <a:t>anyPIM</a:t>
                      </a:r>
                      <a:endParaRPr lang="en-US" sz="105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DFF3EA"/>
                    </a:solidFill>
                  </a:tcPr>
                </a:tc>
              </a:tr>
              <a:tr h="512064">
                <a:tc>
                  <a:txBody>
                    <a:bodyPr/>
                    <a:lstStyle/>
                    <a:p>
                      <a:pPr indent="0" marL="0">
                        <a:buNone/>
                      </a:pPr>
                      <a:r>
                        <a:rPr lang="en-US" sz="1100" b="1" dirty="0">
                          <a:solidFill>
                            <a:srgbClr val="16181D"/>
                          </a:solidFill>
                          <a:latin typeface="Arial" pitchFamily="34" charset="0"/>
                          <a:ea typeface="Arial" pitchFamily="34" charset="-122"/>
                          <a:cs typeface="Arial" pitchFamily="34" charset="-120"/>
                        </a:rPr>
                        <a:t>Datenmodell ändern</a:t>
                      </a:r>
                      <a:endParaRPr lang="en-US" sz="110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7F9FA"/>
                    </a:solidFill>
                  </a:tcPr>
                </a:tc>
                <a:tc>
                  <a:txBody>
                    <a:bodyPr/>
                    <a:lstStyle/>
                    <a:p>
                      <a:pPr indent="0" marL="0">
                        <a:buNone/>
                      </a:pPr>
                      <a:r>
                        <a:rPr lang="en-US" sz="1100" dirty="0">
                          <a:solidFill>
                            <a:srgbClr val="16181D"/>
                          </a:solidFill>
                          <a:latin typeface="Arial" pitchFamily="34" charset="0"/>
                          <a:ea typeface="Arial" pitchFamily="34" charset="-122"/>
                          <a:cs typeface="Arial" pitchFamily="34" charset="-120"/>
                        </a:rPr>
                        <a:t>Attribute zur Laufzeit über die Oberfläche, ohne Migration oder Deployment</a:t>
                      </a:r>
                      <a:endParaRPr lang="en-US" sz="110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7F9FA"/>
                    </a:solidFill>
                  </a:tcPr>
                </a:tc>
                <a:tc>
                  <a:txBody>
                    <a:bodyPr/>
                    <a:lstStyle/>
                    <a:p>
                      <a:pPr indent="0" marL="0">
                        <a:buNone/>
                      </a:pPr>
                      <a:r>
                        <a:rPr lang="en-US" sz="1100" dirty="0">
                          <a:solidFill>
                            <a:srgbClr val="16181D"/>
                          </a:solidFill>
                          <a:latin typeface="Arial" pitchFamily="34" charset="0"/>
                          <a:ea typeface="Arial" pitchFamily="34" charset="-122"/>
                          <a:cs typeface="Arial" pitchFamily="34" charset="-120"/>
                        </a:rPr>
                        <a:t>Klassen-Editor erzeugt PHP-Klassen; Änderungen werden versioniert und ausgerollt</a:t>
                      </a:r>
                      <a:endParaRPr lang="en-US" sz="110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7F9FA"/>
                    </a:solidFill>
                  </a:tcPr>
                </a:tc>
                <a:tc>
                  <a:txBody>
                    <a:bodyPr/>
                    <a:lstStyle/>
                    <a:p>
                      <a:pPr algn="ctr" indent="0" marL="0">
                        <a:buNone/>
                      </a:pPr>
                      <a:r>
                        <a:rPr lang="en-US" sz="1050" b="1" dirty="0">
                          <a:solidFill>
                            <a:srgbClr val="0F7A4D"/>
                          </a:solidFill>
                          <a:latin typeface="Arial" pitchFamily="34" charset="0"/>
                          <a:ea typeface="Arial" pitchFamily="34" charset="-122"/>
                          <a:cs typeface="Arial" pitchFamily="34" charset="-120"/>
                        </a:rPr>
                        <a:t>anyPIM</a:t>
                      </a:r>
                      <a:endParaRPr lang="en-US" sz="105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DFF3EA"/>
                    </a:solidFill>
                  </a:tcPr>
                </a:tc>
              </a:tr>
              <a:tr h="512064">
                <a:tc>
                  <a:txBody>
                    <a:bodyPr/>
                    <a:lstStyle/>
                    <a:p>
                      <a:pPr indent="0" marL="0">
                        <a:buNone/>
                      </a:pPr>
                      <a:r>
                        <a:rPr lang="en-US" sz="1100" b="1" dirty="0">
                          <a:solidFill>
                            <a:srgbClr val="16181D"/>
                          </a:solidFill>
                          <a:latin typeface="Arial" pitchFamily="34" charset="0"/>
                          <a:ea typeface="Arial" pitchFamily="34" charset="-122"/>
                          <a:cs typeface="Arial" pitchFamily="34" charset="-120"/>
                        </a:rPr>
                        <a:t>Abhängigkeit</a:t>
                      </a:r>
                      <a:endParaRPr lang="en-US" sz="110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FFFFF"/>
                    </a:solidFill>
                  </a:tcPr>
                </a:tc>
                <a:tc>
                  <a:txBody>
                    <a:bodyPr/>
                    <a:lstStyle/>
                    <a:p>
                      <a:pPr indent="0" marL="0">
                        <a:buNone/>
                      </a:pPr>
                      <a:r>
                        <a:rPr lang="en-US" sz="1100" dirty="0">
                          <a:solidFill>
                            <a:srgbClr val="16181D"/>
                          </a:solidFill>
                          <a:latin typeface="Arial" pitchFamily="34" charset="0"/>
                          <a:ea typeface="Arial" pitchFamily="34" charset="-122"/>
                          <a:cs typeface="Arial" pitchFamily="34" charset="-120"/>
                        </a:rPr>
                        <a:t>Quellcode beim Kunden; Hersteller ist der langjährige Betreuer</a:t>
                      </a:r>
                      <a:endParaRPr lang="en-US" sz="110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FFFFF"/>
                    </a:solidFill>
                  </a:tcPr>
                </a:tc>
                <a:tc>
                  <a:txBody>
                    <a:bodyPr/>
                    <a:lstStyle/>
                    <a:p>
                      <a:pPr indent="0" marL="0">
                        <a:buNone/>
                      </a:pPr>
                      <a:r>
                        <a:rPr lang="en-US" sz="1100" dirty="0">
                          <a:solidFill>
                            <a:srgbClr val="16181D"/>
                          </a:solidFill>
                          <a:latin typeface="Arial" pitchFamily="34" charset="0"/>
                          <a:ea typeface="Arial" pitchFamily="34" charset="-122"/>
                          <a:cs typeface="Arial" pitchFamily="34" charset="-120"/>
                        </a:rPr>
                        <a:t>Roadmap und Lizenzmodell beim Hersteller; 2025 bereits einmal geändert</a:t>
                      </a:r>
                      <a:endParaRPr lang="en-US" sz="110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0F7A4D"/>
                          </a:solidFill>
                          <a:latin typeface="Arial" pitchFamily="34" charset="0"/>
                          <a:ea typeface="Arial" pitchFamily="34" charset="-122"/>
                          <a:cs typeface="Arial" pitchFamily="34" charset="-120"/>
                        </a:rPr>
                        <a:t>anyPIM</a:t>
                      </a:r>
                      <a:endParaRPr lang="en-US" sz="105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DFF3EA"/>
                    </a:solidFill>
                  </a:tcPr>
                </a:tc>
              </a:tr>
              <a:tr h="512064">
                <a:tc>
                  <a:txBody>
                    <a:bodyPr/>
                    <a:lstStyle/>
                    <a:p>
                      <a:pPr indent="0" marL="0">
                        <a:buNone/>
                      </a:pPr>
                      <a:r>
                        <a:rPr lang="en-US" sz="1100" b="1" dirty="0">
                          <a:solidFill>
                            <a:srgbClr val="16181D"/>
                          </a:solidFill>
                          <a:latin typeface="Arial" pitchFamily="34" charset="0"/>
                          <a:ea typeface="Arial" pitchFamily="34" charset="-122"/>
                          <a:cs typeface="Arial" pitchFamily="34" charset="-120"/>
                        </a:rPr>
                        <a:t>Ausrichtung</a:t>
                      </a:r>
                      <a:endParaRPr lang="en-US" sz="110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7F9FA"/>
                    </a:solidFill>
                  </a:tcPr>
                </a:tc>
                <a:tc>
                  <a:txBody>
                    <a:bodyPr/>
                    <a:lstStyle/>
                    <a:p>
                      <a:pPr indent="0" marL="0">
                        <a:buNone/>
                      </a:pPr>
                      <a:r>
                        <a:rPr lang="en-US" sz="1100" dirty="0">
                          <a:solidFill>
                            <a:srgbClr val="16181D"/>
                          </a:solidFill>
                          <a:latin typeface="Arial" pitchFamily="34" charset="0"/>
                          <a:ea typeface="Arial" pitchFamily="34" charset="-122"/>
                          <a:cs typeface="Arial" pitchFamily="34" charset="-120"/>
                        </a:rPr>
                        <a:t>Spezialisiertes PIM mit Katalog-, Print- und Kanal-Ausgabe</a:t>
                      </a:r>
                      <a:endParaRPr lang="en-US" sz="110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7F9FA"/>
                    </a:solidFill>
                  </a:tcPr>
                </a:tc>
                <a:tc>
                  <a:txBody>
                    <a:bodyPr/>
                    <a:lstStyle/>
                    <a:p>
                      <a:pPr indent="0" marL="0">
                        <a:buNone/>
                      </a:pPr>
                      <a:r>
                        <a:rPr lang="en-US" sz="1100" dirty="0">
                          <a:solidFill>
                            <a:srgbClr val="16181D"/>
                          </a:solidFill>
                          <a:latin typeface="Arial" pitchFamily="34" charset="0"/>
                          <a:ea typeface="Arial" pitchFamily="34" charset="-122"/>
                          <a:cs typeface="Arial" pitchFamily="34" charset="-120"/>
                        </a:rPr>
                        <a:t>Plattform aus PIM, MDM, DAM, CMS und Commerce</a:t>
                      </a:r>
                      <a:endParaRPr lang="en-US" sz="110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7F9FA"/>
                    </a:solidFill>
                  </a:tcPr>
                </a:tc>
                <a:tc>
                  <a:txBody>
                    <a:bodyPr/>
                    <a:lstStyle/>
                    <a:p>
                      <a:pPr algn="ctr" indent="0" marL="0">
                        <a:buNone/>
                      </a:pPr>
                      <a:r>
                        <a:rPr lang="en-US" sz="1050" b="1" dirty="0">
                          <a:solidFill>
                            <a:srgbClr val="6B7280"/>
                          </a:solidFill>
                          <a:latin typeface="Arial" pitchFamily="34" charset="0"/>
                          <a:ea typeface="Arial" pitchFamily="34" charset="-122"/>
                          <a:cs typeface="Arial" pitchFamily="34" charset="-120"/>
                        </a:rPr>
                        <a:t>je nach Ziel</a:t>
                      </a:r>
                      <a:endParaRPr lang="en-US" sz="105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EEF0F2"/>
                    </a:solidFill>
                  </a:tcPr>
                </a:tc>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594360"/>
          </a:xfrm>
          <a:prstGeom prst="rect">
            <a:avLst/>
          </a:prstGeom>
          <a:noFill/>
          <a:ln/>
        </p:spPr>
        <p:txBody>
          <a:bodyPr wrap="square" lIns="0" tIns="0" rIns="0" bIns="0" rtlCol="0" anchor="b"/>
          <a:lstStyle/>
          <a:p>
            <a:pPr indent="0" marL="0">
              <a:buNone/>
            </a:pPr>
            <a:r>
              <a:rPr lang="en-US" sz="3000" dirty="0">
                <a:solidFill>
                  <a:srgbClr val="16181D"/>
                </a:solidFill>
                <a:latin typeface="Arial" pitchFamily="34" charset="0"/>
                <a:ea typeface="Arial" pitchFamily="34" charset="-122"/>
                <a:cs typeface="Arial" pitchFamily="34" charset="-120"/>
              </a:rPr>
              <a:t>VERGLEICH II: FUNKTIONEN FÜR VERLAGSDATEN</a:t>
            </a:r>
            <a:endParaRPr lang="en-US" sz="3000" dirty="0"/>
          </a:p>
        </p:txBody>
      </p:sp>
      <p:sp>
        <p:nvSpPr>
          <p:cNvPr id="3" name="Text 1"/>
          <p:cNvSpPr txBox="1"/>
          <p:nvPr/>
        </p:nvSpPr>
        <p:spPr>
          <a:xfrm>
            <a:off x="548640" y="1033272"/>
            <a:ext cx="11094415" cy="365760"/>
          </a:xfrm>
          <a:prstGeom prst="rect">
            <a:avLst/>
          </a:prstGeom>
          <a:noFill/>
          <a:ln/>
        </p:spPr>
        <p:txBody>
          <a:bodyPr wrap="square" lIns="0" tIns="0" rIns="0" bIns="0" rtlCol="0" anchor="t"/>
          <a:lstStyle/>
          <a:p>
            <a:pPr indent="0" marL="0">
              <a:buNone/>
            </a:pPr>
            <a:r>
              <a:rPr lang="en-US" sz="1400" dirty="0">
                <a:solidFill>
                  <a:srgbClr val="4B5563"/>
                </a:solidFill>
                <a:latin typeface="Arial" pitchFamily="34" charset="0"/>
                <a:ea typeface="Arial" pitchFamily="34" charset="-122"/>
                <a:cs typeface="Arial" pitchFamily="34" charset="-120"/>
              </a:rPr>
              <a:t>Bewertet nach dem, was ein Fachverlag für Titeldaten braucht – nicht nach Funktionsbreite allgemein.</a:t>
            </a:r>
            <a:endParaRPr lang="en-US" sz="1400" dirty="0"/>
          </a:p>
        </p:txBody>
      </p:sp>
      <p:sp>
        <p:nvSpPr>
          <p:cNvPr id="4" name="Text 2"/>
          <p:cNvSpPr txBox="1"/>
          <p:nvPr/>
        </p:nvSpPr>
        <p:spPr>
          <a:xfrm>
            <a:off x="548640" y="6400800"/>
            <a:ext cx="7315200" cy="228600"/>
          </a:xfrm>
          <a:prstGeom prst="rect">
            <a:avLst/>
          </a:prstGeom>
          <a:noFill/>
          <a:ln/>
        </p:spPr>
        <p:txBody>
          <a:bodyPr wrap="square" lIns="0" tIns="0" rIns="0" bIns="0" rtlCol="0" anchor="t"/>
          <a:lstStyle/>
          <a:p>
            <a:pPr indent="0" marL="0">
              <a:buNone/>
            </a:pPr>
            <a:r>
              <a:rPr lang="en-US" sz="900" dirty="0">
                <a:solidFill>
                  <a:srgbClr val="4B5563"/>
                </a:solidFill>
                <a:latin typeface="Arial" pitchFamily="34" charset="0"/>
                <a:ea typeface="Arial" pitchFamily="34" charset="-122"/>
                <a:cs typeface="Arial" pitchFamily="34" charset="-120"/>
              </a:rPr>
              <a:t>anyPIM für Kohlhammer  ·  Entscheidungsvorlage  ·  September 2026</a:t>
            </a:r>
            <a:endParaRPr lang="en-US" sz="900" dirty="0"/>
          </a:p>
        </p:txBody>
      </p:sp>
      <p:sp>
        <p:nvSpPr>
          <p:cNvPr id="5" name="Text 3"/>
          <p:cNvSpPr txBox="1"/>
          <p:nvPr/>
        </p:nvSpPr>
        <p:spPr>
          <a:xfrm>
            <a:off x="10728655" y="6400800"/>
            <a:ext cx="914400" cy="228600"/>
          </a:xfrm>
          <a:prstGeom prst="rect">
            <a:avLst/>
          </a:prstGeom>
          <a:noFill/>
          <a:ln/>
        </p:spPr>
        <p:txBody>
          <a:bodyPr wrap="square" lIns="0" tIns="0" rIns="0" bIns="0" rtlCol="0" anchor="t"/>
          <a:lstStyle/>
          <a:p>
            <a:pPr algn="r" indent="0" marL="0">
              <a:buNone/>
            </a:pPr>
            <a:r>
              <a:rPr lang="en-US" sz="900" dirty="0">
                <a:solidFill>
                  <a:srgbClr val="4B5563"/>
                </a:solidFill>
                <a:latin typeface="Arial" pitchFamily="34" charset="0"/>
                <a:ea typeface="Arial" pitchFamily="34" charset="-122"/>
                <a:cs typeface="Arial" pitchFamily="34" charset="-120"/>
              </a:rPr>
              <a:t>11</a:t>
            </a:r>
            <a:endParaRPr lang="en-US" sz="9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572768"/>
          <a:ext cx="11094415" cy="914400"/>
        </p:xfrm>
        <a:graphic>
          <a:graphicData uri="http://schemas.openxmlformats.org/drawingml/2006/table">
            <a:tbl>
              <a:tblPr/>
              <a:tblGrid>
                <a:gridCol w="2011680"/>
                <a:gridCol w="3886200"/>
                <a:gridCol w="3886200"/>
                <a:gridCol w="1307592"/>
              </a:tblGrid>
              <a:tr h="384048">
                <a:tc>
                  <a:txBody>
                    <a:bodyPr/>
                    <a:lstStyle/>
                    <a:p>
                      <a:pPr indent="0" marL="0">
                        <a:buNone/>
                      </a:pPr>
                      <a:r>
                        <a:rPr lang="en-US" sz="1300" dirty="0">
                          <a:solidFill>
                            <a:srgbClr val="FFFFFF"/>
                          </a:solidFill>
                          <a:latin typeface="Arial" pitchFamily="34" charset="0"/>
                          <a:ea typeface="Arial" pitchFamily="34" charset="-122"/>
                          <a:cs typeface="Arial" pitchFamily="34" charset="-120"/>
                        </a:rPr>
                        <a:t>Kriterium</a:t>
                      </a:r>
                      <a:endParaRPr lang="en-US" sz="130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000E2F"/>
                    </a:solidFill>
                  </a:tcPr>
                </a:tc>
                <a:tc>
                  <a:txBody>
                    <a:bodyPr/>
                    <a:lstStyle/>
                    <a:p>
                      <a:pPr indent="0" marL="0">
                        <a:buNone/>
                      </a:pPr>
                      <a:r>
                        <a:rPr lang="en-US" sz="1300" dirty="0">
                          <a:solidFill>
                            <a:srgbClr val="FFFFFF"/>
                          </a:solidFill>
                          <a:latin typeface="Arial" pitchFamily="34" charset="0"/>
                          <a:ea typeface="Arial" pitchFamily="34" charset="-122"/>
                          <a:cs typeface="Arial" pitchFamily="34" charset="-120"/>
                        </a:rPr>
                        <a:t>anyPIM</a:t>
                      </a:r>
                      <a:endParaRPr lang="en-US" sz="130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000E2F"/>
                    </a:solidFill>
                  </a:tcPr>
                </a:tc>
                <a:tc>
                  <a:txBody>
                    <a:bodyPr/>
                    <a:lstStyle/>
                    <a:p>
                      <a:pPr indent="0" marL="0">
                        <a:buNone/>
                      </a:pPr>
                      <a:r>
                        <a:rPr lang="en-US" sz="1300" dirty="0">
                          <a:solidFill>
                            <a:srgbClr val="FFFFFF"/>
                          </a:solidFill>
                          <a:latin typeface="Arial" pitchFamily="34" charset="0"/>
                          <a:ea typeface="Arial" pitchFamily="34" charset="-122"/>
                          <a:cs typeface="Arial" pitchFamily="34" charset="-120"/>
                        </a:rPr>
                        <a:t>Pimcore (aktuelle Version)</a:t>
                      </a:r>
                      <a:endParaRPr lang="en-US" sz="130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000E2F"/>
                    </a:solidFill>
                  </a:tcPr>
                </a:tc>
                <a:tc>
                  <a:txBody>
                    <a:bodyPr/>
                    <a:lstStyle/>
                    <a:p>
                      <a:pPr indent="0" marL="0">
                        <a:buNone/>
                      </a:pPr>
                      <a:r>
                        <a:rPr lang="en-US" sz="1300" dirty="0">
                          <a:solidFill>
                            <a:srgbClr val="FFFFFF"/>
                          </a:solidFill>
                          <a:latin typeface="Arial" pitchFamily="34" charset="0"/>
                          <a:ea typeface="Arial" pitchFamily="34" charset="-122"/>
                          <a:cs typeface="Arial" pitchFamily="34" charset="-120"/>
                        </a:rPr>
                        <a:t>Vorteil</a:t>
                      </a:r>
                      <a:endParaRPr lang="en-US" sz="130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000E2F"/>
                    </a:solidFill>
                  </a:tcPr>
                </a:tc>
              </a:tr>
              <a:tr h="512064">
                <a:tc>
                  <a:txBody>
                    <a:bodyPr/>
                    <a:lstStyle/>
                    <a:p>
                      <a:pPr indent="0" marL="0">
                        <a:buNone/>
                      </a:pPr>
                      <a:r>
                        <a:rPr lang="en-US" sz="1100" b="1" dirty="0">
                          <a:solidFill>
                            <a:srgbClr val="16181D"/>
                          </a:solidFill>
                          <a:latin typeface="Arial" pitchFamily="34" charset="0"/>
                          <a:ea typeface="Arial" pitchFamily="34" charset="-122"/>
                          <a:cs typeface="Arial" pitchFamily="34" charset="-120"/>
                        </a:rPr>
                        <a:t>Werk / Ausgabe</a:t>
                      </a:r>
                      <a:endParaRPr lang="en-US" sz="110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FFFFF"/>
                    </a:solidFill>
                  </a:tcPr>
                </a:tc>
                <a:tc>
                  <a:txBody>
                    <a:bodyPr/>
                    <a:lstStyle/>
                    <a:p>
                      <a:pPr indent="0" marL="0">
                        <a:buNone/>
                      </a:pPr>
                      <a:r>
                        <a:rPr lang="en-US" sz="1100" dirty="0">
                          <a:solidFill>
                            <a:srgbClr val="16181D"/>
                          </a:solidFill>
                          <a:latin typeface="Arial" pitchFamily="34" charset="0"/>
                          <a:ea typeface="Arial" pitchFamily="34" charset="-122"/>
                          <a:cs typeface="Arial" pitchFamily="34" charset="-120"/>
                        </a:rPr>
                        <a:t>Vererbung Hierarchie → Produkt → Variante, pro Attribut</a:t>
                      </a:r>
                      <a:endParaRPr lang="en-US" sz="110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FFFFF"/>
                    </a:solidFill>
                  </a:tcPr>
                </a:tc>
                <a:tc>
                  <a:txBody>
                    <a:bodyPr/>
                    <a:lstStyle/>
                    <a:p>
                      <a:pPr indent="0" marL="0">
                        <a:buNone/>
                      </a:pPr>
                      <a:r>
                        <a:rPr lang="en-US" sz="1100" dirty="0">
                          <a:solidFill>
                            <a:srgbClr val="16181D"/>
                          </a:solidFill>
                          <a:latin typeface="Arial" pitchFamily="34" charset="0"/>
                          <a:ea typeface="Arial" pitchFamily="34" charset="-122"/>
                          <a:cs typeface="Arial" pitchFamily="34" charset="-120"/>
                        </a:rPr>
                        <a:t>Objekt-Vererbung Eltern → Kind, Varianten</a:t>
                      </a:r>
                      <a:endParaRPr lang="en-US" sz="110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6B7280"/>
                          </a:solidFill>
                          <a:latin typeface="Arial" pitchFamily="34" charset="0"/>
                          <a:ea typeface="Arial" pitchFamily="34" charset="-122"/>
                          <a:cs typeface="Arial" pitchFamily="34" charset="-120"/>
                        </a:rPr>
                        <a:t>gleichauf</a:t>
                      </a:r>
                      <a:endParaRPr lang="en-US" sz="105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EEF0F2"/>
                    </a:solidFill>
                  </a:tcPr>
                </a:tc>
              </a:tr>
              <a:tr h="512064">
                <a:tc>
                  <a:txBody>
                    <a:bodyPr/>
                    <a:lstStyle/>
                    <a:p>
                      <a:pPr indent="0" marL="0">
                        <a:buNone/>
                      </a:pPr>
                      <a:r>
                        <a:rPr lang="en-US" sz="1100" b="1" dirty="0">
                          <a:solidFill>
                            <a:srgbClr val="16181D"/>
                          </a:solidFill>
                          <a:latin typeface="Arial" pitchFamily="34" charset="0"/>
                          <a:ea typeface="Arial" pitchFamily="34" charset="-122"/>
                          <a:cs typeface="Arial" pitchFamily="34" charset="-120"/>
                        </a:rPr>
                        <a:t>Parallele Klassifikationen</a:t>
                      </a:r>
                      <a:endParaRPr lang="en-US" sz="110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7F9FA"/>
                    </a:solidFill>
                  </a:tcPr>
                </a:tc>
                <a:tc>
                  <a:txBody>
                    <a:bodyPr/>
                    <a:lstStyle/>
                    <a:p>
                      <a:pPr indent="0" marL="0">
                        <a:buNone/>
                      </a:pPr>
                      <a:r>
                        <a:rPr lang="en-US" sz="1100" dirty="0">
                          <a:solidFill>
                            <a:srgbClr val="16181D"/>
                          </a:solidFill>
                          <a:latin typeface="Arial" pitchFamily="34" charset="0"/>
                          <a:ea typeface="Arial" pitchFamily="34" charset="-122"/>
                          <a:cs typeface="Arial" pitchFamily="34" charset="-120"/>
                        </a:rPr>
                        <a:t>Master- und Output-Hierarchien plus Attribut-Mapping im Standard</a:t>
                      </a:r>
                      <a:endParaRPr lang="en-US" sz="110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7F9FA"/>
                    </a:solidFill>
                  </a:tcPr>
                </a:tc>
                <a:tc>
                  <a:txBody>
                    <a:bodyPr/>
                    <a:lstStyle/>
                    <a:p>
                      <a:pPr indent="0" marL="0">
                        <a:buNone/>
                      </a:pPr>
                      <a:r>
                        <a:rPr lang="en-US" sz="1100" dirty="0">
                          <a:solidFill>
                            <a:srgbClr val="16181D"/>
                          </a:solidFill>
                          <a:latin typeface="Arial" pitchFamily="34" charset="0"/>
                          <a:ea typeface="Arial" pitchFamily="34" charset="-122"/>
                          <a:cs typeface="Arial" pitchFamily="34" charset="-120"/>
                        </a:rPr>
                        <a:t>Kategorien als Objekte, Classification Store – modellierbar, aber Projektarbeit</a:t>
                      </a:r>
                      <a:endParaRPr lang="en-US" sz="110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7F9FA"/>
                    </a:solidFill>
                  </a:tcPr>
                </a:tc>
                <a:tc>
                  <a:txBody>
                    <a:bodyPr/>
                    <a:lstStyle/>
                    <a:p>
                      <a:pPr algn="ctr" indent="0" marL="0">
                        <a:buNone/>
                      </a:pPr>
                      <a:r>
                        <a:rPr lang="en-US" sz="1050" b="1" dirty="0">
                          <a:solidFill>
                            <a:srgbClr val="0F7A4D"/>
                          </a:solidFill>
                          <a:latin typeface="Arial" pitchFamily="34" charset="0"/>
                          <a:ea typeface="Arial" pitchFamily="34" charset="-122"/>
                          <a:cs typeface="Arial" pitchFamily="34" charset="-120"/>
                        </a:rPr>
                        <a:t>anyPIM</a:t>
                      </a:r>
                      <a:endParaRPr lang="en-US" sz="105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DFF3EA"/>
                    </a:solidFill>
                  </a:tcPr>
                </a:tc>
              </a:tr>
              <a:tr h="512064">
                <a:tc>
                  <a:txBody>
                    <a:bodyPr/>
                    <a:lstStyle/>
                    <a:p>
                      <a:pPr indent="0" marL="0">
                        <a:buNone/>
                      </a:pPr>
                      <a:r>
                        <a:rPr lang="en-US" sz="1100" b="1" dirty="0">
                          <a:solidFill>
                            <a:srgbClr val="16181D"/>
                          </a:solidFill>
                          <a:latin typeface="Arial" pitchFamily="34" charset="0"/>
                          <a:ea typeface="Arial" pitchFamily="34" charset="-122"/>
                          <a:cs typeface="Arial" pitchFamily="34" charset="-120"/>
                        </a:rPr>
                        <a:t>Print / Vorschau</a:t>
                      </a:r>
                      <a:endParaRPr lang="en-US" sz="110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FFFFF"/>
                    </a:solidFill>
                  </a:tcPr>
                </a:tc>
                <a:tc>
                  <a:txBody>
                    <a:bodyPr/>
                    <a:lstStyle/>
                    <a:p>
                      <a:pPr indent="0" marL="0">
                        <a:buNone/>
                      </a:pPr>
                      <a:r>
                        <a:rPr lang="en-US" sz="1100" dirty="0">
                          <a:solidFill>
                            <a:srgbClr val="16181D"/>
                          </a:solidFill>
                          <a:latin typeface="Arial" pitchFamily="34" charset="0"/>
                          <a:ea typeface="Arial" pitchFamily="34" charset="-122"/>
                          <a:cs typeface="Arial" pitchFamily="34" charset="-120"/>
                        </a:rPr>
                        <a:t>PDF-Vorlagen, InDesign-Skript-Export, Publixx im Produkt</a:t>
                      </a:r>
                      <a:endParaRPr lang="en-US" sz="110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FFFFF"/>
                    </a:solidFill>
                  </a:tcPr>
                </a:tc>
                <a:tc>
                  <a:txBody>
                    <a:bodyPr/>
                    <a:lstStyle/>
                    <a:p>
                      <a:pPr indent="0" marL="0">
                        <a:buNone/>
                      </a:pPr>
                      <a:r>
                        <a:rPr lang="en-US" sz="1100" dirty="0">
                          <a:solidFill>
                            <a:srgbClr val="16181D"/>
                          </a:solidFill>
                          <a:latin typeface="Arial" pitchFamily="34" charset="0"/>
                          <a:ea typeface="Arial" pitchFamily="34" charset="-122"/>
                          <a:cs typeface="Arial" pitchFamily="34" charset="-120"/>
                        </a:rPr>
                        <a:t>Web-to-Print-Bundle, Ausprägung meist projektspezifisch</a:t>
                      </a:r>
                      <a:endParaRPr lang="en-US" sz="110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0F7A4D"/>
                          </a:solidFill>
                          <a:latin typeface="Arial" pitchFamily="34" charset="0"/>
                          <a:ea typeface="Arial" pitchFamily="34" charset="-122"/>
                          <a:cs typeface="Arial" pitchFamily="34" charset="-120"/>
                        </a:rPr>
                        <a:t>anyPIM</a:t>
                      </a:r>
                      <a:endParaRPr lang="en-US" sz="105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DFF3EA"/>
                    </a:solidFill>
                  </a:tcPr>
                </a:tc>
              </a:tr>
              <a:tr h="512064">
                <a:tc>
                  <a:txBody>
                    <a:bodyPr/>
                    <a:lstStyle/>
                    <a:p>
                      <a:pPr indent="0" marL="0">
                        <a:buNone/>
                      </a:pPr>
                      <a:r>
                        <a:rPr lang="en-US" sz="1100" b="1" dirty="0">
                          <a:solidFill>
                            <a:srgbClr val="16181D"/>
                          </a:solidFill>
                          <a:latin typeface="Arial" pitchFamily="34" charset="0"/>
                          <a:ea typeface="Arial" pitchFamily="34" charset="-122"/>
                          <a:cs typeface="Arial" pitchFamily="34" charset="-120"/>
                        </a:rPr>
                        <a:t>Suche</a:t>
                      </a:r>
                      <a:endParaRPr lang="en-US" sz="110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7F9FA"/>
                    </a:solidFill>
                  </a:tcPr>
                </a:tc>
                <a:tc>
                  <a:txBody>
                    <a:bodyPr/>
                    <a:lstStyle/>
                    <a:p>
                      <a:pPr indent="0" marL="0">
                        <a:buNone/>
                      </a:pPr>
                      <a:r>
                        <a:rPr lang="en-US" sz="1100" dirty="0">
                          <a:solidFill>
                            <a:srgbClr val="16181D"/>
                          </a:solidFill>
                          <a:latin typeface="Arial" pitchFamily="34" charset="0"/>
                          <a:ea typeface="Arial" pitchFamily="34" charset="-122"/>
                          <a:cs typeface="Arial" pitchFamily="34" charset="-120"/>
                        </a:rPr>
                        <a:t>PQL, Fuzzy, Kölner Phonetik, semantische Hybrid-Suche</a:t>
                      </a:r>
                      <a:endParaRPr lang="en-US" sz="110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7F9FA"/>
                    </a:solidFill>
                  </a:tcPr>
                </a:tc>
                <a:tc>
                  <a:txBody>
                    <a:bodyPr/>
                    <a:lstStyle/>
                    <a:p>
                      <a:pPr indent="0" marL="0">
                        <a:buNone/>
                      </a:pPr>
                      <a:r>
                        <a:rPr lang="en-US" sz="1100" dirty="0">
                          <a:solidFill>
                            <a:srgbClr val="16181D"/>
                          </a:solidFill>
                          <a:latin typeface="Arial" pitchFamily="34" charset="0"/>
                          <a:ea typeface="Arial" pitchFamily="34" charset="-122"/>
                          <a:cs typeface="Arial" pitchFamily="34" charset="-120"/>
                        </a:rPr>
                        <a:t>Datenindex auf OpenSearch/Elasticsearch, sehr leistungsfähig</a:t>
                      </a:r>
                      <a:endParaRPr lang="en-US" sz="110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7F9FA"/>
                    </a:solidFill>
                  </a:tcPr>
                </a:tc>
                <a:tc>
                  <a:txBody>
                    <a:bodyPr/>
                    <a:lstStyle/>
                    <a:p>
                      <a:pPr algn="ctr" indent="0" marL="0">
                        <a:buNone/>
                      </a:pPr>
                      <a:r>
                        <a:rPr lang="en-US" sz="1050" b="1" dirty="0">
                          <a:solidFill>
                            <a:srgbClr val="6B7280"/>
                          </a:solidFill>
                          <a:latin typeface="Arial" pitchFamily="34" charset="0"/>
                          <a:ea typeface="Arial" pitchFamily="34" charset="-122"/>
                          <a:cs typeface="Arial" pitchFamily="34" charset="-120"/>
                        </a:rPr>
                        <a:t>gleichauf</a:t>
                      </a:r>
                      <a:endParaRPr lang="en-US" sz="105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EEF0F2"/>
                    </a:solidFill>
                  </a:tcPr>
                </a:tc>
              </a:tr>
              <a:tr h="512064">
                <a:tc>
                  <a:txBody>
                    <a:bodyPr/>
                    <a:lstStyle/>
                    <a:p>
                      <a:pPr indent="0" marL="0">
                        <a:buNone/>
                      </a:pPr>
                      <a:r>
                        <a:rPr lang="en-US" sz="1100" b="1" dirty="0">
                          <a:solidFill>
                            <a:srgbClr val="16181D"/>
                          </a:solidFill>
                          <a:latin typeface="Arial" pitchFamily="34" charset="0"/>
                          <a:ea typeface="Arial" pitchFamily="34" charset="-122"/>
                          <a:cs typeface="Arial" pitchFamily="34" charset="-120"/>
                        </a:rPr>
                        <a:t>Asset-Management</a:t>
                      </a:r>
                      <a:endParaRPr lang="en-US" sz="110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FFFFF"/>
                    </a:solidFill>
                  </a:tcPr>
                </a:tc>
                <a:tc>
                  <a:txBody>
                    <a:bodyPr/>
                    <a:lstStyle/>
                    <a:p>
                      <a:pPr indent="0" marL="0">
                        <a:buNone/>
                      </a:pPr>
                      <a:r>
                        <a:rPr lang="en-US" sz="1100" dirty="0">
                          <a:solidFill>
                            <a:srgbClr val="16181D"/>
                          </a:solidFill>
                          <a:latin typeface="Arial" pitchFamily="34" charset="0"/>
                          <a:ea typeface="Arial" pitchFamily="34" charset="-122"/>
                          <a:cs typeface="Arial" pitchFamily="34" charset="-120"/>
                        </a:rPr>
                        <a:t>Medien mit Verwendungstypen, Renditions, Tags, Asset-Katalog</a:t>
                      </a:r>
                      <a:endParaRPr lang="en-US" sz="110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FFFFF"/>
                    </a:solidFill>
                  </a:tcPr>
                </a:tc>
                <a:tc>
                  <a:txBody>
                    <a:bodyPr/>
                    <a:lstStyle/>
                    <a:p>
                      <a:pPr indent="0" marL="0">
                        <a:buNone/>
                      </a:pPr>
                      <a:r>
                        <a:rPr lang="en-US" sz="1100" dirty="0">
                          <a:solidFill>
                            <a:srgbClr val="16181D"/>
                          </a:solidFill>
                          <a:latin typeface="Arial" pitchFamily="34" charset="0"/>
                          <a:ea typeface="Arial" pitchFamily="34" charset="-122"/>
                          <a:cs typeface="Arial" pitchFamily="34" charset="-120"/>
                        </a:rPr>
                        <a:t>Vollwertiges DAM mit umfangreichem Metadatenmodell</a:t>
                      </a:r>
                      <a:endParaRPr lang="en-US" sz="110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1B2D5C"/>
                          </a:solidFill>
                          <a:latin typeface="Arial" pitchFamily="34" charset="0"/>
                          <a:ea typeface="Arial" pitchFamily="34" charset="-122"/>
                          <a:cs typeface="Arial" pitchFamily="34" charset="-120"/>
                        </a:rPr>
                        <a:t>Pimcore</a:t>
                      </a:r>
                      <a:endParaRPr lang="en-US" sz="105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E3E8F4"/>
                    </a:solidFill>
                  </a:tcPr>
                </a:tc>
              </a:tr>
              <a:tr h="512064">
                <a:tc>
                  <a:txBody>
                    <a:bodyPr/>
                    <a:lstStyle/>
                    <a:p>
                      <a:pPr indent="0" marL="0">
                        <a:buNone/>
                      </a:pPr>
                      <a:r>
                        <a:rPr lang="en-US" sz="1100" b="1" dirty="0">
                          <a:solidFill>
                            <a:srgbClr val="16181D"/>
                          </a:solidFill>
                          <a:latin typeface="Arial" pitchFamily="34" charset="0"/>
                          <a:ea typeface="Arial" pitchFamily="34" charset="-122"/>
                          <a:cs typeface="Arial" pitchFamily="34" charset="-120"/>
                        </a:rPr>
                        <a:t>Website-CMS</a:t>
                      </a:r>
                      <a:endParaRPr lang="en-US" sz="110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7F9FA"/>
                    </a:solidFill>
                  </a:tcPr>
                </a:tc>
                <a:tc>
                  <a:txBody>
                    <a:bodyPr/>
                    <a:lstStyle/>
                    <a:p>
                      <a:pPr indent="0" marL="0">
                        <a:buNone/>
                      </a:pPr>
                      <a:r>
                        <a:rPr lang="en-US" sz="1100" dirty="0">
                          <a:solidFill>
                            <a:srgbClr val="16181D"/>
                          </a:solidFill>
                          <a:latin typeface="Arial" pitchFamily="34" charset="0"/>
                          <a:ea typeface="Arial" pitchFamily="34" charset="-122"/>
                          <a:cs typeface="Arial" pitchFamily="34" charset="-120"/>
                        </a:rPr>
                        <a:t>Kein eigenes CMS; Katalog-Widget für bestehende CMS</a:t>
                      </a:r>
                      <a:endParaRPr lang="en-US" sz="110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7F9FA"/>
                    </a:solidFill>
                  </a:tcPr>
                </a:tc>
                <a:tc>
                  <a:txBody>
                    <a:bodyPr/>
                    <a:lstStyle/>
                    <a:p>
                      <a:pPr indent="0" marL="0">
                        <a:buNone/>
                      </a:pPr>
                      <a:r>
                        <a:rPr lang="en-US" sz="1100" dirty="0">
                          <a:solidFill>
                            <a:srgbClr val="16181D"/>
                          </a:solidFill>
                          <a:latin typeface="Arial" pitchFamily="34" charset="0"/>
                          <a:ea typeface="Arial" pitchFamily="34" charset="-122"/>
                          <a:cs typeface="Arial" pitchFamily="34" charset="-120"/>
                        </a:rPr>
                        <a:t>Integriertes CMS / DXP</a:t>
                      </a:r>
                      <a:endParaRPr lang="en-US" sz="110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7F9FA"/>
                    </a:solidFill>
                  </a:tcPr>
                </a:tc>
                <a:tc>
                  <a:txBody>
                    <a:bodyPr/>
                    <a:lstStyle/>
                    <a:p>
                      <a:pPr algn="ctr" indent="0" marL="0">
                        <a:buNone/>
                      </a:pPr>
                      <a:r>
                        <a:rPr lang="en-US" sz="1050" b="1" dirty="0">
                          <a:solidFill>
                            <a:srgbClr val="1B2D5C"/>
                          </a:solidFill>
                          <a:latin typeface="Arial" pitchFamily="34" charset="0"/>
                          <a:ea typeface="Arial" pitchFamily="34" charset="-122"/>
                          <a:cs typeface="Arial" pitchFamily="34" charset="-120"/>
                        </a:rPr>
                        <a:t>Pimcore</a:t>
                      </a:r>
                      <a:endParaRPr lang="en-US" sz="105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E3E8F4"/>
                    </a:solidFill>
                  </a:tcPr>
                </a:tc>
              </a:tr>
              <a:tr h="512064">
                <a:tc>
                  <a:txBody>
                    <a:bodyPr/>
                    <a:lstStyle/>
                    <a:p>
                      <a:pPr indent="0" marL="0">
                        <a:buNone/>
                      </a:pPr>
                      <a:r>
                        <a:rPr lang="en-US" sz="1100" b="1" dirty="0">
                          <a:solidFill>
                            <a:srgbClr val="16181D"/>
                          </a:solidFill>
                          <a:latin typeface="Arial" pitchFamily="34" charset="0"/>
                          <a:ea typeface="Arial" pitchFamily="34" charset="-122"/>
                          <a:cs typeface="Arial" pitchFamily="34" charset="-120"/>
                        </a:rPr>
                        <a:t>ONIX 3.0</a:t>
                      </a:r>
                      <a:endParaRPr lang="en-US" sz="110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FFFFF"/>
                    </a:solidFill>
                  </a:tcPr>
                </a:tc>
                <a:tc>
                  <a:txBody>
                    <a:bodyPr/>
                    <a:lstStyle/>
                    <a:p>
                      <a:pPr indent="0" marL="0">
                        <a:buNone/>
                      </a:pPr>
                      <a:r>
                        <a:rPr lang="en-US" sz="1100" dirty="0">
                          <a:solidFill>
                            <a:srgbClr val="16181D"/>
                          </a:solidFill>
                          <a:latin typeface="Arial" pitchFamily="34" charset="0"/>
                          <a:ea typeface="Arial" pitchFamily="34" charset="-122"/>
                          <a:cs typeface="Arial" pitchFamily="34" charset="-120"/>
                        </a:rPr>
                        <a:t>Nicht im Standard, als Exportformat über die Mapping-Engine</a:t>
                      </a:r>
                      <a:endParaRPr lang="en-US" sz="110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FFFFF"/>
                    </a:solidFill>
                  </a:tcPr>
                </a:tc>
                <a:tc>
                  <a:txBody>
                    <a:bodyPr/>
                    <a:lstStyle/>
                    <a:p>
                      <a:pPr indent="0" marL="0">
                        <a:buNone/>
                      </a:pPr>
                      <a:r>
                        <a:rPr lang="en-US" sz="1100" dirty="0">
                          <a:solidFill>
                            <a:srgbClr val="16181D"/>
                          </a:solidFill>
                          <a:latin typeface="Arial" pitchFamily="34" charset="0"/>
                          <a:ea typeface="Arial" pitchFamily="34" charset="-122"/>
                          <a:cs typeface="Arial" pitchFamily="34" charset="-120"/>
                        </a:rPr>
                        <a:t>Nicht im Standard, Partnerlösung oder Eigenentwicklung</a:t>
                      </a:r>
                      <a:endParaRPr lang="en-US" sz="110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6B7280"/>
                          </a:solidFill>
                          <a:latin typeface="Arial" pitchFamily="34" charset="0"/>
                          <a:ea typeface="Arial" pitchFamily="34" charset="-122"/>
                          <a:cs typeface="Arial" pitchFamily="34" charset="-120"/>
                        </a:rPr>
                        <a:t>gleichauf</a:t>
                      </a:r>
                      <a:endParaRPr lang="en-US" sz="105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EEF0F2"/>
                    </a:solidFill>
                  </a:tcPr>
                </a:tc>
              </a:tr>
              <a:tr h="512064">
                <a:tc>
                  <a:txBody>
                    <a:bodyPr/>
                    <a:lstStyle/>
                    <a:p>
                      <a:pPr indent="0" marL="0">
                        <a:buNone/>
                      </a:pPr>
                      <a:r>
                        <a:rPr lang="en-US" sz="1100" b="1" dirty="0">
                          <a:solidFill>
                            <a:srgbClr val="16181D"/>
                          </a:solidFill>
                          <a:latin typeface="Arial" pitchFamily="34" charset="0"/>
                          <a:ea typeface="Arial" pitchFamily="34" charset="-122"/>
                          <a:cs typeface="Arial" pitchFamily="34" charset="-120"/>
                        </a:rPr>
                        <a:t>Ökosystem</a:t>
                      </a:r>
                      <a:endParaRPr lang="en-US" sz="110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7F9FA"/>
                    </a:solidFill>
                  </a:tcPr>
                </a:tc>
                <a:tc>
                  <a:txBody>
                    <a:bodyPr/>
                    <a:lstStyle/>
                    <a:p>
                      <a:pPr indent="0" marL="0">
                        <a:buNone/>
                      </a:pPr>
                      <a:r>
                        <a:rPr lang="en-US" sz="1100" dirty="0">
                          <a:solidFill>
                            <a:srgbClr val="16181D"/>
                          </a:solidFill>
                          <a:latin typeface="Arial" pitchFamily="34" charset="0"/>
                          <a:ea typeface="Arial" pitchFamily="34" charset="-122"/>
                          <a:cs typeface="Arial" pitchFamily="34" charset="-120"/>
                        </a:rPr>
                        <a:t>Kleiner, direkter Draht zum Hersteller</a:t>
                      </a:r>
                      <a:endParaRPr lang="en-US" sz="110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7F9FA"/>
                    </a:solidFill>
                  </a:tcPr>
                </a:tc>
                <a:tc>
                  <a:txBody>
                    <a:bodyPr/>
                    <a:lstStyle/>
                    <a:p>
                      <a:pPr indent="0" marL="0">
                        <a:buNone/>
                      </a:pPr>
                      <a:r>
                        <a:rPr lang="en-US" sz="1100" dirty="0">
                          <a:solidFill>
                            <a:srgbClr val="16181D"/>
                          </a:solidFill>
                          <a:latin typeface="Arial" pitchFamily="34" charset="0"/>
                          <a:ea typeface="Arial" pitchFamily="34" charset="-122"/>
                          <a:cs typeface="Arial" pitchFamily="34" charset="-120"/>
                        </a:rPr>
                        <a:t>Große internationale Community, viele Partner und Erweiterungen</a:t>
                      </a:r>
                      <a:endParaRPr lang="en-US" sz="110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7F9FA"/>
                    </a:solidFill>
                  </a:tcPr>
                </a:tc>
                <a:tc>
                  <a:txBody>
                    <a:bodyPr/>
                    <a:lstStyle/>
                    <a:p>
                      <a:pPr algn="ctr" indent="0" marL="0">
                        <a:buNone/>
                      </a:pPr>
                      <a:r>
                        <a:rPr lang="en-US" sz="1050" b="1" dirty="0">
                          <a:solidFill>
                            <a:srgbClr val="1B2D5C"/>
                          </a:solidFill>
                          <a:latin typeface="Arial" pitchFamily="34" charset="0"/>
                          <a:ea typeface="Arial" pitchFamily="34" charset="-122"/>
                          <a:cs typeface="Arial" pitchFamily="34" charset="-120"/>
                        </a:rPr>
                        <a:t>Pimcore</a:t>
                      </a:r>
                      <a:endParaRPr lang="en-US" sz="105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E3E8F4"/>
                    </a:solidFill>
                  </a:tcPr>
                </a:tc>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594360"/>
          </a:xfrm>
          <a:prstGeom prst="rect">
            <a:avLst/>
          </a:prstGeom>
          <a:noFill/>
          <a:ln/>
        </p:spPr>
        <p:txBody>
          <a:bodyPr wrap="square" lIns="0" tIns="0" rIns="0" bIns="0" rtlCol="0" anchor="b"/>
          <a:lstStyle/>
          <a:p>
            <a:pPr indent="0" marL="0">
              <a:buNone/>
            </a:pPr>
            <a:r>
              <a:rPr lang="en-US" sz="3000" dirty="0">
                <a:solidFill>
                  <a:srgbClr val="16181D"/>
                </a:solidFill>
                <a:latin typeface="Arial" pitchFamily="34" charset="0"/>
                <a:ea typeface="Arial" pitchFamily="34" charset="-122"/>
                <a:cs typeface="Arial" pitchFamily="34" charset="-120"/>
              </a:rPr>
              <a:t>BILANZ: WAS FÜR KOHLHAMMER DEN AUSSCHLAG GIBT</a:t>
            </a:r>
            <a:endParaRPr lang="en-US" sz="3000" dirty="0"/>
          </a:p>
        </p:txBody>
      </p:sp>
      <p:sp>
        <p:nvSpPr>
          <p:cNvPr id="3" name="Text 1"/>
          <p:cNvSpPr txBox="1"/>
          <p:nvPr/>
        </p:nvSpPr>
        <p:spPr>
          <a:xfrm>
            <a:off x="548640" y="1033272"/>
            <a:ext cx="11094415" cy="365760"/>
          </a:xfrm>
          <a:prstGeom prst="rect">
            <a:avLst/>
          </a:prstGeom>
          <a:noFill/>
          <a:ln/>
        </p:spPr>
        <p:txBody>
          <a:bodyPr wrap="square" lIns="0" tIns="0" rIns="0" bIns="0" rtlCol="0" anchor="t"/>
          <a:lstStyle/>
          <a:p>
            <a:pPr indent="0" marL="0">
              <a:buNone/>
            </a:pPr>
            <a:r>
              <a:rPr lang="en-US" sz="1400" dirty="0">
                <a:solidFill>
                  <a:srgbClr val="4B5563"/>
                </a:solidFill>
                <a:latin typeface="Arial" pitchFamily="34" charset="0"/>
                <a:ea typeface="Arial" pitchFamily="34" charset="-122"/>
                <a:cs typeface="Arial" pitchFamily="34" charset="-120"/>
              </a:rPr>
              <a:t>Nicht die Zahl der Kriterien entscheidet, sondern ob ein Vorteil einmal oder dauerhaft wirkt.</a:t>
            </a:r>
            <a:endParaRPr lang="en-US" sz="1400" dirty="0"/>
          </a:p>
        </p:txBody>
      </p:sp>
      <p:sp>
        <p:nvSpPr>
          <p:cNvPr id="4" name="Text 2"/>
          <p:cNvSpPr txBox="1"/>
          <p:nvPr/>
        </p:nvSpPr>
        <p:spPr>
          <a:xfrm>
            <a:off x="548640" y="6400800"/>
            <a:ext cx="7315200" cy="228600"/>
          </a:xfrm>
          <a:prstGeom prst="rect">
            <a:avLst/>
          </a:prstGeom>
          <a:noFill/>
          <a:ln/>
        </p:spPr>
        <p:txBody>
          <a:bodyPr wrap="square" lIns="0" tIns="0" rIns="0" bIns="0" rtlCol="0" anchor="t"/>
          <a:lstStyle/>
          <a:p>
            <a:pPr indent="0" marL="0">
              <a:buNone/>
            </a:pPr>
            <a:r>
              <a:rPr lang="en-US" sz="900" dirty="0">
                <a:solidFill>
                  <a:srgbClr val="4B5563"/>
                </a:solidFill>
                <a:latin typeface="Arial" pitchFamily="34" charset="0"/>
                <a:ea typeface="Arial" pitchFamily="34" charset="-122"/>
                <a:cs typeface="Arial" pitchFamily="34" charset="-120"/>
              </a:rPr>
              <a:t>anyPIM für Kohlhammer  ·  Entscheidungsvorlage  ·  September 2026</a:t>
            </a:r>
            <a:endParaRPr lang="en-US" sz="900" dirty="0"/>
          </a:p>
        </p:txBody>
      </p:sp>
      <p:sp>
        <p:nvSpPr>
          <p:cNvPr id="5" name="Text 3"/>
          <p:cNvSpPr txBox="1"/>
          <p:nvPr/>
        </p:nvSpPr>
        <p:spPr>
          <a:xfrm>
            <a:off x="10728655" y="6400800"/>
            <a:ext cx="914400" cy="228600"/>
          </a:xfrm>
          <a:prstGeom prst="rect">
            <a:avLst/>
          </a:prstGeom>
          <a:noFill/>
          <a:ln/>
        </p:spPr>
        <p:txBody>
          <a:bodyPr wrap="square" lIns="0" tIns="0" rIns="0" bIns="0" rtlCol="0" anchor="t"/>
          <a:lstStyle/>
          <a:p>
            <a:pPr algn="r" indent="0" marL="0">
              <a:buNone/>
            </a:pPr>
            <a:r>
              <a:rPr lang="en-US" sz="900" dirty="0">
                <a:solidFill>
                  <a:srgbClr val="4B5563"/>
                </a:solidFill>
                <a:latin typeface="Arial" pitchFamily="34" charset="0"/>
                <a:ea typeface="Arial" pitchFamily="34" charset="-122"/>
                <a:cs typeface="Arial" pitchFamily="34" charset="-120"/>
              </a:rPr>
              <a:t>12</a:t>
            </a:r>
            <a:endParaRPr lang="en-US" sz="9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7406640" cy="914400"/>
        </p:xfrm>
        <a:graphic>
          <a:graphicData uri="http://schemas.openxmlformats.org/drawingml/2006/table">
            <a:tbl>
              <a:tblPr/>
              <a:tblGrid>
                <a:gridCol w="1737360"/>
                <a:gridCol w="3611880"/>
                <a:gridCol w="1005840"/>
                <a:gridCol w="1051560"/>
              </a:tblGrid>
              <a:tr h="384048">
                <a:tc>
                  <a:txBody>
                    <a:bodyPr/>
                    <a:lstStyle/>
                    <a:p>
                      <a:pPr indent="0" marL="0">
                        <a:buNone/>
                      </a:pPr>
                      <a:r>
                        <a:rPr lang="en-US" sz="1250" dirty="0">
                          <a:solidFill>
                            <a:srgbClr val="FFFFFF"/>
                          </a:solidFill>
                          <a:latin typeface="Arial" pitchFamily="34" charset="0"/>
                          <a:ea typeface="Arial" pitchFamily="34" charset="-122"/>
                          <a:cs typeface="Arial" pitchFamily="34" charset="-120"/>
                        </a:rPr>
                        <a:t>Kriterium</a:t>
                      </a:r>
                      <a:endParaRPr lang="en-US" sz="125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000E2F"/>
                    </a:solidFill>
                  </a:tcPr>
                </a:tc>
                <a:tc>
                  <a:txBody>
                    <a:bodyPr/>
                    <a:lstStyle/>
                    <a:p>
                      <a:pPr indent="0" marL="0">
                        <a:buNone/>
                      </a:pPr>
                      <a:r>
                        <a:rPr lang="en-US" sz="1250" dirty="0">
                          <a:solidFill>
                            <a:srgbClr val="FFFFFF"/>
                          </a:solidFill>
                          <a:latin typeface="Arial" pitchFamily="34" charset="0"/>
                          <a:ea typeface="Arial" pitchFamily="34" charset="-122"/>
                          <a:cs typeface="Arial" pitchFamily="34" charset="-120"/>
                        </a:rPr>
                        <a:t>Worum es geht</a:t>
                      </a:r>
                      <a:endParaRPr lang="en-US" sz="125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000E2F"/>
                    </a:solidFill>
                  </a:tcPr>
                </a:tc>
                <a:tc>
                  <a:txBody>
                    <a:bodyPr/>
                    <a:lstStyle/>
                    <a:p>
                      <a:pPr indent="0" marL="0">
                        <a:buNone/>
                      </a:pPr>
                      <a:r>
                        <a:rPr lang="en-US" sz="1250" dirty="0">
                          <a:solidFill>
                            <a:srgbClr val="FFFFFF"/>
                          </a:solidFill>
                          <a:latin typeface="Arial" pitchFamily="34" charset="0"/>
                          <a:ea typeface="Arial" pitchFamily="34" charset="-122"/>
                          <a:cs typeface="Arial" pitchFamily="34" charset="-120"/>
                        </a:rPr>
                        <a:t>Wirkung</a:t>
                      </a:r>
                      <a:endParaRPr lang="en-US" sz="125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000E2F"/>
                    </a:solidFill>
                  </a:tcPr>
                </a:tc>
                <a:tc>
                  <a:txBody>
                    <a:bodyPr/>
                    <a:lstStyle/>
                    <a:p>
                      <a:pPr indent="0" marL="0">
                        <a:buNone/>
                      </a:pPr>
                      <a:r>
                        <a:rPr lang="en-US" sz="1250" dirty="0">
                          <a:solidFill>
                            <a:srgbClr val="FFFFFF"/>
                          </a:solidFill>
                          <a:latin typeface="Arial" pitchFamily="34" charset="0"/>
                          <a:ea typeface="Arial" pitchFamily="34" charset="-122"/>
                          <a:cs typeface="Arial" pitchFamily="34" charset="-120"/>
                        </a:rPr>
                        <a:t>Vorteil</a:t>
                      </a:r>
                      <a:endParaRPr lang="en-US" sz="125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000E2F"/>
                    </a:solidFill>
                  </a:tcPr>
                </a:tc>
              </a:tr>
              <a:tr h="603504">
                <a:tc>
                  <a:txBody>
                    <a:bodyPr/>
                    <a:lstStyle/>
                    <a:p>
                      <a:pPr indent="0" marL="0">
                        <a:buNone/>
                      </a:pPr>
                      <a:r>
                        <a:rPr lang="en-US" sz="1150" b="1" dirty="0">
                          <a:solidFill>
                            <a:srgbClr val="16181D"/>
                          </a:solidFill>
                          <a:latin typeface="Arial" pitchFamily="34" charset="0"/>
                          <a:ea typeface="Arial" pitchFamily="34" charset="-122"/>
                          <a:cs typeface="Arial" pitchFamily="34" charset="-120"/>
                        </a:rPr>
                        <a:t>Laufende Updates</a:t>
                      </a:r>
                      <a:endParaRPr lang="en-US" sz="115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FFFFF"/>
                    </a:solidFill>
                  </a:tcPr>
                </a:tc>
                <a:tc>
                  <a:txBody>
                    <a:bodyPr/>
                    <a:lstStyle/>
                    <a:p>
                      <a:pPr indent="0" marL="0">
                        <a:buNone/>
                      </a:pPr>
                      <a:r>
                        <a:rPr lang="en-US" sz="1150" dirty="0">
                          <a:solidFill>
                            <a:srgbClr val="16181D"/>
                          </a:solidFill>
                          <a:latin typeface="Arial" pitchFamily="34" charset="0"/>
                          <a:ea typeface="Arial" pitchFamily="34" charset="-122"/>
                          <a:cs typeface="Arial" pitchFamily="34" charset="-120"/>
                        </a:rPr>
                        <a:t>Update per Skript statt Nachziehen jedes Pimcore-Releases</a:t>
                      </a:r>
                      <a:endParaRPr lang="en-US" sz="115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FFFFF"/>
                    </a:solidFill>
                  </a:tcPr>
                </a:tc>
                <a:tc>
                  <a:txBody>
                    <a:bodyPr/>
                    <a:lstStyle/>
                    <a:p>
                      <a:pPr indent="0" marL="0">
                        <a:buNone/>
                      </a:pPr>
                      <a:r>
                        <a:rPr lang="en-US" sz="1150" b="1" dirty="0">
                          <a:solidFill>
                            <a:srgbClr val="000E2F"/>
                          </a:solidFill>
                          <a:latin typeface="Arial" pitchFamily="34" charset="0"/>
                          <a:ea typeface="Arial" pitchFamily="34" charset="-122"/>
                          <a:cs typeface="Arial" pitchFamily="34" charset="-120"/>
                        </a:rPr>
                        <a:t>dauerhaft</a:t>
                      </a:r>
                      <a:endParaRPr lang="en-US" sz="115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0F7A4D"/>
                          </a:solidFill>
                          <a:latin typeface="Arial" pitchFamily="34" charset="0"/>
                          <a:ea typeface="Arial" pitchFamily="34" charset="-122"/>
                          <a:cs typeface="Arial" pitchFamily="34" charset="-120"/>
                        </a:rPr>
                        <a:t>anyPIM</a:t>
                      </a:r>
                      <a:endParaRPr lang="en-US" sz="115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DFF3EA"/>
                    </a:solidFill>
                  </a:tcPr>
                </a:tc>
              </a:tr>
              <a:tr h="603504">
                <a:tc>
                  <a:txBody>
                    <a:bodyPr/>
                    <a:lstStyle/>
                    <a:p>
                      <a:pPr indent="0" marL="0">
                        <a:buNone/>
                      </a:pPr>
                      <a:r>
                        <a:rPr lang="en-US" sz="1150" b="1" dirty="0">
                          <a:solidFill>
                            <a:srgbClr val="16181D"/>
                          </a:solidFill>
                          <a:latin typeface="Arial" pitchFamily="34" charset="0"/>
                          <a:ea typeface="Arial" pitchFamily="34" charset="-122"/>
                          <a:cs typeface="Arial" pitchFamily="34" charset="-120"/>
                        </a:rPr>
                        <a:t>Betrieb</a:t>
                      </a:r>
                      <a:endParaRPr lang="en-US" sz="115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7F9FA"/>
                    </a:solidFill>
                  </a:tcPr>
                </a:tc>
                <a:tc>
                  <a:txBody>
                    <a:bodyPr/>
                    <a:lstStyle/>
                    <a:p>
                      <a:pPr indent="0" marL="0">
                        <a:buNone/>
                      </a:pPr>
                      <a:r>
                        <a:rPr lang="en-US" sz="1150" dirty="0">
                          <a:solidFill>
                            <a:srgbClr val="16181D"/>
                          </a:solidFill>
                          <a:latin typeface="Arial" pitchFamily="34" charset="0"/>
                          <a:ea typeface="Arial" pitchFamily="34" charset="-122"/>
                          <a:cs typeface="Arial" pitchFamily="34" charset="-120"/>
                        </a:rPr>
                        <a:t>Nativer Betrieb ohne Docker und OpenSearch</a:t>
                      </a:r>
                      <a:endParaRPr lang="en-US" sz="115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7F9FA"/>
                    </a:solidFill>
                  </a:tcPr>
                </a:tc>
                <a:tc>
                  <a:txBody>
                    <a:bodyPr/>
                    <a:lstStyle/>
                    <a:p>
                      <a:pPr indent="0" marL="0">
                        <a:buNone/>
                      </a:pPr>
                      <a:r>
                        <a:rPr lang="en-US" sz="1150" b="1" dirty="0">
                          <a:solidFill>
                            <a:srgbClr val="000E2F"/>
                          </a:solidFill>
                          <a:latin typeface="Arial" pitchFamily="34" charset="0"/>
                          <a:ea typeface="Arial" pitchFamily="34" charset="-122"/>
                          <a:cs typeface="Arial" pitchFamily="34" charset="-120"/>
                        </a:rPr>
                        <a:t>dauerhaft</a:t>
                      </a:r>
                      <a:endParaRPr lang="en-US" sz="115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7F9FA"/>
                    </a:solidFill>
                  </a:tcPr>
                </a:tc>
                <a:tc>
                  <a:txBody>
                    <a:bodyPr/>
                    <a:lstStyle/>
                    <a:p>
                      <a:pPr algn="ctr" indent="0" marL="0">
                        <a:buNone/>
                      </a:pPr>
                      <a:r>
                        <a:rPr lang="en-US" sz="1150" b="1" dirty="0">
                          <a:solidFill>
                            <a:srgbClr val="0F7A4D"/>
                          </a:solidFill>
                          <a:latin typeface="Arial" pitchFamily="34" charset="0"/>
                          <a:ea typeface="Arial" pitchFamily="34" charset="-122"/>
                          <a:cs typeface="Arial" pitchFamily="34" charset="-120"/>
                        </a:rPr>
                        <a:t>anyPIM</a:t>
                      </a:r>
                      <a:endParaRPr lang="en-US" sz="115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DFF3EA"/>
                    </a:solidFill>
                  </a:tcPr>
                </a:tc>
              </a:tr>
              <a:tr h="603504">
                <a:tc>
                  <a:txBody>
                    <a:bodyPr/>
                    <a:lstStyle/>
                    <a:p>
                      <a:pPr indent="0" marL="0">
                        <a:buNone/>
                      </a:pPr>
                      <a:r>
                        <a:rPr lang="en-US" sz="1150" b="1" dirty="0">
                          <a:solidFill>
                            <a:srgbClr val="16181D"/>
                          </a:solidFill>
                          <a:latin typeface="Arial" pitchFamily="34" charset="0"/>
                          <a:ea typeface="Arial" pitchFamily="34" charset="-122"/>
                          <a:cs typeface="Arial" pitchFamily="34" charset="-120"/>
                        </a:rPr>
                        <a:t>Lizenz</a:t>
                      </a:r>
                      <a:endParaRPr lang="en-US" sz="115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FFFFF"/>
                    </a:solidFill>
                  </a:tcPr>
                </a:tc>
                <a:tc>
                  <a:txBody>
                    <a:bodyPr/>
                    <a:lstStyle/>
                    <a:p>
                      <a:pPr indent="0" marL="0">
                        <a:buNone/>
                      </a:pPr>
                      <a:r>
                        <a:rPr lang="en-US" sz="1150" dirty="0">
                          <a:solidFill>
                            <a:srgbClr val="16181D"/>
                          </a:solidFill>
                          <a:latin typeface="Arial" pitchFamily="34" charset="0"/>
                          <a:ea typeface="Arial" pitchFamily="34" charset="-122"/>
                          <a:cs typeface="Arial" pitchFamily="34" charset="-120"/>
                        </a:rPr>
                        <a:t>Nur genutzte Module statt Erweiterungen mit wenig Nutzen (Datahub, Portale)</a:t>
                      </a:r>
                      <a:endParaRPr lang="en-US" sz="115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FFFFF"/>
                    </a:solidFill>
                  </a:tcPr>
                </a:tc>
                <a:tc>
                  <a:txBody>
                    <a:bodyPr/>
                    <a:lstStyle/>
                    <a:p>
                      <a:pPr indent="0" marL="0">
                        <a:buNone/>
                      </a:pPr>
                      <a:r>
                        <a:rPr lang="en-US" sz="1150" b="1" dirty="0">
                          <a:solidFill>
                            <a:srgbClr val="000E2F"/>
                          </a:solidFill>
                          <a:latin typeface="Arial" pitchFamily="34" charset="0"/>
                          <a:ea typeface="Arial" pitchFamily="34" charset="-122"/>
                          <a:cs typeface="Arial" pitchFamily="34" charset="-120"/>
                        </a:rPr>
                        <a:t>dauerhaft</a:t>
                      </a:r>
                      <a:endParaRPr lang="en-US" sz="115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0F7A4D"/>
                          </a:solidFill>
                          <a:latin typeface="Arial" pitchFamily="34" charset="0"/>
                          <a:ea typeface="Arial" pitchFamily="34" charset="-122"/>
                          <a:cs typeface="Arial" pitchFamily="34" charset="-120"/>
                        </a:rPr>
                        <a:t>anyPIM</a:t>
                      </a:r>
                      <a:endParaRPr lang="en-US" sz="115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DFF3EA"/>
                    </a:solidFill>
                  </a:tcPr>
                </a:tc>
              </a:tr>
              <a:tr h="603504">
                <a:tc>
                  <a:txBody>
                    <a:bodyPr/>
                    <a:lstStyle/>
                    <a:p>
                      <a:pPr indent="0" marL="0">
                        <a:buNone/>
                      </a:pPr>
                      <a:r>
                        <a:rPr lang="en-US" sz="1150" b="1" dirty="0">
                          <a:solidFill>
                            <a:srgbClr val="16181D"/>
                          </a:solidFill>
                          <a:latin typeface="Arial" pitchFamily="34" charset="0"/>
                          <a:ea typeface="Arial" pitchFamily="34" charset="-122"/>
                          <a:cs typeface="Arial" pitchFamily="34" charset="-120"/>
                        </a:rPr>
                        <a:t>Kohlhammer-Funktionen</a:t>
                      </a:r>
                      <a:endParaRPr lang="en-US" sz="115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7F9FA"/>
                    </a:solidFill>
                  </a:tcPr>
                </a:tc>
                <a:tc>
                  <a:txBody>
                    <a:bodyPr/>
                    <a:lstStyle/>
                    <a:p>
                      <a:pPr indent="0" marL="0">
                        <a:buNone/>
                      </a:pPr>
                      <a:r>
                        <a:rPr lang="en-US" sz="1150" dirty="0">
                          <a:solidFill>
                            <a:srgbClr val="16181D"/>
                          </a:solidFill>
                          <a:latin typeface="Arial" pitchFamily="34" charset="0"/>
                          <a:ea typeface="Arial" pitchFamily="34" charset="-122"/>
                          <a:cs typeface="Arial" pitchFamily="34" charset="-120"/>
                        </a:rPr>
                        <a:t>Projekt in beiden Fällen – bei anyPIM danach Standard, bei Pimcore Eigenentwicklung</a:t>
                      </a:r>
                      <a:endParaRPr lang="en-US" sz="115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7F9FA"/>
                    </a:solidFill>
                  </a:tcPr>
                </a:tc>
                <a:tc>
                  <a:txBody>
                    <a:bodyPr/>
                    <a:lstStyle/>
                    <a:p>
                      <a:pPr indent="0" marL="0">
                        <a:buNone/>
                      </a:pPr>
                      <a:r>
                        <a:rPr lang="en-US" sz="1150" b="1" dirty="0">
                          <a:solidFill>
                            <a:srgbClr val="000E2F"/>
                          </a:solidFill>
                          <a:latin typeface="Arial" pitchFamily="34" charset="0"/>
                          <a:ea typeface="Arial" pitchFamily="34" charset="-122"/>
                          <a:cs typeface="Arial" pitchFamily="34" charset="-120"/>
                        </a:rPr>
                        <a:t>dauerhaft</a:t>
                      </a:r>
                      <a:endParaRPr lang="en-US" sz="115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7F9FA"/>
                    </a:solidFill>
                  </a:tcPr>
                </a:tc>
                <a:tc>
                  <a:txBody>
                    <a:bodyPr/>
                    <a:lstStyle/>
                    <a:p>
                      <a:pPr algn="ctr" indent="0" marL="0">
                        <a:buNone/>
                      </a:pPr>
                      <a:r>
                        <a:rPr lang="en-US" sz="1150" b="1" dirty="0">
                          <a:solidFill>
                            <a:srgbClr val="0F7A4D"/>
                          </a:solidFill>
                          <a:latin typeface="Arial" pitchFamily="34" charset="0"/>
                          <a:ea typeface="Arial" pitchFamily="34" charset="-122"/>
                          <a:cs typeface="Arial" pitchFamily="34" charset="-120"/>
                        </a:rPr>
                        <a:t>anyPIM</a:t>
                      </a:r>
                      <a:endParaRPr lang="en-US" sz="115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DFF3EA"/>
                    </a:solidFill>
                  </a:tcPr>
                </a:tc>
              </a:tr>
              <a:tr h="603504">
                <a:tc>
                  <a:txBody>
                    <a:bodyPr/>
                    <a:lstStyle/>
                    <a:p>
                      <a:pPr indent="0" marL="0">
                        <a:buNone/>
                      </a:pPr>
                      <a:r>
                        <a:rPr lang="en-US" sz="1150" b="1" dirty="0">
                          <a:solidFill>
                            <a:srgbClr val="16181D"/>
                          </a:solidFill>
                          <a:latin typeface="Arial" pitchFamily="34" charset="0"/>
                          <a:ea typeface="Arial" pitchFamily="34" charset="-122"/>
                          <a:cs typeface="Arial" pitchFamily="34" charset="-120"/>
                        </a:rPr>
                        <a:t>Umstellung</a:t>
                      </a:r>
                      <a:endParaRPr lang="en-US" sz="115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FFFFF"/>
                    </a:solidFill>
                  </a:tcPr>
                </a:tc>
                <a:tc>
                  <a:txBody>
                    <a:bodyPr/>
                    <a:lstStyle/>
                    <a:p>
                      <a:pPr indent="0" marL="0">
                        <a:buNone/>
                      </a:pPr>
                      <a:r>
                        <a:rPr lang="en-US" sz="1150" dirty="0">
                          <a:solidFill>
                            <a:srgbClr val="16181D"/>
                          </a:solidFill>
                          <a:latin typeface="Arial" pitchFamily="34" charset="0"/>
                          <a:ea typeface="Arial" pitchFamily="34" charset="-122"/>
                          <a:cs typeface="Arial" pitchFamily="34" charset="-120"/>
                        </a:rPr>
                        <a:t>Daten bleiben in Pimcore und werden je Version migriert</a:t>
                      </a:r>
                      <a:endParaRPr lang="en-US" sz="115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FFFFF"/>
                    </a:solidFill>
                  </a:tcPr>
                </a:tc>
                <a:tc>
                  <a:txBody>
                    <a:bodyPr/>
                    <a:lstStyle/>
                    <a:p>
                      <a:pPr indent="0" marL="0">
                        <a:buNone/>
                      </a:pPr>
                      <a:r>
                        <a:rPr lang="en-US" sz="1150" dirty="0">
                          <a:solidFill>
                            <a:srgbClr val="4B5563"/>
                          </a:solidFill>
                          <a:latin typeface="Arial" pitchFamily="34" charset="0"/>
                          <a:ea typeface="Arial" pitchFamily="34" charset="-122"/>
                          <a:cs typeface="Arial" pitchFamily="34" charset="-120"/>
                        </a:rPr>
                        <a:t>einmalig</a:t>
                      </a:r>
                      <a:endParaRPr lang="en-US" sz="115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B2D5C"/>
                          </a:solidFill>
                          <a:latin typeface="Arial" pitchFamily="34" charset="0"/>
                          <a:ea typeface="Arial" pitchFamily="34" charset="-122"/>
                          <a:cs typeface="Arial" pitchFamily="34" charset="-120"/>
                        </a:rPr>
                        <a:t>Pimcore</a:t>
                      </a:r>
                      <a:endParaRPr lang="en-US" sz="115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E3E8F4"/>
                    </a:solidFill>
                  </a:tcPr>
                </a:tc>
              </a:tr>
              <a:tr h="603504">
                <a:tc>
                  <a:txBody>
                    <a:bodyPr/>
                    <a:lstStyle/>
                    <a:p>
                      <a:pPr indent="0" marL="0">
                        <a:buNone/>
                      </a:pPr>
                      <a:r>
                        <a:rPr lang="en-US" sz="1150" b="1" dirty="0">
                          <a:solidFill>
                            <a:srgbClr val="16181D"/>
                          </a:solidFill>
                          <a:latin typeface="Arial" pitchFamily="34" charset="0"/>
                          <a:ea typeface="Arial" pitchFamily="34" charset="-122"/>
                          <a:cs typeface="Arial" pitchFamily="34" charset="-120"/>
                        </a:rPr>
                        <a:t>Plattformbreite</a:t>
                      </a:r>
                      <a:endParaRPr lang="en-US" sz="115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7F9FA"/>
                    </a:solidFill>
                  </a:tcPr>
                </a:tc>
                <a:tc>
                  <a:txBody>
                    <a:bodyPr/>
                    <a:lstStyle/>
                    <a:p>
                      <a:pPr indent="0" marL="0">
                        <a:buNone/>
                      </a:pPr>
                      <a:r>
                        <a:rPr lang="en-US" sz="1150" dirty="0">
                          <a:solidFill>
                            <a:srgbClr val="16181D"/>
                          </a:solidFill>
                          <a:latin typeface="Arial" pitchFamily="34" charset="0"/>
                          <a:ea typeface="Arial" pitchFamily="34" charset="-122"/>
                          <a:cs typeface="Arial" pitchFamily="34" charset="-120"/>
                        </a:rPr>
                        <a:t>DAM, CMS und Ökosystem – relevant, wenn Kohlhammer diese konsolidieren will</a:t>
                      </a:r>
                      <a:endParaRPr lang="en-US" sz="115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7F9FA"/>
                    </a:solidFill>
                  </a:tcPr>
                </a:tc>
                <a:tc>
                  <a:txBody>
                    <a:bodyPr/>
                    <a:lstStyle/>
                    <a:p>
                      <a:pPr indent="0" marL="0">
                        <a:buNone/>
                      </a:pPr>
                      <a:r>
                        <a:rPr lang="en-US" sz="1150" dirty="0">
                          <a:solidFill>
                            <a:srgbClr val="4B5563"/>
                          </a:solidFill>
                          <a:latin typeface="Arial" pitchFamily="34" charset="0"/>
                          <a:ea typeface="Arial" pitchFamily="34" charset="-122"/>
                          <a:cs typeface="Arial" pitchFamily="34" charset="-120"/>
                        </a:rPr>
                        <a:t>nur bei Bedarf</a:t>
                      </a:r>
                      <a:endParaRPr lang="en-US" sz="115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7F9FA"/>
                    </a:solidFill>
                  </a:tcPr>
                </a:tc>
                <a:tc>
                  <a:txBody>
                    <a:bodyPr/>
                    <a:lstStyle/>
                    <a:p>
                      <a:pPr algn="ctr" indent="0" marL="0">
                        <a:buNone/>
                      </a:pPr>
                      <a:r>
                        <a:rPr lang="en-US" sz="1150" b="1" dirty="0">
                          <a:solidFill>
                            <a:srgbClr val="1B2D5C"/>
                          </a:solidFill>
                          <a:latin typeface="Arial" pitchFamily="34" charset="0"/>
                          <a:ea typeface="Arial" pitchFamily="34" charset="-122"/>
                          <a:cs typeface="Arial" pitchFamily="34" charset="-120"/>
                        </a:rPr>
                        <a:t>Pimcore</a:t>
                      </a:r>
                      <a:endParaRPr lang="en-US" sz="115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E3E8F4"/>
                    </a:solidFill>
                  </a:tcPr>
                </a:tc>
              </a:tr>
            </a:tbl>
          </a:graphicData>
        </a:graphic>
      </p:graphicFrame>
      <p:sp>
        <p:nvSpPr>
          <p:cNvPr id="7" name="Shape 4"/>
          <p:cNvSpPr/>
          <p:nvPr/>
        </p:nvSpPr>
        <p:spPr>
          <a:xfrm>
            <a:off x="8275320" y="1600200"/>
            <a:ext cx="3367735" cy="4023360"/>
          </a:xfrm>
          <a:prstGeom prst="rect">
            <a:avLst/>
          </a:prstGeom>
          <a:solidFill>
            <a:srgbClr val="000E2F"/>
          </a:solidFill>
          <a:ln w="12700">
            <a:solidFill>
              <a:srgbClr val="000E2F"/>
            </a:solidFill>
            <a:prstDash val="solid"/>
          </a:ln>
        </p:spPr>
      </p:sp>
      <p:sp>
        <p:nvSpPr>
          <p:cNvPr id="8" name="Text 5"/>
          <p:cNvSpPr txBox="1"/>
          <p:nvPr/>
        </p:nvSpPr>
        <p:spPr>
          <a:xfrm>
            <a:off x="8549640" y="1828800"/>
            <a:ext cx="2819095" cy="274320"/>
          </a:xfrm>
          <a:prstGeom prst="rect">
            <a:avLst/>
          </a:prstGeom>
          <a:noFill/>
          <a:ln/>
        </p:spPr>
        <p:txBody>
          <a:bodyPr wrap="square" lIns="0" tIns="0" rIns="0" bIns="0" rtlCol="0" anchor="t"/>
          <a:lstStyle/>
          <a:p>
            <a:pPr indent="0" marL="0">
              <a:buNone/>
            </a:pPr>
            <a:r>
              <a:rPr lang="en-US" sz="1100" b="1" spc="100" kern="0" dirty="0">
                <a:solidFill>
                  <a:srgbClr val="C6E6E3"/>
                </a:solidFill>
                <a:latin typeface="Arial" pitchFamily="34" charset="0"/>
                <a:ea typeface="Arial" pitchFamily="34" charset="-122"/>
                <a:cs typeface="Arial" pitchFamily="34" charset="-120"/>
              </a:rPr>
              <a:t>ERGEBNIS</a:t>
            </a:r>
            <a:endParaRPr lang="en-US" sz="1100" dirty="0"/>
          </a:p>
        </p:txBody>
      </p:sp>
      <p:sp>
        <p:nvSpPr>
          <p:cNvPr id="9" name="Text 6"/>
          <p:cNvSpPr txBox="1"/>
          <p:nvPr/>
        </p:nvSpPr>
        <p:spPr>
          <a:xfrm>
            <a:off x="8549640" y="2194560"/>
            <a:ext cx="2819095" cy="731520"/>
          </a:xfrm>
          <a:prstGeom prst="rect">
            <a:avLst/>
          </a:prstGeom>
          <a:noFill/>
          <a:ln/>
        </p:spPr>
        <p:txBody>
          <a:bodyPr wrap="square" lIns="0" tIns="0" rIns="0" bIns="0" rtlCol="0" anchor="t"/>
          <a:lstStyle/>
          <a:p>
            <a:pPr indent="0" marL="0">
              <a:buNone/>
            </a:pPr>
            <a:r>
              <a:rPr lang="en-US" sz="1600" dirty="0">
                <a:solidFill>
                  <a:srgbClr val="FFFFFF"/>
                </a:solidFill>
                <a:latin typeface="Arial" pitchFamily="34" charset="0"/>
                <a:ea typeface="Arial" pitchFamily="34" charset="-122"/>
                <a:cs typeface="Arial" pitchFamily="34" charset="-120"/>
              </a:rPr>
              <a:t>Pimcore punktet einmalig beim Umstieg.</a:t>
            </a:r>
            <a:endParaRPr lang="en-US" sz="1600" dirty="0"/>
          </a:p>
        </p:txBody>
      </p:sp>
      <p:sp>
        <p:nvSpPr>
          <p:cNvPr id="10" name="Text 7"/>
          <p:cNvSpPr txBox="1"/>
          <p:nvPr/>
        </p:nvSpPr>
        <p:spPr>
          <a:xfrm>
            <a:off x="8549640" y="2971800"/>
            <a:ext cx="2819095" cy="1188720"/>
          </a:xfrm>
          <a:prstGeom prst="rect">
            <a:avLst/>
          </a:prstGeom>
          <a:noFill/>
          <a:ln/>
        </p:spPr>
        <p:txBody>
          <a:bodyPr wrap="square" lIns="0" tIns="0" rIns="0" bIns="0" rtlCol="0" anchor="t"/>
          <a:lstStyle/>
          <a:p>
            <a:pPr indent="0" marL="0">
              <a:buNone/>
            </a:pPr>
            <a:r>
              <a:rPr lang="en-US" sz="1600" b="1" dirty="0">
                <a:solidFill>
                  <a:srgbClr val="FFFFFF"/>
                </a:solidFill>
                <a:latin typeface="Arial" pitchFamily="34" charset="0"/>
                <a:ea typeface="Arial" pitchFamily="34" charset="-122"/>
                <a:cs typeface="Arial" pitchFamily="34" charset="-120"/>
              </a:rPr>
              <a:t>anyPIM punktet dauerhaft – bei jedem Release, jedem Betriebstag und jeder Lizenzrechnung.</a:t>
            </a:r>
            <a:endParaRPr lang="en-US" sz="1600" dirty="0"/>
          </a:p>
        </p:txBody>
      </p:sp>
      <p:sp>
        <p:nvSpPr>
          <p:cNvPr id="11" name="Text 8"/>
          <p:cNvSpPr txBox="1"/>
          <p:nvPr/>
        </p:nvSpPr>
        <p:spPr>
          <a:xfrm>
            <a:off x="8549640" y="4846320"/>
            <a:ext cx="2819095" cy="548640"/>
          </a:xfrm>
          <a:prstGeom prst="rect">
            <a:avLst/>
          </a:prstGeom>
          <a:noFill/>
          <a:ln/>
        </p:spPr>
        <p:txBody>
          <a:bodyPr wrap="square" lIns="0" tIns="0" rIns="0" bIns="0" rtlCol="0" anchor="t"/>
          <a:lstStyle/>
          <a:p>
            <a:pPr indent="0" marL="0">
              <a:buNone/>
            </a:pPr>
            <a:r>
              <a:rPr lang="en-US" sz="1500" b="1" dirty="0">
                <a:solidFill>
                  <a:srgbClr val="C6E6E3"/>
                </a:solidFill>
                <a:latin typeface="Arial" pitchFamily="34" charset="0"/>
                <a:ea typeface="Arial" pitchFamily="34" charset="-122"/>
                <a:cs typeface="Arial" pitchFamily="34" charset="-120"/>
              </a:rPr>
              <a:t>Empfehlung: Wechsel zu anyPIM</a:t>
            </a:r>
            <a:endParaRPr lang="en-US" sz="1500" dirty="0"/>
          </a:p>
        </p:txBody>
      </p:sp>
      <p:sp>
        <p:nvSpPr>
          <p:cNvPr id="12" name="Text 9"/>
          <p:cNvSpPr txBox="1"/>
          <p:nvPr/>
        </p:nvSpPr>
        <p:spPr>
          <a:xfrm>
            <a:off x="548640" y="5806440"/>
            <a:ext cx="11094415" cy="457200"/>
          </a:xfrm>
          <a:prstGeom prst="rect">
            <a:avLst/>
          </a:prstGeom>
          <a:noFill/>
          <a:ln/>
        </p:spPr>
        <p:txBody>
          <a:bodyPr wrap="square" lIns="0" tIns="0" rIns="0" bIns="0" rtlCol="0" anchor="t"/>
          <a:lstStyle/>
          <a:p>
            <a:pPr indent="0" marL="0">
              <a:buNone/>
            </a:pPr>
            <a:r>
              <a:rPr lang="en-US" sz="1300" b="1" dirty="0">
                <a:solidFill>
                  <a:srgbClr val="E2211C"/>
                </a:solidFill>
                <a:latin typeface="Arial" pitchFamily="34" charset="0"/>
                <a:ea typeface="Arial" pitchFamily="34" charset="-122"/>
                <a:cs typeface="Arial" pitchFamily="34" charset="-120"/>
              </a:rPr>
              <a:t>→  </a:t>
            </a:r>
            <a:pPr indent="0" marL="0">
              <a:buNone/>
            </a:pPr>
            <a:r>
              <a:rPr lang="en-US" sz="1300" dirty="0">
                <a:solidFill>
                  <a:srgbClr val="1B2D5C"/>
                </a:solidFill>
                <a:latin typeface="Arial" pitchFamily="34" charset="0"/>
                <a:ea typeface="Arial" pitchFamily="34" charset="-122"/>
                <a:cs typeface="Arial" pitchFamily="34" charset="-120"/>
              </a:rPr>
              <a:t>Ergebnisoffen bleibt nur die Plattformfrage: Soll Kohlhammer Website, DAM und PIM auf einem System zusammenführen? Dann spricht mehr für Pimcore.</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594360"/>
          </a:xfrm>
          <a:prstGeom prst="rect">
            <a:avLst/>
          </a:prstGeom>
          <a:noFill/>
          <a:ln/>
        </p:spPr>
        <p:txBody>
          <a:bodyPr wrap="square" lIns="0" tIns="0" rIns="0" bIns="0" rtlCol="0" anchor="b"/>
          <a:lstStyle/>
          <a:p>
            <a:pPr indent="0" marL="0">
              <a:buNone/>
            </a:pPr>
            <a:r>
              <a:rPr lang="en-US" sz="3000" dirty="0">
                <a:solidFill>
                  <a:srgbClr val="16181D"/>
                </a:solidFill>
                <a:latin typeface="Arial" pitchFamily="34" charset="0"/>
                <a:ea typeface="Arial" pitchFamily="34" charset="-122"/>
                <a:cs typeface="Arial" pitchFamily="34" charset="-120"/>
              </a:rPr>
              <a:t>UNSERE ROLLE, TRANSPARENT</a:t>
            </a:r>
            <a:endParaRPr lang="en-US" sz="3000" dirty="0"/>
          </a:p>
        </p:txBody>
      </p:sp>
      <p:sp>
        <p:nvSpPr>
          <p:cNvPr id="3" name="Text 1"/>
          <p:cNvSpPr txBox="1"/>
          <p:nvPr/>
        </p:nvSpPr>
        <p:spPr>
          <a:xfrm>
            <a:off x="548640" y="1033272"/>
            <a:ext cx="11094415" cy="365760"/>
          </a:xfrm>
          <a:prstGeom prst="rect">
            <a:avLst/>
          </a:prstGeom>
          <a:noFill/>
          <a:ln/>
        </p:spPr>
        <p:txBody>
          <a:bodyPr wrap="square" lIns="0" tIns="0" rIns="0" bIns="0" rtlCol="0" anchor="t"/>
          <a:lstStyle/>
          <a:p>
            <a:pPr indent="0" marL="0">
              <a:buNone/>
            </a:pPr>
            <a:r>
              <a:rPr lang="en-US" sz="1400" dirty="0">
                <a:solidFill>
                  <a:srgbClr val="4B5563"/>
                </a:solidFill>
                <a:latin typeface="Arial" pitchFamily="34" charset="0"/>
                <a:ea typeface="Arial" pitchFamily="34" charset="-122"/>
                <a:cs typeface="Arial" pitchFamily="34" charset="-120"/>
              </a:rPr>
              <a:t>Wir können beide Wege gehen – und sagen deshalb offen, warum wir einen empfehlen.</a:t>
            </a:r>
            <a:endParaRPr lang="en-US" sz="1400" dirty="0"/>
          </a:p>
        </p:txBody>
      </p:sp>
      <p:sp>
        <p:nvSpPr>
          <p:cNvPr id="4" name="Text 2"/>
          <p:cNvSpPr txBox="1"/>
          <p:nvPr/>
        </p:nvSpPr>
        <p:spPr>
          <a:xfrm>
            <a:off x="548640" y="6400800"/>
            <a:ext cx="7315200" cy="228600"/>
          </a:xfrm>
          <a:prstGeom prst="rect">
            <a:avLst/>
          </a:prstGeom>
          <a:noFill/>
          <a:ln/>
        </p:spPr>
        <p:txBody>
          <a:bodyPr wrap="square" lIns="0" tIns="0" rIns="0" bIns="0" rtlCol="0" anchor="t"/>
          <a:lstStyle/>
          <a:p>
            <a:pPr indent="0" marL="0">
              <a:buNone/>
            </a:pPr>
            <a:r>
              <a:rPr lang="en-US" sz="900" dirty="0">
                <a:solidFill>
                  <a:srgbClr val="4B5563"/>
                </a:solidFill>
                <a:latin typeface="Arial" pitchFamily="34" charset="0"/>
                <a:ea typeface="Arial" pitchFamily="34" charset="-122"/>
                <a:cs typeface="Arial" pitchFamily="34" charset="-120"/>
              </a:rPr>
              <a:t>anyPIM für Kohlhammer  ·  Entscheidungsvorlage  ·  September 2026</a:t>
            </a:r>
            <a:endParaRPr lang="en-US" sz="900" dirty="0"/>
          </a:p>
        </p:txBody>
      </p:sp>
      <p:sp>
        <p:nvSpPr>
          <p:cNvPr id="5" name="Text 3"/>
          <p:cNvSpPr txBox="1"/>
          <p:nvPr/>
        </p:nvSpPr>
        <p:spPr>
          <a:xfrm>
            <a:off x="10728655" y="6400800"/>
            <a:ext cx="914400" cy="228600"/>
          </a:xfrm>
          <a:prstGeom prst="rect">
            <a:avLst/>
          </a:prstGeom>
          <a:noFill/>
          <a:ln/>
        </p:spPr>
        <p:txBody>
          <a:bodyPr wrap="square" lIns="0" tIns="0" rIns="0" bIns="0" rtlCol="0" anchor="t"/>
          <a:lstStyle/>
          <a:p>
            <a:pPr algn="r" indent="0" marL="0">
              <a:buNone/>
            </a:pPr>
            <a:r>
              <a:rPr lang="en-US" sz="900" dirty="0">
                <a:solidFill>
                  <a:srgbClr val="4B5563"/>
                </a:solidFill>
                <a:latin typeface="Arial" pitchFamily="34" charset="0"/>
                <a:ea typeface="Arial" pitchFamily="34" charset="-122"/>
                <a:cs typeface="Arial" pitchFamily="34" charset="-120"/>
              </a:rPr>
              <a:t>13</a:t>
            </a:r>
            <a:endParaRPr lang="en-US" sz="900" dirty="0"/>
          </a:p>
        </p:txBody>
      </p:sp>
      <p:sp>
        <p:nvSpPr>
          <p:cNvPr id="6" name="Shape 4"/>
          <p:cNvSpPr/>
          <p:nvPr/>
        </p:nvSpPr>
        <p:spPr>
          <a:xfrm>
            <a:off x="548640" y="1645920"/>
            <a:ext cx="4023360" cy="4434840"/>
          </a:xfrm>
          <a:prstGeom prst="rect">
            <a:avLst/>
          </a:prstGeom>
          <a:solidFill>
            <a:srgbClr val="000E2F"/>
          </a:solidFill>
          <a:ln w="12700">
            <a:solidFill>
              <a:srgbClr val="000E2F"/>
            </a:solidFill>
            <a:prstDash val="solid"/>
          </a:ln>
        </p:spPr>
      </p:sp>
      <p:sp>
        <p:nvSpPr>
          <p:cNvPr id="7" name="Text 5"/>
          <p:cNvSpPr txBox="1"/>
          <p:nvPr/>
        </p:nvSpPr>
        <p:spPr>
          <a:xfrm>
            <a:off x="914400" y="1920240"/>
            <a:ext cx="3474720" cy="1463040"/>
          </a:xfrm>
          <a:prstGeom prst="rect">
            <a:avLst/>
          </a:prstGeom>
          <a:noFill/>
          <a:ln/>
        </p:spPr>
        <p:txBody>
          <a:bodyPr wrap="square" lIns="0" tIns="0" rIns="0" bIns="0" rtlCol="0" anchor="t"/>
          <a:lstStyle/>
          <a:p>
            <a:pPr indent="0" marL="0">
              <a:buNone/>
            </a:pPr>
            <a:r>
              <a:rPr lang="en-US" sz="9600" dirty="0">
                <a:solidFill>
                  <a:srgbClr val="FFFFFF"/>
                </a:solidFill>
                <a:latin typeface="Arial" pitchFamily="34" charset="0"/>
                <a:ea typeface="Arial" pitchFamily="34" charset="-122"/>
                <a:cs typeface="Arial" pitchFamily="34" charset="-120"/>
              </a:rPr>
              <a:t>20+</a:t>
            </a:r>
            <a:endParaRPr lang="en-US" sz="9600" dirty="0"/>
          </a:p>
        </p:txBody>
      </p:sp>
      <p:sp>
        <p:nvSpPr>
          <p:cNvPr id="8" name="Text 6"/>
          <p:cNvSpPr txBox="1"/>
          <p:nvPr/>
        </p:nvSpPr>
        <p:spPr>
          <a:xfrm>
            <a:off x="914400" y="3474720"/>
            <a:ext cx="3291840" cy="731520"/>
          </a:xfrm>
          <a:prstGeom prst="rect">
            <a:avLst/>
          </a:prstGeom>
          <a:noFill/>
          <a:ln/>
        </p:spPr>
        <p:txBody>
          <a:bodyPr wrap="square" lIns="0" tIns="0" rIns="0" bIns="0" rtlCol="0" anchor="t"/>
          <a:lstStyle/>
          <a:p>
            <a:pPr indent="0" marL="0">
              <a:buNone/>
            </a:pPr>
            <a:r>
              <a:rPr lang="en-US" sz="1700" dirty="0">
                <a:solidFill>
                  <a:srgbClr val="FFFFFF"/>
                </a:solidFill>
                <a:latin typeface="Arial" pitchFamily="34" charset="0"/>
                <a:ea typeface="Arial" pitchFamily="34" charset="-122"/>
                <a:cs typeface="Arial" pitchFamily="34" charset="-120"/>
              </a:rPr>
              <a:t>Jahre Betreuung von Kohlhammer durch incoxx</a:t>
            </a:r>
            <a:endParaRPr lang="en-US" sz="1700" dirty="0"/>
          </a:p>
        </p:txBody>
      </p:sp>
      <p:sp>
        <p:nvSpPr>
          <p:cNvPr id="9" name="Text 7"/>
          <p:cNvSpPr txBox="1"/>
          <p:nvPr/>
        </p:nvSpPr>
        <p:spPr>
          <a:xfrm>
            <a:off x="914400" y="4480560"/>
            <a:ext cx="3291840" cy="914400"/>
          </a:xfrm>
          <a:prstGeom prst="rect">
            <a:avLst/>
          </a:prstGeom>
          <a:noFill/>
          <a:ln/>
        </p:spPr>
        <p:txBody>
          <a:bodyPr wrap="square" lIns="0" tIns="0" rIns="0" bIns="0" rtlCol="0" anchor="t"/>
          <a:lstStyle/>
          <a:p>
            <a:pPr indent="0" marL="0">
              <a:buNone/>
            </a:pPr>
            <a:r>
              <a:rPr lang="en-US" sz="1300" dirty="0">
                <a:solidFill>
                  <a:srgbClr val="C6E6E3"/>
                </a:solidFill>
                <a:latin typeface="Arial" pitchFamily="34" charset="0"/>
                <a:ea typeface="Arial" pitchFamily="34" charset="-122"/>
                <a:cs typeface="Arial" pitchFamily="34" charset="-120"/>
              </a:rPr>
              <a:t>Pimcore 6 eingeführt und betrieben.</a:t>
            </a:r>
            <a:endParaRPr lang="en-US" sz="1300" dirty="0"/>
          </a:p>
          <a:p>
            <a:pPr indent="0" marL="0">
              <a:buNone/>
            </a:pPr>
            <a:r>
              <a:rPr lang="en-US" sz="1300" dirty="0">
                <a:solidFill>
                  <a:srgbClr val="C6E6E3"/>
                </a:solidFill>
                <a:latin typeface="Arial" pitchFamily="34" charset="0"/>
                <a:ea typeface="Arial" pitchFamily="34" charset="-122"/>
                <a:cs typeface="Arial" pitchFamily="34" charset="-120"/>
              </a:rPr>
              <a:t>anyPIM ist ein Produkt von incoxx.</a:t>
            </a:r>
            <a:endParaRPr lang="en-US" sz="1300" dirty="0"/>
          </a:p>
        </p:txBody>
      </p:sp>
      <p:sp>
        <p:nvSpPr>
          <p:cNvPr id="10" name="Shape 8"/>
          <p:cNvSpPr/>
          <p:nvPr/>
        </p:nvSpPr>
        <p:spPr>
          <a:xfrm>
            <a:off x="5029200" y="1755648"/>
            <a:ext cx="182880" cy="182880"/>
          </a:xfrm>
          <a:prstGeom prst="rect">
            <a:avLst/>
          </a:prstGeom>
          <a:solidFill>
            <a:srgbClr val="000E2F"/>
          </a:solidFill>
          <a:ln w="12700">
            <a:solidFill>
              <a:srgbClr val="000E2F"/>
            </a:solidFill>
            <a:prstDash val="solid"/>
          </a:ln>
        </p:spPr>
      </p:sp>
      <p:sp>
        <p:nvSpPr>
          <p:cNvPr id="11" name="Text 9"/>
          <p:cNvSpPr txBox="1"/>
          <p:nvPr/>
        </p:nvSpPr>
        <p:spPr>
          <a:xfrm>
            <a:off x="5440680" y="1691640"/>
            <a:ext cx="6202375" cy="347472"/>
          </a:xfrm>
          <a:prstGeom prst="rect">
            <a:avLst/>
          </a:prstGeom>
          <a:noFill/>
          <a:ln/>
        </p:spPr>
        <p:txBody>
          <a:bodyPr wrap="square" lIns="0" tIns="0" rIns="0" bIns="0" rtlCol="0" anchor="t"/>
          <a:lstStyle/>
          <a:p>
            <a:pPr indent="0" marL="0">
              <a:buNone/>
            </a:pPr>
            <a:r>
              <a:rPr lang="en-US" sz="1700" b="1" dirty="0">
                <a:solidFill>
                  <a:srgbClr val="16181D"/>
                </a:solidFill>
                <a:latin typeface="Arial" pitchFamily="34" charset="0"/>
                <a:ea typeface="Arial" pitchFamily="34" charset="-122"/>
                <a:cs typeface="Arial" pitchFamily="34" charset="-120"/>
              </a:rPr>
              <a:t>Wir kennen den Bestand</a:t>
            </a:r>
            <a:endParaRPr lang="en-US" sz="1700" dirty="0"/>
          </a:p>
        </p:txBody>
      </p:sp>
      <p:sp>
        <p:nvSpPr>
          <p:cNvPr id="12" name="Text 10"/>
          <p:cNvSpPr txBox="1"/>
          <p:nvPr/>
        </p:nvSpPr>
        <p:spPr>
          <a:xfrm>
            <a:off x="5440680" y="2075688"/>
            <a:ext cx="6202375" cy="1005840"/>
          </a:xfrm>
          <a:prstGeom prst="rect">
            <a:avLst/>
          </a:prstGeom>
          <a:noFill/>
          <a:ln/>
        </p:spPr>
        <p:txBody>
          <a:bodyPr wrap="square" lIns="0" tIns="0" rIns="0" bIns="0" rtlCol="0" anchor="t"/>
          <a:lstStyle/>
          <a:p>
            <a:pPr indent="0" marL="0">
              <a:lnSpc>
                <a:spcPct val="110000"/>
              </a:lnSpc>
              <a:buNone/>
            </a:pPr>
            <a:r>
              <a:rPr lang="en-US" sz="1300" dirty="0">
                <a:solidFill>
                  <a:srgbClr val="4B5563"/>
                </a:solidFill>
                <a:latin typeface="Arial" pitchFamily="34" charset="0"/>
                <a:ea typeface="Arial" pitchFamily="34" charset="-122"/>
                <a:cs typeface="Arial" pitchFamily="34" charset="-120"/>
              </a:rPr>
              <a:t>Klassen, Objekte, Eigenentwicklungen und Schnittstellen der Pimcore-6-Installation sind bei uns dokumentiert. Das senkt das Migrationsrisiko – bei anyPIM besonders, weil das Daten-Mapping nicht erst erarbeitet werden muss.</a:t>
            </a:r>
            <a:endParaRPr lang="en-US" sz="1300" dirty="0"/>
          </a:p>
        </p:txBody>
      </p:sp>
      <p:sp>
        <p:nvSpPr>
          <p:cNvPr id="13" name="Shape 11"/>
          <p:cNvSpPr/>
          <p:nvPr/>
        </p:nvSpPr>
        <p:spPr>
          <a:xfrm>
            <a:off x="5029200" y="3236976"/>
            <a:ext cx="182880" cy="182880"/>
          </a:xfrm>
          <a:prstGeom prst="rect">
            <a:avLst/>
          </a:prstGeom>
          <a:solidFill>
            <a:srgbClr val="000E2F"/>
          </a:solidFill>
          <a:ln w="12700">
            <a:solidFill>
              <a:srgbClr val="000E2F"/>
            </a:solidFill>
            <a:prstDash val="solid"/>
          </a:ln>
        </p:spPr>
      </p:sp>
      <p:sp>
        <p:nvSpPr>
          <p:cNvPr id="14" name="Text 12"/>
          <p:cNvSpPr txBox="1"/>
          <p:nvPr/>
        </p:nvSpPr>
        <p:spPr>
          <a:xfrm>
            <a:off x="5440680" y="3172968"/>
            <a:ext cx="6202375" cy="347472"/>
          </a:xfrm>
          <a:prstGeom prst="rect">
            <a:avLst/>
          </a:prstGeom>
          <a:noFill/>
          <a:ln/>
        </p:spPr>
        <p:txBody>
          <a:bodyPr wrap="square" lIns="0" tIns="0" rIns="0" bIns="0" rtlCol="0" anchor="t"/>
          <a:lstStyle/>
          <a:p>
            <a:pPr indent="0" marL="0">
              <a:buNone/>
            </a:pPr>
            <a:r>
              <a:rPr lang="en-US" sz="1700" b="1" dirty="0">
                <a:solidFill>
                  <a:srgbClr val="16181D"/>
                </a:solidFill>
                <a:latin typeface="Arial" pitchFamily="34" charset="0"/>
                <a:ea typeface="Arial" pitchFamily="34" charset="-122"/>
                <a:cs typeface="Arial" pitchFamily="34" charset="-120"/>
              </a:rPr>
              <a:t>Wir empfehlen anyPIM</a:t>
            </a:r>
            <a:endParaRPr lang="en-US" sz="1700" dirty="0"/>
          </a:p>
        </p:txBody>
      </p:sp>
      <p:sp>
        <p:nvSpPr>
          <p:cNvPr id="15" name="Text 13"/>
          <p:cNvSpPr txBox="1"/>
          <p:nvPr/>
        </p:nvSpPr>
        <p:spPr>
          <a:xfrm>
            <a:off x="5440680" y="3557016"/>
            <a:ext cx="6202375" cy="1005840"/>
          </a:xfrm>
          <a:prstGeom prst="rect">
            <a:avLst/>
          </a:prstGeom>
          <a:noFill/>
          <a:ln/>
        </p:spPr>
        <p:txBody>
          <a:bodyPr wrap="square" lIns="0" tIns="0" rIns="0" bIns="0" rtlCol="0" anchor="t"/>
          <a:lstStyle/>
          <a:p>
            <a:pPr indent="0" marL="0">
              <a:lnSpc>
                <a:spcPct val="110000"/>
              </a:lnSpc>
              <a:buNone/>
            </a:pPr>
            <a:r>
              <a:rPr lang="en-US" sz="1300" dirty="0">
                <a:solidFill>
                  <a:srgbClr val="4B5563"/>
                </a:solidFill>
                <a:latin typeface="Arial" pitchFamily="34" charset="0"/>
                <a:ea typeface="Arial" pitchFamily="34" charset="-122"/>
                <a:cs typeface="Arial" pitchFamily="34" charset="-120"/>
              </a:rPr>
              <a:t>Weil das Upgrade einem Neuprojekt gleichkommt, danach dauerhaft Update- und Betriebsaufwand bindet und Lizenzkosten auch für wenig genutzte Erweiterungen auslöst. Was heute Eigenentwicklung ist, bauen wir in anyPIM als Standard.</a:t>
            </a:r>
            <a:endParaRPr lang="en-US" sz="1300" dirty="0"/>
          </a:p>
        </p:txBody>
      </p:sp>
      <p:sp>
        <p:nvSpPr>
          <p:cNvPr id="16" name="Shape 14"/>
          <p:cNvSpPr/>
          <p:nvPr/>
        </p:nvSpPr>
        <p:spPr>
          <a:xfrm>
            <a:off x="5029200" y="4718304"/>
            <a:ext cx="182880" cy="182880"/>
          </a:xfrm>
          <a:prstGeom prst="rect">
            <a:avLst/>
          </a:prstGeom>
          <a:solidFill>
            <a:srgbClr val="000E2F"/>
          </a:solidFill>
          <a:ln w="12700">
            <a:solidFill>
              <a:srgbClr val="000E2F"/>
            </a:solidFill>
            <a:prstDash val="solid"/>
          </a:ln>
        </p:spPr>
      </p:sp>
      <p:sp>
        <p:nvSpPr>
          <p:cNvPr id="17" name="Text 15"/>
          <p:cNvSpPr txBox="1"/>
          <p:nvPr/>
        </p:nvSpPr>
        <p:spPr>
          <a:xfrm>
            <a:off x="5440680" y="4654296"/>
            <a:ext cx="6202375" cy="347472"/>
          </a:xfrm>
          <a:prstGeom prst="rect">
            <a:avLst/>
          </a:prstGeom>
          <a:noFill/>
          <a:ln/>
        </p:spPr>
        <p:txBody>
          <a:bodyPr wrap="square" lIns="0" tIns="0" rIns="0" bIns="0" rtlCol="0" anchor="t"/>
          <a:lstStyle/>
          <a:p>
            <a:pPr indent="0" marL="0">
              <a:buNone/>
            </a:pPr>
            <a:r>
              <a:rPr lang="en-US" sz="1700" b="1" dirty="0">
                <a:solidFill>
                  <a:srgbClr val="16181D"/>
                </a:solidFill>
                <a:latin typeface="Arial" pitchFamily="34" charset="0"/>
                <a:ea typeface="Arial" pitchFamily="34" charset="-122"/>
                <a:cs typeface="Arial" pitchFamily="34" charset="-120"/>
              </a:rPr>
              <a:t>Wir bleiben Ansprechpartner</a:t>
            </a:r>
            <a:endParaRPr lang="en-US" sz="1700" dirty="0"/>
          </a:p>
        </p:txBody>
      </p:sp>
      <p:sp>
        <p:nvSpPr>
          <p:cNvPr id="18" name="Text 16"/>
          <p:cNvSpPr txBox="1"/>
          <p:nvPr/>
        </p:nvSpPr>
        <p:spPr>
          <a:xfrm>
            <a:off x="5440680" y="5038344"/>
            <a:ext cx="6202375" cy="1005840"/>
          </a:xfrm>
          <a:prstGeom prst="rect">
            <a:avLst/>
          </a:prstGeom>
          <a:noFill/>
          <a:ln/>
        </p:spPr>
        <p:txBody>
          <a:bodyPr wrap="square" lIns="0" tIns="0" rIns="0" bIns="0" rtlCol="0" anchor="t"/>
          <a:lstStyle/>
          <a:p>
            <a:pPr indent="0" marL="0">
              <a:lnSpc>
                <a:spcPct val="110000"/>
              </a:lnSpc>
              <a:buNone/>
            </a:pPr>
            <a:r>
              <a:rPr lang="en-US" sz="1300" dirty="0">
                <a:solidFill>
                  <a:srgbClr val="4B5563"/>
                </a:solidFill>
                <a:latin typeface="Arial" pitchFamily="34" charset="0"/>
                <a:ea typeface="Arial" pitchFamily="34" charset="-122"/>
                <a:cs typeface="Arial" pitchFamily="34" charset="-120"/>
              </a:rPr>
              <a:t>Gleicher Partner, gleiche Ansprechpersonen – mit direktem Einfluss auf die Weiterentwicklung des Produkts, etwa beim ONIX-Export.</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594360"/>
          </a:xfrm>
          <a:prstGeom prst="rect">
            <a:avLst/>
          </a:prstGeom>
          <a:noFill/>
          <a:ln/>
        </p:spPr>
        <p:txBody>
          <a:bodyPr wrap="square" lIns="0" tIns="0" rIns="0" bIns="0" rtlCol="0" anchor="b"/>
          <a:lstStyle/>
          <a:p>
            <a:pPr indent="0" marL="0">
              <a:buNone/>
            </a:pPr>
            <a:r>
              <a:rPr lang="en-US" sz="3000" dirty="0">
                <a:solidFill>
                  <a:srgbClr val="16181D"/>
                </a:solidFill>
                <a:latin typeface="Arial" pitchFamily="34" charset="0"/>
                <a:ea typeface="Arial" pitchFamily="34" charset="-122"/>
                <a:cs typeface="Arial" pitchFamily="34" charset="-120"/>
              </a:rPr>
              <a:t>BEI ANYPIM GESTALTET KOHLHAMMER MIT</a:t>
            </a:r>
            <a:endParaRPr lang="en-US" sz="3000" dirty="0"/>
          </a:p>
        </p:txBody>
      </p:sp>
      <p:sp>
        <p:nvSpPr>
          <p:cNvPr id="3" name="Text 1"/>
          <p:cNvSpPr txBox="1"/>
          <p:nvPr/>
        </p:nvSpPr>
        <p:spPr>
          <a:xfrm>
            <a:off x="548640" y="1033272"/>
            <a:ext cx="11094415" cy="365760"/>
          </a:xfrm>
          <a:prstGeom prst="rect">
            <a:avLst/>
          </a:prstGeom>
          <a:noFill/>
          <a:ln/>
        </p:spPr>
        <p:txBody>
          <a:bodyPr wrap="square" lIns="0" tIns="0" rIns="0" bIns="0" rtlCol="0" anchor="t"/>
          <a:lstStyle/>
          <a:p>
            <a:pPr indent="0" marL="0">
              <a:buNone/>
            </a:pPr>
            <a:r>
              <a:rPr lang="en-US" sz="1400" dirty="0">
                <a:solidFill>
                  <a:srgbClr val="4B5563"/>
                </a:solidFill>
                <a:latin typeface="Arial" pitchFamily="34" charset="0"/>
                <a:ea typeface="Arial" pitchFamily="34" charset="-122"/>
                <a:cs typeface="Arial" pitchFamily="34" charset="-120"/>
              </a:rPr>
              <a:t>Offen, KI-ready, erweiterbar und dokumentiert – und die Roadmap entsteht mit den Kunden.</a:t>
            </a:r>
            <a:endParaRPr lang="en-US" sz="1400" dirty="0"/>
          </a:p>
        </p:txBody>
      </p:sp>
      <p:sp>
        <p:nvSpPr>
          <p:cNvPr id="4" name="Text 2"/>
          <p:cNvSpPr txBox="1"/>
          <p:nvPr/>
        </p:nvSpPr>
        <p:spPr>
          <a:xfrm>
            <a:off x="548640" y="6400800"/>
            <a:ext cx="7315200" cy="228600"/>
          </a:xfrm>
          <a:prstGeom prst="rect">
            <a:avLst/>
          </a:prstGeom>
          <a:noFill/>
          <a:ln/>
        </p:spPr>
        <p:txBody>
          <a:bodyPr wrap="square" lIns="0" tIns="0" rIns="0" bIns="0" rtlCol="0" anchor="t"/>
          <a:lstStyle/>
          <a:p>
            <a:pPr indent="0" marL="0">
              <a:buNone/>
            </a:pPr>
            <a:r>
              <a:rPr lang="en-US" sz="900" dirty="0">
                <a:solidFill>
                  <a:srgbClr val="4B5563"/>
                </a:solidFill>
                <a:latin typeface="Arial" pitchFamily="34" charset="0"/>
                <a:ea typeface="Arial" pitchFamily="34" charset="-122"/>
                <a:cs typeface="Arial" pitchFamily="34" charset="-120"/>
              </a:rPr>
              <a:t>anyPIM für Kohlhammer  ·  Entscheidungsvorlage  ·  September 2026</a:t>
            </a:r>
            <a:endParaRPr lang="en-US" sz="900" dirty="0"/>
          </a:p>
        </p:txBody>
      </p:sp>
      <p:sp>
        <p:nvSpPr>
          <p:cNvPr id="5" name="Text 3"/>
          <p:cNvSpPr txBox="1"/>
          <p:nvPr/>
        </p:nvSpPr>
        <p:spPr>
          <a:xfrm>
            <a:off x="10728655" y="6400800"/>
            <a:ext cx="914400" cy="228600"/>
          </a:xfrm>
          <a:prstGeom prst="rect">
            <a:avLst/>
          </a:prstGeom>
          <a:noFill/>
          <a:ln/>
        </p:spPr>
        <p:txBody>
          <a:bodyPr wrap="square" lIns="0" tIns="0" rIns="0" bIns="0" rtlCol="0" anchor="t"/>
          <a:lstStyle/>
          <a:p>
            <a:pPr algn="r" indent="0" marL="0">
              <a:buNone/>
            </a:pPr>
            <a:r>
              <a:rPr lang="en-US" sz="900" dirty="0">
                <a:solidFill>
                  <a:srgbClr val="4B5563"/>
                </a:solidFill>
                <a:latin typeface="Arial" pitchFamily="34" charset="0"/>
                <a:ea typeface="Arial" pitchFamily="34" charset="-122"/>
                <a:cs typeface="Arial" pitchFamily="34" charset="-120"/>
              </a:rPr>
              <a:t>14</a:t>
            </a:r>
            <a:endParaRPr lang="en-US" sz="900" dirty="0"/>
          </a:p>
        </p:txBody>
      </p:sp>
      <p:sp>
        <p:nvSpPr>
          <p:cNvPr id="6" name="Shape 4"/>
          <p:cNvSpPr/>
          <p:nvPr/>
        </p:nvSpPr>
        <p:spPr>
          <a:xfrm>
            <a:off x="548640" y="1645920"/>
            <a:ext cx="2567864" cy="566928"/>
          </a:xfrm>
          <a:prstGeom prst="rect">
            <a:avLst/>
          </a:prstGeom>
          <a:solidFill>
            <a:srgbClr val="000E2F"/>
          </a:solidFill>
          <a:ln w="12700">
            <a:solidFill>
              <a:srgbClr val="000E2F"/>
            </a:solidFill>
            <a:prstDash val="solid"/>
          </a:ln>
        </p:spPr>
      </p:sp>
      <p:sp>
        <p:nvSpPr>
          <p:cNvPr id="7" name="Text 5"/>
          <p:cNvSpPr txBox="1"/>
          <p:nvPr/>
        </p:nvSpPr>
        <p:spPr>
          <a:xfrm>
            <a:off x="731520" y="1645920"/>
            <a:ext cx="1882064" cy="566928"/>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Open Source</a:t>
            </a:r>
            <a:endParaRPr lang="en-US" sz="1500" dirty="0"/>
          </a:p>
        </p:txBody>
      </p:sp>
      <p:sp>
        <p:nvSpPr>
          <p:cNvPr id="8" name="Text 6"/>
          <p:cNvSpPr txBox="1"/>
          <p:nvPr/>
        </p:nvSpPr>
        <p:spPr>
          <a:xfrm>
            <a:off x="2613584" y="1645920"/>
            <a:ext cx="365760" cy="566928"/>
          </a:xfrm>
          <a:prstGeom prst="rect">
            <a:avLst/>
          </a:prstGeom>
          <a:noFill/>
          <a:ln/>
        </p:spPr>
        <p:txBody>
          <a:bodyPr wrap="square" lIns="0" tIns="0" rIns="0" bIns="0" rtlCol="0" anchor="ctr"/>
          <a:lstStyle/>
          <a:p>
            <a:pPr algn="r" indent="0" marL="0">
              <a:buNone/>
            </a:pPr>
            <a:r>
              <a:rPr lang="en-US" sz="1800" dirty="0">
                <a:solidFill>
                  <a:srgbClr val="FFFFFF"/>
                </a:solidFill>
                <a:latin typeface="Arial" pitchFamily="34" charset="0"/>
                <a:ea typeface="Arial" pitchFamily="34" charset="-122"/>
                <a:cs typeface="Arial" pitchFamily="34" charset="-120"/>
              </a:rPr>
              <a:t>→</a:t>
            </a:r>
            <a:endParaRPr lang="en-US" sz="1800" dirty="0"/>
          </a:p>
        </p:txBody>
      </p:sp>
      <p:sp>
        <p:nvSpPr>
          <p:cNvPr id="9" name="Text 7"/>
          <p:cNvSpPr txBox="1"/>
          <p:nvPr/>
        </p:nvSpPr>
        <p:spPr>
          <a:xfrm>
            <a:off x="548640" y="2377440"/>
            <a:ext cx="2567864" cy="1828800"/>
          </a:xfrm>
          <a:prstGeom prst="rect">
            <a:avLst/>
          </a:prstGeom>
          <a:noFill/>
          <a:ln/>
        </p:spPr>
        <p:txBody>
          <a:bodyPr wrap="square" lIns="0" tIns="0" rIns="0" bIns="0" rtlCol="0" anchor="t"/>
          <a:lstStyle/>
          <a:p>
            <a:pPr indent="0" marL="0">
              <a:lnSpc>
                <a:spcPct val="112000"/>
              </a:lnSpc>
              <a:buNone/>
            </a:pPr>
            <a:r>
              <a:rPr lang="en-US" sz="1300" dirty="0">
                <a:solidFill>
                  <a:srgbClr val="16181D"/>
                </a:solidFill>
                <a:latin typeface="Arial" pitchFamily="34" charset="0"/>
                <a:ea typeface="Arial" pitchFamily="34" charset="-122"/>
                <a:cs typeface="Arial" pitchFamily="34" charset="-120"/>
              </a:rPr>
              <a:t>GPL-Kern, Quellcode vollständig einsehbar. Keine Blackbox, kein Lock-in – Kohlhammer kann jederzeit nachvollziehen, was das System tut.</a:t>
            </a:r>
            <a:endParaRPr lang="en-US" sz="1300" dirty="0"/>
          </a:p>
        </p:txBody>
      </p:sp>
      <p:sp>
        <p:nvSpPr>
          <p:cNvPr id="10" name="Shape 8"/>
          <p:cNvSpPr/>
          <p:nvPr/>
        </p:nvSpPr>
        <p:spPr>
          <a:xfrm>
            <a:off x="3390824" y="1645920"/>
            <a:ext cx="2567864" cy="566928"/>
          </a:xfrm>
          <a:prstGeom prst="rect">
            <a:avLst/>
          </a:prstGeom>
          <a:solidFill>
            <a:srgbClr val="000E2F"/>
          </a:solidFill>
          <a:ln w="12700">
            <a:solidFill>
              <a:srgbClr val="000E2F"/>
            </a:solidFill>
            <a:prstDash val="solid"/>
          </a:ln>
        </p:spPr>
      </p:sp>
      <p:sp>
        <p:nvSpPr>
          <p:cNvPr id="11" name="Text 9"/>
          <p:cNvSpPr txBox="1"/>
          <p:nvPr/>
        </p:nvSpPr>
        <p:spPr>
          <a:xfrm>
            <a:off x="3573704" y="1645920"/>
            <a:ext cx="1882064" cy="566928"/>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KI-ready</a:t>
            </a:r>
            <a:endParaRPr lang="en-US" sz="1500" dirty="0"/>
          </a:p>
        </p:txBody>
      </p:sp>
      <p:sp>
        <p:nvSpPr>
          <p:cNvPr id="12" name="Text 10"/>
          <p:cNvSpPr txBox="1"/>
          <p:nvPr/>
        </p:nvSpPr>
        <p:spPr>
          <a:xfrm>
            <a:off x="5455768" y="1645920"/>
            <a:ext cx="365760" cy="566928"/>
          </a:xfrm>
          <a:prstGeom prst="rect">
            <a:avLst/>
          </a:prstGeom>
          <a:noFill/>
          <a:ln/>
        </p:spPr>
        <p:txBody>
          <a:bodyPr wrap="square" lIns="0" tIns="0" rIns="0" bIns="0" rtlCol="0" anchor="ctr"/>
          <a:lstStyle/>
          <a:p>
            <a:pPr algn="r" indent="0" marL="0">
              <a:buNone/>
            </a:pPr>
            <a:r>
              <a:rPr lang="en-US" sz="1800" dirty="0">
                <a:solidFill>
                  <a:srgbClr val="FFFFFF"/>
                </a:solidFill>
                <a:latin typeface="Arial" pitchFamily="34" charset="0"/>
                <a:ea typeface="Arial" pitchFamily="34" charset="-122"/>
                <a:cs typeface="Arial" pitchFamily="34" charset="-120"/>
              </a:rPr>
              <a:t>→</a:t>
            </a:r>
            <a:endParaRPr lang="en-US" sz="1800" dirty="0"/>
          </a:p>
        </p:txBody>
      </p:sp>
      <p:sp>
        <p:nvSpPr>
          <p:cNvPr id="13" name="Text 11"/>
          <p:cNvSpPr txBox="1"/>
          <p:nvPr/>
        </p:nvSpPr>
        <p:spPr>
          <a:xfrm>
            <a:off x="3390824" y="2377440"/>
            <a:ext cx="2567864" cy="1828800"/>
          </a:xfrm>
          <a:prstGeom prst="rect">
            <a:avLst/>
          </a:prstGeom>
          <a:noFill/>
          <a:ln/>
        </p:spPr>
        <p:txBody>
          <a:bodyPr wrap="square" lIns="0" tIns="0" rIns="0" bIns="0" rtlCol="0" anchor="t"/>
          <a:lstStyle/>
          <a:p>
            <a:pPr indent="0" marL="0">
              <a:lnSpc>
                <a:spcPct val="112000"/>
              </a:lnSpc>
              <a:buNone/>
            </a:pPr>
            <a:r>
              <a:rPr lang="en-US" sz="1300" dirty="0">
                <a:solidFill>
                  <a:srgbClr val="16181D"/>
                </a:solidFill>
                <a:latin typeface="Arial" pitchFamily="34" charset="0"/>
                <a:ea typeface="Arial" pitchFamily="34" charset="-122"/>
                <a:cs typeface="Arial" pitchFamily="34" charset="-120"/>
              </a:rPr>
              <a:t>MCP-Schnittstelle für KI-Agenten wie Claude, KI-gestützte Texterstellung, semantische Suche mit lokalen Embeddings, DeepL-Übersetzung.</a:t>
            </a:r>
            <a:endParaRPr lang="en-US" sz="1300" dirty="0"/>
          </a:p>
        </p:txBody>
      </p:sp>
      <p:sp>
        <p:nvSpPr>
          <p:cNvPr id="14" name="Shape 12"/>
          <p:cNvSpPr/>
          <p:nvPr/>
        </p:nvSpPr>
        <p:spPr>
          <a:xfrm>
            <a:off x="6233008" y="1645920"/>
            <a:ext cx="2567864" cy="566928"/>
          </a:xfrm>
          <a:prstGeom prst="rect">
            <a:avLst/>
          </a:prstGeom>
          <a:solidFill>
            <a:srgbClr val="000E2F"/>
          </a:solidFill>
          <a:ln w="12700">
            <a:solidFill>
              <a:srgbClr val="000E2F"/>
            </a:solidFill>
            <a:prstDash val="solid"/>
          </a:ln>
        </p:spPr>
      </p:sp>
      <p:sp>
        <p:nvSpPr>
          <p:cNvPr id="15" name="Text 13"/>
          <p:cNvSpPr txBox="1"/>
          <p:nvPr/>
        </p:nvSpPr>
        <p:spPr>
          <a:xfrm>
            <a:off x="6415888" y="1645920"/>
            <a:ext cx="1882064" cy="566928"/>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Erweiterbar</a:t>
            </a:r>
            <a:endParaRPr lang="en-US" sz="1500" dirty="0"/>
          </a:p>
        </p:txBody>
      </p:sp>
      <p:sp>
        <p:nvSpPr>
          <p:cNvPr id="16" name="Text 14"/>
          <p:cNvSpPr txBox="1"/>
          <p:nvPr/>
        </p:nvSpPr>
        <p:spPr>
          <a:xfrm>
            <a:off x="8297951" y="1645920"/>
            <a:ext cx="365760" cy="566928"/>
          </a:xfrm>
          <a:prstGeom prst="rect">
            <a:avLst/>
          </a:prstGeom>
          <a:noFill/>
          <a:ln/>
        </p:spPr>
        <p:txBody>
          <a:bodyPr wrap="square" lIns="0" tIns="0" rIns="0" bIns="0" rtlCol="0" anchor="ctr"/>
          <a:lstStyle/>
          <a:p>
            <a:pPr algn="r" indent="0" marL="0">
              <a:buNone/>
            </a:pPr>
            <a:r>
              <a:rPr lang="en-US" sz="1800" dirty="0">
                <a:solidFill>
                  <a:srgbClr val="FFFFFF"/>
                </a:solidFill>
                <a:latin typeface="Arial" pitchFamily="34" charset="0"/>
                <a:ea typeface="Arial" pitchFamily="34" charset="-122"/>
                <a:cs typeface="Arial" pitchFamily="34" charset="-120"/>
              </a:rPr>
              <a:t>→</a:t>
            </a:r>
            <a:endParaRPr lang="en-US" sz="1800" dirty="0"/>
          </a:p>
        </p:txBody>
      </p:sp>
      <p:sp>
        <p:nvSpPr>
          <p:cNvPr id="17" name="Text 15"/>
          <p:cNvSpPr txBox="1"/>
          <p:nvPr/>
        </p:nvSpPr>
        <p:spPr>
          <a:xfrm>
            <a:off x="6233008" y="2377440"/>
            <a:ext cx="2567864" cy="1828800"/>
          </a:xfrm>
          <a:prstGeom prst="rect">
            <a:avLst/>
          </a:prstGeom>
          <a:noFill/>
          <a:ln/>
        </p:spPr>
        <p:txBody>
          <a:bodyPr wrap="square" lIns="0" tIns="0" rIns="0" bIns="0" rtlCol="0" anchor="t"/>
          <a:lstStyle/>
          <a:p>
            <a:pPr indent="0" marL="0">
              <a:lnSpc>
                <a:spcPct val="112000"/>
              </a:lnSpc>
              <a:buNone/>
            </a:pPr>
            <a:r>
              <a:rPr lang="en-US" sz="1300" dirty="0">
                <a:solidFill>
                  <a:srgbClr val="16181D"/>
                </a:solidFill>
                <a:latin typeface="Arial" pitchFamily="34" charset="0"/>
                <a:ea typeface="Arial" pitchFamily="34" charset="-122"/>
                <a:cs typeface="Arial" pitchFamily="34" charset="-120"/>
              </a:rPr>
              <a:t>REST-API, API-Designer, Connector-Schnittstelle und feste Konventionen für neue Exportformate – etwa EasyCatalog oder ONIX.</a:t>
            </a:r>
            <a:endParaRPr lang="en-US" sz="1300" dirty="0"/>
          </a:p>
        </p:txBody>
      </p:sp>
      <p:sp>
        <p:nvSpPr>
          <p:cNvPr id="18" name="Shape 16"/>
          <p:cNvSpPr/>
          <p:nvPr/>
        </p:nvSpPr>
        <p:spPr>
          <a:xfrm>
            <a:off x="9075191" y="1645920"/>
            <a:ext cx="2567864" cy="566928"/>
          </a:xfrm>
          <a:prstGeom prst="rect">
            <a:avLst/>
          </a:prstGeom>
          <a:solidFill>
            <a:srgbClr val="000E2F"/>
          </a:solidFill>
          <a:ln w="12700">
            <a:solidFill>
              <a:srgbClr val="000E2F"/>
            </a:solidFill>
            <a:prstDash val="solid"/>
          </a:ln>
        </p:spPr>
      </p:sp>
      <p:sp>
        <p:nvSpPr>
          <p:cNvPr id="19" name="Text 17"/>
          <p:cNvSpPr txBox="1"/>
          <p:nvPr/>
        </p:nvSpPr>
        <p:spPr>
          <a:xfrm>
            <a:off x="9258071" y="1645920"/>
            <a:ext cx="1882064" cy="566928"/>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Dokumentation</a:t>
            </a:r>
            <a:endParaRPr lang="en-US" sz="1500" dirty="0"/>
          </a:p>
        </p:txBody>
      </p:sp>
      <p:sp>
        <p:nvSpPr>
          <p:cNvPr id="20" name="Text 18"/>
          <p:cNvSpPr txBox="1"/>
          <p:nvPr/>
        </p:nvSpPr>
        <p:spPr>
          <a:xfrm>
            <a:off x="11140135" y="1645920"/>
            <a:ext cx="365760" cy="566928"/>
          </a:xfrm>
          <a:prstGeom prst="rect">
            <a:avLst/>
          </a:prstGeom>
          <a:noFill/>
          <a:ln/>
        </p:spPr>
        <p:txBody>
          <a:bodyPr wrap="square" lIns="0" tIns="0" rIns="0" bIns="0" rtlCol="0" anchor="ctr"/>
          <a:lstStyle/>
          <a:p>
            <a:pPr algn="r" indent="0" marL="0">
              <a:buNone/>
            </a:pPr>
            <a:r>
              <a:rPr lang="en-US" sz="1800" dirty="0">
                <a:solidFill>
                  <a:srgbClr val="FFFFFF"/>
                </a:solidFill>
                <a:latin typeface="Arial" pitchFamily="34" charset="0"/>
                <a:ea typeface="Arial" pitchFamily="34" charset="-122"/>
                <a:cs typeface="Arial" pitchFamily="34" charset="-120"/>
              </a:rPr>
              <a:t>→</a:t>
            </a:r>
            <a:endParaRPr lang="en-US" sz="1800" dirty="0"/>
          </a:p>
        </p:txBody>
      </p:sp>
      <p:sp>
        <p:nvSpPr>
          <p:cNvPr id="21" name="Text 19"/>
          <p:cNvSpPr txBox="1"/>
          <p:nvPr/>
        </p:nvSpPr>
        <p:spPr>
          <a:xfrm>
            <a:off x="9075191" y="2377440"/>
            <a:ext cx="2567864" cy="1828800"/>
          </a:xfrm>
          <a:prstGeom prst="rect">
            <a:avLst/>
          </a:prstGeom>
          <a:noFill/>
          <a:ln/>
        </p:spPr>
        <p:txBody>
          <a:bodyPr wrap="square" lIns="0" tIns="0" rIns="0" bIns="0" rtlCol="0" anchor="t"/>
          <a:lstStyle/>
          <a:p>
            <a:pPr indent="0" marL="0">
              <a:lnSpc>
                <a:spcPct val="112000"/>
              </a:lnSpc>
              <a:buNone/>
            </a:pPr>
            <a:r>
              <a:rPr lang="en-US" sz="1300" dirty="0">
                <a:solidFill>
                  <a:srgbClr val="16181D"/>
                </a:solidFill>
                <a:latin typeface="Arial" pitchFamily="34" charset="0"/>
                <a:ea typeface="Arial" pitchFamily="34" charset="-122"/>
                <a:cs typeface="Arial" pitchFamily="34" charset="-120"/>
              </a:rPr>
              <a:t>Hilfe-Portal auf Deutsch und Englisch, 25 Architektur-Spezifikationen, API-Referenz – plus Leitfäden, nach denen auch KI-Agenten regelkonform erweitern.</a:t>
            </a:r>
            <a:endParaRPr lang="en-US" sz="1300" dirty="0"/>
          </a:p>
        </p:txBody>
      </p:sp>
      <p:sp>
        <p:nvSpPr>
          <p:cNvPr id="22" name="Shape 20"/>
          <p:cNvSpPr/>
          <p:nvPr/>
        </p:nvSpPr>
        <p:spPr>
          <a:xfrm>
            <a:off x="548640" y="4343400"/>
            <a:ext cx="11094415" cy="1783080"/>
          </a:xfrm>
          <a:prstGeom prst="rect">
            <a:avLst/>
          </a:prstGeom>
          <a:solidFill>
            <a:srgbClr val="C6E6E3"/>
          </a:solidFill>
          <a:ln w="12700">
            <a:solidFill>
              <a:srgbClr val="C6E6E3"/>
            </a:solidFill>
            <a:prstDash val="solid"/>
          </a:ln>
        </p:spPr>
      </p:sp>
      <p:sp>
        <p:nvSpPr>
          <p:cNvPr id="23" name="Text 21"/>
          <p:cNvSpPr txBox="1"/>
          <p:nvPr/>
        </p:nvSpPr>
        <p:spPr>
          <a:xfrm>
            <a:off x="868680" y="4572000"/>
            <a:ext cx="3108960" cy="457200"/>
          </a:xfrm>
          <a:prstGeom prst="rect">
            <a:avLst/>
          </a:prstGeom>
          <a:noFill/>
          <a:ln/>
        </p:spPr>
        <p:txBody>
          <a:bodyPr wrap="square" lIns="0" tIns="0" rIns="0" bIns="0" rtlCol="0" anchor="t"/>
          <a:lstStyle/>
          <a:p>
            <a:pPr indent="0" marL="0">
              <a:buNone/>
            </a:pPr>
            <a:r>
              <a:rPr lang="en-US" sz="2000" b="1" dirty="0">
                <a:solidFill>
                  <a:srgbClr val="000E2F"/>
                </a:solidFill>
                <a:latin typeface="Arial" pitchFamily="34" charset="0"/>
                <a:ea typeface="Arial" pitchFamily="34" charset="-122"/>
                <a:cs typeface="Arial" pitchFamily="34" charset="-120"/>
              </a:rPr>
              <a:t>Mitgestalten heißt:</a:t>
            </a:r>
            <a:endParaRPr lang="en-US" sz="2000" dirty="0"/>
          </a:p>
        </p:txBody>
      </p:sp>
      <p:sp>
        <p:nvSpPr>
          <p:cNvPr id="24" name="Text 22"/>
          <p:cNvSpPr txBox="1"/>
          <p:nvPr/>
        </p:nvSpPr>
        <p:spPr>
          <a:xfrm>
            <a:off x="4114800" y="4572000"/>
            <a:ext cx="7208215" cy="1371600"/>
          </a:xfrm>
          <a:prstGeom prst="rect">
            <a:avLst/>
          </a:prstGeom>
          <a:noFill/>
          <a:ln/>
        </p:spPr>
        <p:txBody>
          <a:bodyPr wrap="square" lIns="0" tIns="0" rIns="0" bIns="0" rtlCol="0" anchor="t"/>
          <a:lstStyle/>
          <a:p>
            <a:pPr marL="342900" indent="-342900">
              <a:lnSpc>
                <a:spcPct val="110000"/>
              </a:lnSpc>
              <a:spcAft>
                <a:spcPts val="600"/>
              </a:spcAft>
              <a:buSzPct val="100000"/>
              <a:buChar char="•"/>
            </a:pPr>
            <a:r>
              <a:rPr lang="en-US" sz="1400" dirty="0">
                <a:solidFill>
                  <a:srgbClr val="16181D"/>
                </a:solidFill>
                <a:latin typeface="Arial" pitchFamily="34" charset="0"/>
                <a:ea typeface="Arial" pitchFamily="34" charset="-122"/>
                <a:cs typeface="Arial" pitchFamily="34" charset="-120"/>
              </a:rPr>
              <a:t>Anforderungen aus der Kohlhammer-Funktionsliste fließen direkt in die Produkt-Roadmap.</a:t>
            </a:r>
            <a:endParaRPr lang="en-US" sz="1400" dirty="0"/>
          </a:p>
          <a:p>
            <a:pPr marL="342900" indent="-342900">
              <a:lnSpc>
                <a:spcPct val="110000"/>
              </a:lnSpc>
              <a:spcAft>
                <a:spcPts val="600"/>
              </a:spcAft>
              <a:buSzPct val="100000"/>
              <a:buChar char="•"/>
            </a:pPr>
            <a:r>
              <a:rPr lang="en-US" sz="1400" dirty="0">
                <a:solidFill>
                  <a:srgbClr val="16181D"/>
                </a:solidFill>
                <a:latin typeface="Arial" pitchFamily="34" charset="0"/>
                <a:ea typeface="Arial" pitchFamily="34" charset="-122"/>
                <a:cs typeface="Arial" pitchFamily="34" charset="-120"/>
              </a:rPr>
              <a:t>Was für Kohlhammer gebaut wird, wird Standard – und kommt mit jedem Update mit.</a:t>
            </a:r>
            <a:endParaRPr lang="en-US" sz="1400" dirty="0"/>
          </a:p>
          <a:p>
            <a:pPr marL="342900" indent="-342900">
              <a:lnSpc>
                <a:spcPct val="110000"/>
              </a:lnSpc>
              <a:spcAft>
                <a:spcPts val="600"/>
              </a:spcAft>
              <a:buSzPct val="100000"/>
              <a:buChar char="•"/>
            </a:pPr>
            <a:r>
              <a:rPr lang="en-US" sz="1400" dirty="0">
                <a:solidFill>
                  <a:srgbClr val="16181D"/>
                </a:solidFill>
                <a:latin typeface="Arial" pitchFamily="34" charset="0"/>
                <a:ea typeface="Arial" pitchFamily="34" charset="-122"/>
                <a:cs typeface="Arial" pitchFamily="34" charset="-120"/>
              </a:rPr>
              <a:t>Kurzer Weg zum Hersteller, gemeinsame Priorisierung, transparente Umsetzung im offenen Code.</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594360"/>
          </a:xfrm>
          <a:prstGeom prst="rect">
            <a:avLst/>
          </a:prstGeom>
          <a:noFill/>
          <a:ln/>
        </p:spPr>
        <p:txBody>
          <a:bodyPr wrap="square" lIns="0" tIns="0" rIns="0" bIns="0" rtlCol="0" anchor="b"/>
          <a:lstStyle/>
          <a:p>
            <a:pPr indent="0" marL="0">
              <a:buNone/>
            </a:pPr>
            <a:r>
              <a:rPr lang="en-US" sz="3000" dirty="0">
                <a:solidFill>
                  <a:srgbClr val="16181D"/>
                </a:solidFill>
                <a:latin typeface="Arial" pitchFamily="34" charset="0"/>
                <a:ea typeface="Arial" pitchFamily="34" charset="-122"/>
                <a:cs typeface="Arial" pitchFamily="34" charset="-120"/>
              </a:rPr>
              <a:t>WIR ENTWICKELN MIT KI</a:t>
            </a:r>
            <a:endParaRPr lang="en-US" sz="3000" dirty="0"/>
          </a:p>
        </p:txBody>
      </p:sp>
      <p:sp>
        <p:nvSpPr>
          <p:cNvPr id="3" name="Text 1"/>
          <p:cNvSpPr txBox="1"/>
          <p:nvPr/>
        </p:nvSpPr>
        <p:spPr>
          <a:xfrm>
            <a:off x="548640" y="1033272"/>
            <a:ext cx="11094415" cy="365760"/>
          </a:xfrm>
          <a:prstGeom prst="rect">
            <a:avLst/>
          </a:prstGeom>
          <a:noFill/>
          <a:ln/>
        </p:spPr>
        <p:txBody>
          <a:bodyPr wrap="square" lIns="0" tIns="0" rIns="0" bIns="0" rtlCol="0" anchor="t"/>
          <a:lstStyle/>
          <a:p>
            <a:pPr indent="0" marL="0">
              <a:buNone/>
            </a:pPr>
            <a:r>
              <a:rPr lang="en-US" sz="1400" dirty="0">
                <a:solidFill>
                  <a:srgbClr val="4B5563"/>
                </a:solidFill>
                <a:latin typeface="Arial" pitchFamily="34" charset="0"/>
                <a:ea typeface="Arial" pitchFamily="34" charset="-122"/>
                <a:cs typeface="Arial" pitchFamily="34" charset="-120"/>
              </a:rPr>
              <a:t>Kohlhammer muss den Code nicht kennen – wir befähigen das Team, mitzureden, mitzuprüfen und nachzuvollziehen.</a:t>
            </a:r>
            <a:endParaRPr lang="en-US" sz="1400" dirty="0"/>
          </a:p>
        </p:txBody>
      </p:sp>
      <p:sp>
        <p:nvSpPr>
          <p:cNvPr id="4" name="Text 2"/>
          <p:cNvSpPr txBox="1"/>
          <p:nvPr/>
        </p:nvSpPr>
        <p:spPr>
          <a:xfrm>
            <a:off x="548640" y="6400800"/>
            <a:ext cx="7315200" cy="228600"/>
          </a:xfrm>
          <a:prstGeom prst="rect">
            <a:avLst/>
          </a:prstGeom>
          <a:noFill/>
          <a:ln/>
        </p:spPr>
        <p:txBody>
          <a:bodyPr wrap="square" lIns="0" tIns="0" rIns="0" bIns="0" rtlCol="0" anchor="t"/>
          <a:lstStyle/>
          <a:p>
            <a:pPr indent="0" marL="0">
              <a:buNone/>
            </a:pPr>
            <a:r>
              <a:rPr lang="en-US" sz="900" dirty="0">
                <a:solidFill>
                  <a:srgbClr val="4B5563"/>
                </a:solidFill>
                <a:latin typeface="Arial" pitchFamily="34" charset="0"/>
                <a:ea typeface="Arial" pitchFamily="34" charset="-122"/>
                <a:cs typeface="Arial" pitchFamily="34" charset="-120"/>
              </a:rPr>
              <a:t>anyPIM für Kohlhammer  ·  Entscheidungsvorlage  ·  September 2026</a:t>
            </a:r>
            <a:endParaRPr lang="en-US" sz="900" dirty="0"/>
          </a:p>
        </p:txBody>
      </p:sp>
      <p:sp>
        <p:nvSpPr>
          <p:cNvPr id="5" name="Text 3"/>
          <p:cNvSpPr txBox="1"/>
          <p:nvPr/>
        </p:nvSpPr>
        <p:spPr>
          <a:xfrm>
            <a:off x="10728655" y="6400800"/>
            <a:ext cx="914400" cy="228600"/>
          </a:xfrm>
          <a:prstGeom prst="rect">
            <a:avLst/>
          </a:prstGeom>
          <a:noFill/>
          <a:ln/>
        </p:spPr>
        <p:txBody>
          <a:bodyPr wrap="square" lIns="0" tIns="0" rIns="0" bIns="0" rtlCol="0" anchor="t"/>
          <a:lstStyle/>
          <a:p>
            <a:pPr algn="r" indent="0" marL="0">
              <a:buNone/>
            </a:pPr>
            <a:r>
              <a:rPr lang="en-US" sz="900" dirty="0">
                <a:solidFill>
                  <a:srgbClr val="4B5563"/>
                </a:solidFill>
                <a:latin typeface="Arial" pitchFamily="34" charset="0"/>
                <a:ea typeface="Arial" pitchFamily="34" charset="-122"/>
                <a:cs typeface="Arial" pitchFamily="34" charset="-120"/>
              </a:rPr>
              <a:t>15</a:t>
            </a:r>
            <a:endParaRPr lang="en-US" sz="900" dirty="0"/>
          </a:p>
        </p:txBody>
      </p:sp>
      <p:sp>
        <p:nvSpPr>
          <p:cNvPr id="6" name="Shape 4"/>
          <p:cNvSpPr/>
          <p:nvPr/>
        </p:nvSpPr>
        <p:spPr>
          <a:xfrm>
            <a:off x="548640" y="1645920"/>
            <a:ext cx="777240" cy="777240"/>
          </a:xfrm>
          <a:prstGeom prst="ellipse">
            <a:avLst/>
          </a:prstGeom>
          <a:solidFill>
            <a:srgbClr val="FFFFFF"/>
          </a:solidFill>
          <a:ln w="25400">
            <a:solidFill>
              <a:srgbClr val="1B2D5C"/>
            </a:solidFill>
            <a:prstDash val="solid"/>
          </a:ln>
        </p:spPr>
      </p:sp>
      <p:sp>
        <p:nvSpPr>
          <p:cNvPr id="7" name="Text 5"/>
          <p:cNvSpPr txBox="1"/>
          <p:nvPr/>
        </p:nvSpPr>
        <p:spPr>
          <a:xfrm>
            <a:off x="548640" y="1645920"/>
            <a:ext cx="777240" cy="777240"/>
          </a:xfrm>
          <a:prstGeom prst="rect">
            <a:avLst/>
          </a:prstGeom>
          <a:noFill/>
          <a:ln/>
        </p:spPr>
        <p:txBody>
          <a:bodyPr wrap="square" lIns="0" tIns="0" rIns="0" bIns="0" rtlCol="0" anchor="ctr"/>
          <a:lstStyle/>
          <a:p>
            <a:pPr algn="ctr" indent="0" marL="0">
              <a:buNone/>
            </a:pPr>
            <a:r>
              <a:rPr lang="en-US" sz="2600" dirty="0">
                <a:solidFill>
                  <a:srgbClr val="1B2D5C"/>
                </a:solidFill>
                <a:latin typeface="Arial" pitchFamily="34" charset="0"/>
                <a:ea typeface="Arial" pitchFamily="34" charset="-122"/>
                <a:cs typeface="Arial" pitchFamily="34" charset="-120"/>
              </a:rPr>
              <a:t>1</a:t>
            </a:r>
            <a:endParaRPr lang="en-US" sz="2600" dirty="0"/>
          </a:p>
        </p:txBody>
      </p:sp>
      <p:sp>
        <p:nvSpPr>
          <p:cNvPr id="8" name="Text 6"/>
          <p:cNvSpPr txBox="1"/>
          <p:nvPr/>
        </p:nvSpPr>
        <p:spPr>
          <a:xfrm>
            <a:off x="1417320" y="1645920"/>
            <a:ext cx="1699184" cy="777240"/>
          </a:xfrm>
          <a:prstGeom prst="rect">
            <a:avLst/>
          </a:prstGeom>
          <a:noFill/>
          <a:ln/>
        </p:spPr>
        <p:txBody>
          <a:bodyPr wrap="square" lIns="0" tIns="0" rIns="0" bIns="0" rtlCol="0" anchor="ctr"/>
          <a:lstStyle/>
          <a:p>
            <a:pPr algn="ctr" indent="0" marL="0">
              <a:buNone/>
            </a:pPr>
            <a:r>
              <a:rPr lang="en-US" sz="2400" dirty="0">
                <a:solidFill>
                  <a:srgbClr val="1B2D5C"/>
                </a:solidFill>
                <a:latin typeface="Arial" pitchFamily="34" charset="0"/>
                <a:ea typeface="Arial" pitchFamily="34" charset="-122"/>
                <a:cs typeface="Arial" pitchFamily="34" charset="-120"/>
              </a:rPr>
              <a:t>→</a:t>
            </a:r>
            <a:endParaRPr lang="en-US" sz="2400" dirty="0"/>
          </a:p>
        </p:txBody>
      </p:sp>
      <p:sp>
        <p:nvSpPr>
          <p:cNvPr id="9" name="Text 7"/>
          <p:cNvSpPr txBox="1"/>
          <p:nvPr/>
        </p:nvSpPr>
        <p:spPr>
          <a:xfrm>
            <a:off x="548640" y="2560320"/>
            <a:ext cx="2567864" cy="320040"/>
          </a:xfrm>
          <a:prstGeom prst="rect">
            <a:avLst/>
          </a:prstGeom>
          <a:noFill/>
          <a:ln/>
        </p:spPr>
        <p:txBody>
          <a:bodyPr wrap="square" lIns="0" tIns="0" rIns="0" bIns="0" rtlCol="0" anchor="t"/>
          <a:lstStyle/>
          <a:p>
            <a:pPr indent="0" marL="0">
              <a:buNone/>
            </a:pPr>
            <a:r>
              <a:rPr lang="en-US" sz="1400" b="1" dirty="0">
                <a:solidFill>
                  <a:srgbClr val="16181D"/>
                </a:solidFill>
                <a:latin typeface="Arial" pitchFamily="34" charset="0"/>
                <a:ea typeface="Arial" pitchFamily="34" charset="-122"/>
                <a:cs typeface="Arial" pitchFamily="34" charset="-120"/>
              </a:rPr>
              <a:t>Wunsch in Fachsprache</a:t>
            </a:r>
            <a:endParaRPr lang="en-US" sz="1400" dirty="0"/>
          </a:p>
        </p:txBody>
      </p:sp>
      <p:sp>
        <p:nvSpPr>
          <p:cNvPr id="10" name="Text 8"/>
          <p:cNvSpPr txBox="1"/>
          <p:nvPr/>
        </p:nvSpPr>
        <p:spPr>
          <a:xfrm>
            <a:off x="548640" y="2898648"/>
            <a:ext cx="2567864" cy="822960"/>
          </a:xfrm>
          <a:prstGeom prst="rect">
            <a:avLst/>
          </a:prstGeom>
          <a:noFill/>
          <a:ln/>
        </p:spPr>
        <p:txBody>
          <a:bodyPr wrap="square" lIns="0" tIns="0" rIns="0" bIns="0" rtlCol="0" anchor="t"/>
          <a:lstStyle/>
          <a:p>
            <a:pPr indent="0" marL="0">
              <a:lnSpc>
                <a:spcPct val="108000"/>
              </a:lnSpc>
              <a:buNone/>
            </a:pPr>
            <a:r>
              <a:rPr lang="en-US" sz="1200" dirty="0">
                <a:solidFill>
                  <a:srgbClr val="4B5563"/>
                </a:solidFill>
                <a:latin typeface="Arial" pitchFamily="34" charset="0"/>
                <a:ea typeface="Arial" pitchFamily="34" charset="-122"/>
                <a:cs typeface="Arial" pitchFamily="34" charset="-120"/>
              </a:rPr>
              <a:t>Kohlhammer beschreibt, was gebraucht wird – im Gespräch oder als GitHub-Issue.</a:t>
            </a:r>
            <a:endParaRPr lang="en-US" sz="1200" dirty="0"/>
          </a:p>
        </p:txBody>
      </p:sp>
      <p:sp>
        <p:nvSpPr>
          <p:cNvPr id="11" name="Shape 9"/>
          <p:cNvSpPr/>
          <p:nvPr/>
        </p:nvSpPr>
        <p:spPr>
          <a:xfrm>
            <a:off x="3390824" y="1645920"/>
            <a:ext cx="777240" cy="777240"/>
          </a:xfrm>
          <a:prstGeom prst="ellipse">
            <a:avLst/>
          </a:prstGeom>
          <a:solidFill>
            <a:srgbClr val="FFFFFF"/>
          </a:solidFill>
          <a:ln w="25400">
            <a:solidFill>
              <a:srgbClr val="1B2D5C"/>
            </a:solidFill>
            <a:prstDash val="solid"/>
          </a:ln>
        </p:spPr>
      </p:sp>
      <p:sp>
        <p:nvSpPr>
          <p:cNvPr id="12" name="Text 10"/>
          <p:cNvSpPr txBox="1"/>
          <p:nvPr/>
        </p:nvSpPr>
        <p:spPr>
          <a:xfrm>
            <a:off x="3390824" y="1645920"/>
            <a:ext cx="777240" cy="777240"/>
          </a:xfrm>
          <a:prstGeom prst="rect">
            <a:avLst/>
          </a:prstGeom>
          <a:noFill/>
          <a:ln/>
        </p:spPr>
        <p:txBody>
          <a:bodyPr wrap="square" lIns="0" tIns="0" rIns="0" bIns="0" rtlCol="0" anchor="ctr"/>
          <a:lstStyle/>
          <a:p>
            <a:pPr algn="ctr" indent="0" marL="0">
              <a:buNone/>
            </a:pPr>
            <a:r>
              <a:rPr lang="en-US" sz="2600" dirty="0">
                <a:solidFill>
                  <a:srgbClr val="1B2D5C"/>
                </a:solidFill>
                <a:latin typeface="Arial" pitchFamily="34" charset="0"/>
                <a:ea typeface="Arial" pitchFamily="34" charset="-122"/>
                <a:cs typeface="Arial" pitchFamily="34" charset="-120"/>
              </a:rPr>
              <a:t>2</a:t>
            </a:r>
            <a:endParaRPr lang="en-US" sz="2600" dirty="0"/>
          </a:p>
        </p:txBody>
      </p:sp>
      <p:sp>
        <p:nvSpPr>
          <p:cNvPr id="13" name="Text 11"/>
          <p:cNvSpPr txBox="1"/>
          <p:nvPr/>
        </p:nvSpPr>
        <p:spPr>
          <a:xfrm>
            <a:off x="4259504" y="1645920"/>
            <a:ext cx="1699184" cy="777240"/>
          </a:xfrm>
          <a:prstGeom prst="rect">
            <a:avLst/>
          </a:prstGeom>
          <a:noFill/>
          <a:ln/>
        </p:spPr>
        <p:txBody>
          <a:bodyPr wrap="square" lIns="0" tIns="0" rIns="0" bIns="0" rtlCol="0" anchor="ctr"/>
          <a:lstStyle/>
          <a:p>
            <a:pPr algn="ctr" indent="0" marL="0">
              <a:buNone/>
            </a:pPr>
            <a:r>
              <a:rPr lang="en-US" sz="2400" dirty="0">
                <a:solidFill>
                  <a:srgbClr val="1B2D5C"/>
                </a:solidFill>
                <a:latin typeface="Arial" pitchFamily="34" charset="0"/>
                <a:ea typeface="Arial" pitchFamily="34" charset="-122"/>
                <a:cs typeface="Arial" pitchFamily="34" charset="-120"/>
              </a:rPr>
              <a:t>→</a:t>
            </a:r>
            <a:endParaRPr lang="en-US" sz="2400" dirty="0"/>
          </a:p>
        </p:txBody>
      </p:sp>
      <p:sp>
        <p:nvSpPr>
          <p:cNvPr id="14" name="Text 12"/>
          <p:cNvSpPr txBox="1"/>
          <p:nvPr/>
        </p:nvSpPr>
        <p:spPr>
          <a:xfrm>
            <a:off x="3390824" y="2560320"/>
            <a:ext cx="2567864" cy="320040"/>
          </a:xfrm>
          <a:prstGeom prst="rect">
            <a:avLst/>
          </a:prstGeom>
          <a:noFill/>
          <a:ln/>
        </p:spPr>
        <p:txBody>
          <a:bodyPr wrap="square" lIns="0" tIns="0" rIns="0" bIns="0" rtlCol="0" anchor="t"/>
          <a:lstStyle/>
          <a:p>
            <a:pPr indent="0" marL="0">
              <a:buNone/>
            </a:pPr>
            <a:r>
              <a:rPr lang="en-US" sz="1400" b="1" dirty="0">
                <a:solidFill>
                  <a:srgbClr val="16181D"/>
                </a:solidFill>
                <a:latin typeface="Arial" pitchFamily="34" charset="0"/>
                <a:ea typeface="Arial" pitchFamily="34" charset="-122"/>
                <a:cs typeface="Arial" pitchFamily="34" charset="-120"/>
              </a:rPr>
              <a:t>KI entwickelt nach Regeln</a:t>
            </a:r>
            <a:endParaRPr lang="en-US" sz="1400" dirty="0"/>
          </a:p>
        </p:txBody>
      </p:sp>
      <p:sp>
        <p:nvSpPr>
          <p:cNvPr id="15" name="Text 13"/>
          <p:cNvSpPr txBox="1"/>
          <p:nvPr/>
        </p:nvSpPr>
        <p:spPr>
          <a:xfrm>
            <a:off x="3390824" y="2898648"/>
            <a:ext cx="2567864" cy="822960"/>
          </a:xfrm>
          <a:prstGeom prst="rect">
            <a:avLst/>
          </a:prstGeom>
          <a:noFill/>
          <a:ln/>
        </p:spPr>
        <p:txBody>
          <a:bodyPr wrap="square" lIns="0" tIns="0" rIns="0" bIns="0" rtlCol="0" anchor="t"/>
          <a:lstStyle/>
          <a:p>
            <a:pPr indent="0" marL="0">
              <a:lnSpc>
                <a:spcPct val="108000"/>
              </a:lnSpc>
              <a:buNone/>
            </a:pPr>
            <a:r>
              <a:rPr lang="en-US" sz="1200" dirty="0">
                <a:solidFill>
                  <a:srgbClr val="4B5563"/>
                </a:solidFill>
                <a:latin typeface="Arial" pitchFamily="34" charset="0"/>
                <a:ea typeface="Arial" pitchFamily="34" charset="-122"/>
                <a:cs typeface="Arial" pitchFamily="34" charset="-120"/>
              </a:rPr>
              <a:t>Claude setzt um, nach festen Projektregeln und mit automatischen Tests.</a:t>
            </a:r>
            <a:endParaRPr lang="en-US" sz="1200" dirty="0"/>
          </a:p>
        </p:txBody>
      </p:sp>
      <p:sp>
        <p:nvSpPr>
          <p:cNvPr id="16" name="Shape 14"/>
          <p:cNvSpPr/>
          <p:nvPr/>
        </p:nvSpPr>
        <p:spPr>
          <a:xfrm>
            <a:off x="6233008" y="1645920"/>
            <a:ext cx="777240" cy="777240"/>
          </a:xfrm>
          <a:prstGeom prst="ellipse">
            <a:avLst/>
          </a:prstGeom>
          <a:solidFill>
            <a:srgbClr val="FFFFFF"/>
          </a:solidFill>
          <a:ln w="25400">
            <a:solidFill>
              <a:srgbClr val="1B2D5C"/>
            </a:solidFill>
            <a:prstDash val="solid"/>
          </a:ln>
        </p:spPr>
      </p:sp>
      <p:sp>
        <p:nvSpPr>
          <p:cNvPr id="17" name="Text 15"/>
          <p:cNvSpPr txBox="1"/>
          <p:nvPr/>
        </p:nvSpPr>
        <p:spPr>
          <a:xfrm>
            <a:off x="6233008" y="1645920"/>
            <a:ext cx="777240" cy="777240"/>
          </a:xfrm>
          <a:prstGeom prst="rect">
            <a:avLst/>
          </a:prstGeom>
          <a:noFill/>
          <a:ln/>
        </p:spPr>
        <p:txBody>
          <a:bodyPr wrap="square" lIns="0" tIns="0" rIns="0" bIns="0" rtlCol="0" anchor="ctr"/>
          <a:lstStyle/>
          <a:p>
            <a:pPr algn="ctr" indent="0" marL="0">
              <a:buNone/>
            </a:pPr>
            <a:r>
              <a:rPr lang="en-US" sz="2600" dirty="0">
                <a:solidFill>
                  <a:srgbClr val="1B2D5C"/>
                </a:solidFill>
                <a:latin typeface="Arial" pitchFamily="34" charset="0"/>
                <a:ea typeface="Arial" pitchFamily="34" charset="-122"/>
                <a:cs typeface="Arial" pitchFamily="34" charset="-120"/>
              </a:rPr>
              <a:t>3</a:t>
            </a:r>
            <a:endParaRPr lang="en-US" sz="2600" dirty="0"/>
          </a:p>
        </p:txBody>
      </p:sp>
      <p:sp>
        <p:nvSpPr>
          <p:cNvPr id="18" name="Text 16"/>
          <p:cNvSpPr txBox="1"/>
          <p:nvPr/>
        </p:nvSpPr>
        <p:spPr>
          <a:xfrm>
            <a:off x="7101688" y="1645920"/>
            <a:ext cx="1699184" cy="777240"/>
          </a:xfrm>
          <a:prstGeom prst="rect">
            <a:avLst/>
          </a:prstGeom>
          <a:noFill/>
          <a:ln/>
        </p:spPr>
        <p:txBody>
          <a:bodyPr wrap="square" lIns="0" tIns="0" rIns="0" bIns="0" rtlCol="0" anchor="ctr"/>
          <a:lstStyle/>
          <a:p>
            <a:pPr algn="ctr" indent="0" marL="0">
              <a:buNone/>
            </a:pPr>
            <a:r>
              <a:rPr lang="en-US" sz="2400" dirty="0">
                <a:solidFill>
                  <a:srgbClr val="1B2D5C"/>
                </a:solidFill>
                <a:latin typeface="Arial" pitchFamily="34" charset="0"/>
                <a:ea typeface="Arial" pitchFamily="34" charset="-122"/>
                <a:cs typeface="Arial" pitchFamily="34" charset="-120"/>
              </a:rPr>
              <a:t>→</a:t>
            </a:r>
            <a:endParaRPr lang="en-US" sz="2400" dirty="0"/>
          </a:p>
        </p:txBody>
      </p:sp>
      <p:sp>
        <p:nvSpPr>
          <p:cNvPr id="19" name="Text 17"/>
          <p:cNvSpPr txBox="1"/>
          <p:nvPr/>
        </p:nvSpPr>
        <p:spPr>
          <a:xfrm>
            <a:off x="6233008" y="2560320"/>
            <a:ext cx="2567864" cy="320040"/>
          </a:xfrm>
          <a:prstGeom prst="rect">
            <a:avLst/>
          </a:prstGeom>
          <a:noFill/>
          <a:ln/>
        </p:spPr>
        <p:txBody>
          <a:bodyPr wrap="square" lIns="0" tIns="0" rIns="0" bIns="0" rtlCol="0" anchor="t"/>
          <a:lstStyle/>
          <a:p>
            <a:pPr indent="0" marL="0">
              <a:buNone/>
            </a:pPr>
            <a:r>
              <a:rPr lang="en-US" sz="1400" b="1" dirty="0">
                <a:solidFill>
                  <a:srgbClr val="16181D"/>
                </a:solidFill>
                <a:latin typeface="Arial" pitchFamily="34" charset="0"/>
                <a:ea typeface="Arial" pitchFamily="34" charset="-122"/>
                <a:cs typeface="Arial" pitchFamily="34" charset="-120"/>
              </a:rPr>
              <a:t>Mensch prüft und gibt frei</a:t>
            </a:r>
            <a:endParaRPr lang="en-US" sz="1400" dirty="0"/>
          </a:p>
        </p:txBody>
      </p:sp>
      <p:sp>
        <p:nvSpPr>
          <p:cNvPr id="20" name="Text 18"/>
          <p:cNvSpPr txBox="1"/>
          <p:nvPr/>
        </p:nvSpPr>
        <p:spPr>
          <a:xfrm>
            <a:off x="6233008" y="2898648"/>
            <a:ext cx="2567864" cy="822960"/>
          </a:xfrm>
          <a:prstGeom prst="rect">
            <a:avLst/>
          </a:prstGeom>
          <a:noFill/>
          <a:ln/>
        </p:spPr>
        <p:txBody>
          <a:bodyPr wrap="square" lIns="0" tIns="0" rIns="0" bIns="0" rtlCol="0" anchor="t"/>
          <a:lstStyle/>
          <a:p>
            <a:pPr indent="0" marL="0">
              <a:lnSpc>
                <a:spcPct val="108000"/>
              </a:lnSpc>
              <a:buNone/>
            </a:pPr>
            <a:r>
              <a:rPr lang="en-US" sz="1200" dirty="0">
                <a:solidFill>
                  <a:srgbClr val="4B5563"/>
                </a:solidFill>
                <a:latin typeface="Arial" pitchFamily="34" charset="0"/>
                <a:ea typeface="Arial" pitchFamily="34" charset="-122"/>
                <a:cs typeface="Arial" pitchFamily="34" charset="-120"/>
              </a:rPr>
              <a:t>incoxx prüft jede Änderung im Vier-Augen-Prinzip, bevor sie live geht.</a:t>
            </a:r>
            <a:endParaRPr lang="en-US" sz="1200" dirty="0"/>
          </a:p>
        </p:txBody>
      </p:sp>
      <p:sp>
        <p:nvSpPr>
          <p:cNvPr id="21" name="Shape 19"/>
          <p:cNvSpPr/>
          <p:nvPr/>
        </p:nvSpPr>
        <p:spPr>
          <a:xfrm>
            <a:off x="9075191" y="1645920"/>
            <a:ext cx="777240" cy="777240"/>
          </a:xfrm>
          <a:prstGeom prst="ellipse">
            <a:avLst/>
          </a:prstGeom>
          <a:solidFill>
            <a:srgbClr val="1B2D5C"/>
          </a:solidFill>
          <a:ln w="25400">
            <a:solidFill>
              <a:srgbClr val="1B2D5C"/>
            </a:solidFill>
            <a:prstDash val="solid"/>
          </a:ln>
        </p:spPr>
      </p:sp>
      <p:sp>
        <p:nvSpPr>
          <p:cNvPr id="22" name="Text 20"/>
          <p:cNvSpPr txBox="1"/>
          <p:nvPr/>
        </p:nvSpPr>
        <p:spPr>
          <a:xfrm>
            <a:off x="9075191" y="1645920"/>
            <a:ext cx="777240" cy="777240"/>
          </a:xfrm>
          <a:prstGeom prst="rect">
            <a:avLst/>
          </a:prstGeom>
          <a:noFill/>
          <a:ln/>
        </p:spPr>
        <p:txBody>
          <a:bodyPr wrap="square" lIns="0" tIns="0" rIns="0" bIns="0" rtlCol="0" anchor="ctr"/>
          <a:lstStyle/>
          <a:p>
            <a:pPr algn="ctr" indent="0" marL="0">
              <a:buNone/>
            </a:pPr>
            <a:r>
              <a:rPr lang="en-US" sz="2600" dirty="0">
                <a:solidFill>
                  <a:srgbClr val="FFFFFF"/>
                </a:solidFill>
                <a:latin typeface="Arial" pitchFamily="34" charset="0"/>
                <a:ea typeface="Arial" pitchFamily="34" charset="-122"/>
                <a:cs typeface="Arial" pitchFamily="34" charset="-120"/>
              </a:rPr>
              <a:t>4</a:t>
            </a:r>
            <a:endParaRPr lang="en-US" sz="2600" dirty="0"/>
          </a:p>
        </p:txBody>
      </p:sp>
      <p:sp>
        <p:nvSpPr>
          <p:cNvPr id="23" name="Text 21"/>
          <p:cNvSpPr txBox="1"/>
          <p:nvPr/>
        </p:nvSpPr>
        <p:spPr>
          <a:xfrm>
            <a:off x="9075191" y="2560320"/>
            <a:ext cx="2567864" cy="320040"/>
          </a:xfrm>
          <a:prstGeom prst="rect">
            <a:avLst/>
          </a:prstGeom>
          <a:noFill/>
          <a:ln/>
        </p:spPr>
        <p:txBody>
          <a:bodyPr wrap="square" lIns="0" tIns="0" rIns="0" bIns="0" rtlCol="0" anchor="t"/>
          <a:lstStyle/>
          <a:p>
            <a:pPr indent="0" marL="0">
              <a:buNone/>
            </a:pPr>
            <a:r>
              <a:rPr lang="en-US" sz="1400" b="1" dirty="0">
                <a:solidFill>
                  <a:srgbClr val="16181D"/>
                </a:solidFill>
                <a:latin typeface="Arial" pitchFamily="34" charset="0"/>
                <a:ea typeface="Arial" pitchFamily="34" charset="-122"/>
                <a:cs typeface="Arial" pitchFamily="34" charset="-120"/>
              </a:rPr>
              <a:t>Nachvollziehbar dokumentiert</a:t>
            </a:r>
            <a:endParaRPr lang="en-US" sz="1400" dirty="0"/>
          </a:p>
        </p:txBody>
      </p:sp>
      <p:sp>
        <p:nvSpPr>
          <p:cNvPr id="24" name="Text 22"/>
          <p:cNvSpPr txBox="1"/>
          <p:nvPr/>
        </p:nvSpPr>
        <p:spPr>
          <a:xfrm>
            <a:off x="9075191" y="2898648"/>
            <a:ext cx="2567864" cy="822960"/>
          </a:xfrm>
          <a:prstGeom prst="rect">
            <a:avLst/>
          </a:prstGeom>
          <a:noFill/>
          <a:ln/>
        </p:spPr>
        <p:txBody>
          <a:bodyPr wrap="square" lIns="0" tIns="0" rIns="0" bIns="0" rtlCol="0" anchor="t"/>
          <a:lstStyle/>
          <a:p>
            <a:pPr indent="0" marL="0">
              <a:lnSpc>
                <a:spcPct val="108000"/>
              </a:lnSpc>
              <a:buNone/>
            </a:pPr>
            <a:r>
              <a:rPr lang="en-US" sz="1200" dirty="0">
                <a:solidFill>
                  <a:srgbClr val="4B5563"/>
                </a:solidFill>
                <a:latin typeface="Arial" pitchFamily="34" charset="0"/>
                <a:ea typeface="Arial" pitchFamily="34" charset="-122"/>
                <a:cs typeface="Arial" pitchFamily="34" charset="-120"/>
              </a:rPr>
              <a:t>Jede Änderung als Pull Request mit Beschreibung, Dokumentation wächst mit.</a:t>
            </a:r>
            <a:endParaRPr lang="en-US" sz="1200" dirty="0"/>
          </a:p>
        </p:txBody>
      </p:sp>
      <p:sp>
        <p:nvSpPr>
          <p:cNvPr id="25" name="Shape 23"/>
          <p:cNvSpPr/>
          <p:nvPr/>
        </p:nvSpPr>
        <p:spPr>
          <a:xfrm>
            <a:off x="548640" y="3931920"/>
            <a:ext cx="5364328" cy="2240280"/>
          </a:xfrm>
          <a:prstGeom prst="rect">
            <a:avLst/>
          </a:prstGeom>
          <a:solidFill>
            <a:srgbClr val="C6E6E3"/>
          </a:solidFill>
          <a:ln w="12700">
            <a:solidFill>
              <a:srgbClr val="C6E6E3"/>
            </a:solidFill>
            <a:prstDash val="solid"/>
          </a:ln>
        </p:spPr>
      </p:sp>
      <p:sp>
        <p:nvSpPr>
          <p:cNvPr id="26" name="Text 24"/>
          <p:cNvSpPr txBox="1"/>
          <p:nvPr/>
        </p:nvSpPr>
        <p:spPr>
          <a:xfrm>
            <a:off x="822960" y="4114800"/>
            <a:ext cx="4815688" cy="365760"/>
          </a:xfrm>
          <a:prstGeom prst="rect">
            <a:avLst/>
          </a:prstGeom>
          <a:noFill/>
          <a:ln/>
        </p:spPr>
        <p:txBody>
          <a:bodyPr wrap="square" lIns="0" tIns="0" rIns="0" bIns="0" rtlCol="0" anchor="t"/>
          <a:lstStyle/>
          <a:p>
            <a:pPr indent="0" marL="0">
              <a:buNone/>
            </a:pPr>
            <a:r>
              <a:rPr lang="en-US" sz="1700" b="1" dirty="0">
                <a:solidFill>
                  <a:srgbClr val="000E2F"/>
                </a:solidFill>
                <a:latin typeface="Arial" pitchFamily="34" charset="0"/>
                <a:ea typeface="Arial" pitchFamily="34" charset="-122"/>
                <a:cs typeface="Arial" pitchFamily="34" charset="-120"/>
              </a:rPr>
              <a:t>Wir befähigen Kohlhammer</a:t>
            </a:r>
            <a:endParaRPr lang="en-US" sz="1700" dirty="0"/>
          </a:p>
        </p:txBody>
      </p:sp>
      <p:sp>
        <p:nvSpPr>
          <p:cNvPr id="27" name="Text 25"/>
          <p:cNvSpPr txBox="1"/>
          <p:nvPr/>
        </p:nvSpPr>
        <p:spPr>
          <a:xfrm>
            <a:off x="822960" y="4572000"/>
            <a:ext cx="4815688" cy="1463040"/>
          </a:xfrm>
          <a:prstGeom prst="rect">
            <a:avLst/>
          </a:prstGeom>
          <a:noFill/>
          <a:ln/>
        </p:spPr>
        <p:txBody>
          <a:bodyPr wrap="square" lIns="0" tIns="0" rIns="0" bIns="0" rtlCol="0" anchor="t"/>
          <a:lstStyle/>
          <a:p>
            <a:pPr marL="342900" indent="-342900">
              <a:lnSpc>
                <a:spcPct val="105000"/>
              </a:lnSpc>
              <a:spcAft>
                <a:spcPts val="600"/>
              </a:spcAft>
              <a:buSzPct val="100000"/>
              <a:buChar char="•"/>
            </a:pPr>
            <a:r>
              <a:rPr lang="en-US" sz="1300" dirty="0">
                <a:solidFill>
                  <a:srgbClr val="16181D"/>
                </a:solidFill>
                <a:latin typeface="Arial" pitchFamily="34" charset="0"/>
                <a:ea typeface="Arial" pitchFamily="34" charset="-122"/>
                <a:cs typeface="Arial" pitchFamily="34" charset="-120"/>
              </a:rPr>
              <a:t>Claude mit Projektwissen: Fragen zum System in normaler Sprache stellen</a:t>
            </a:r>
            <a:endParaRPr lang="en-US" sz="1300" dirty="0"/>
          </a:p>
          <a:p>
            <a:pPr marL="342900" indent="-342900">
              <a:lnSpc>
                <a:spcPct val="105000"/>
              </a:lnSpc>
              <a:spcAft>
                <a:spcPts val="600"/>
              </a:spcAft>
              <a:buSzPct val="100000"/>
              <a:buChar char="•"/>
            </a:pPr>
            <a:r>
              <a:rPr lang="en-US" sz="1300" dirty="0">
                <a:solidFill>
                  <a:srgbClr val="16181D"/>
                </a:solidFill>
                <a:latin typeface="Arial" pitchFamily="34" charset="0"/>
                <a:ea typeface="Arial" pitchFamily="34" charset="-122"/>
                <a:cs typeface="Arial" pitchFamily="34" charset="-120"/>
              </a:rPr>
              <a:t>GitHub: Wünsche als Issue einbringen, jede Änderung einsehen</a:t>
            </a:r>
            <a:endParaRPr lang="en-US" sz="1300" dirty="0"/>
          </a:p>
          <a:p>
            <a:pPr marL="342900" indent="-342900">
              <a:lnSpc>
                <a:spcPct val="105000"/>
              </a:lnSpc>
              <a:spcAft>
                <a:spcPts val="600"/>
              </a:spcAft>
              <a:buSzPct val="100000"/>
              <a:buChar char="•"/>
            </a:pPr>
            <a:r>
              <a:rPr lang="en-US" sz="1300" dirty="0">
                <a:solidFill>
                  <a:srgbClr val="16181D"/>
                </a:solidFill>
                <a:latin typeface="Arial" pitchFamily="34" charset="0"/>
                <a:ea typeface="Arial" pitchFamily="34" charset="-122"/>
                <a:cs typeface="Arial" pitchFamily="34" charset="-120"/>
              </a:rPr>
              <a:t>Einführung und Begleitung durch incoxx – ohne Programmierkenntnisse</a:t>
            </a:r>
            <a:endParaRPr lang="en-US" sz="1300" dirty="0"/>
          </a:p>
        </p:txBody>
      </p:sp>
      <p:sp>
        <p:nvSpPr>
          <p:cNvPr id="28" name="Shape 26"/>
          <p:cNvSpPr/>
          <p:nvPr/>
        </p:nvSpPr>
        <p:spPr>
          <a:xfrm>
            <a:off x="6278728" y="3931920"/>
            <a:ext cx="5364328" cy="2240280"/>
          </a:xfrm>
          <a:prstGeom prst="rect">
            <a:avLst/>
          </a:prstGeom>
          <a:solidFill>
            <a:srgbClr val="000E2F"/>
          </a:solidFill>
          <a:ln w="12700">
            <a:solidFill>
              <a:srgbClr val="000E2F"/>
            </a:solidFill>
            <a:prstDash val="solid"/>
          </a:ln>
        </p:spPr>
      </p:sp>
      <p:sp>
        <p:nvSpPr>
          <p:cNvPr id="29" name="Text 27"/>
          <p:cNvSpPr txBox="1"/>
          <p:nvPr/>
        </p:nvSpPr>
        <p:spPr>
          <a:xfrm>
            <a:off x="6553048" y="4114800"/>
            <a:ext cx="4815688" cy="365760"/>
          </a:xfrm>
          <a:prstGeom prst="rect">
            <a:avLst/>
          </a:prstGeom>
          <a:noFill/>
          <a:ln/>
        </p:spPr>
        <p:txBody>
          <a:bodyPr wrap="square" lIns="0" tIns="0" rIns="0" bIns="0" rtlCol="0" anchor="t"/>
          <a:lstStyle/>
          <a:p>
            <a:pPr indent="0" marL="0">
              <a:buNone/>
            </a:pPr>
            <a:r>
              <a:rPr lang="en-US" sz="1700" b="1" dirty="0">
                <a:solidFill>
                  <a:srgbClr val="FFFFFF"/>
                </a:solidFill>
                <a:latin typeface="Arial" pitchFamily="34" charset="0"/>
                <a:ea typeface="Arial" pitchFamily="34" charset="-122"/>
                <a:cs typeface="Arial" pitchFamily="34" charset="-120"/>
              </a:rPr>
              <a:t>Risiko minimiert</a:t>
            </a:r>
            <a:endParaRPr lang="en-US" sz="1700" dirty="0"/>
          </a:p>
        </p:txBody>
      </p:sp>
      <p:sp>
        <p:nvSpPr>
          <p:cNvPr id="30" name="Text 28"/>
          <p:cNvSpPr txBox="1"/>
          <p:nvPr/>
        </p:nvSpPr>
        <p:spPr>
          <a:xfrm>
            <a:off x="6553048" y="4572000"/>
            <a:ext cx="4815688" cy="1463040"/>
          </a:xfrm>
          <a:prstGeom prst="rect">
            <a:avLst/>
          </a:prstGeom>
          <a:noFill/>
          <a:ln/>
        </p:spPr>
        <p:txBody>
          <a:bodyPr wrap="square" lIns="0" tIns="0" rIns="0" bIns="0" rtlCol="0" anchor="t"/>
          <a:lstStyle/>
          <a:p>
            <a:pPr marL="342900" indent="-342900">
              <a:lnSpc>
                <a:spcPct val="105000"/>
              </a:lnSpc>
              <a:spcAft>
                <a:spcPts val="600"/>
              </a:spcAft>
              <a:buSzPct val="100000"/>
              <a:buChar char="•"/>
            </a:pPr>
            <a:r>
              <a:rPr lang="en-US" sz="1300" dirty="0">
                <a:solidFill>
                  <a:srgbClr val="FFFFFF"/>
                </a:solidFill>
                <a:latin typeface="Arial" pitchFamily="34" charset="0"/>
                <a:ea typeface="Arial" pitchFamily="34" charset="-122"/>
                <a:cs typeface="Arial" pitchFamily="34" charset="-120"/>
              </a:rPr>
              <a:t>Wissen steckt im Repository, nicht in einzelnen Köpfen</a:t>
            </a:r>
            <a:endParaRPr lang="en-US" sz="1300" dirty="0"/>
          </a:p>
          <a:p>
            <a:pPr marL="342900" indent="-342900">
              <a:lnSpc>
                <a:spcPct val="105000"/>
              </a:lnSpc>
              <a:spcAft>
                <a:spcPts val="600"/>
              </a:spcAft>
              <a:buSzPct val="100000"/>
              <a:buChar char="•"/>
            </a:pPr>
            <a:r>
              <a:rPr lang="en-US" sz="1300" dirty="0">
                <a:solidFill>
                  <a:srgbClr val="FFFFFF"/>
                </a:solidFill>
                <a:latin typeface="Arial" pitchFamily="34" charset="0"/>
                <a:ea typeface="Arial" pitchFamily="34" charset="-122"/>
                <a:cs typeface="Arial" pitchFamily="34" charset="-120"/>
              </a:rPr>
              <a:t>Jede Änderung geprüft, getestet und jederzeit rückverfolgbar</a:t>
            </a:r>
            <a:endParaRPr lang="en-US" sz="1300" dirty="0"/>
          </a:p>
          <a:p>
            <a:pPr marL="342900" indent="-342900">
              <a:lnSpc>
                <a:spcPct val="105000"/>
              </a:lnSpc>
              <a:spcAft>
                <a:spcPts val="600"/>
              </a:spcAft>
              <a:buSzPct val="100000"/>
              <a:buChar char="•"/>
            </a:pPr>
            <a:r>
              <a:rPr lang="en-US" sz="1300" dirty="0">
                <a:solidFill>
                  <a:srgbClr val="FFFFFF"/>
                </a:solidFill>
                <a:latin typeface="Arial" pitchFamily="34" charset="0"/>
                <a:ea typeface="Arial" pitchFamily="34" charset="-122"/>
                <a:cs typeface="Arial" pitchFamily="34" charset="-120"/>
              </a:rPr>
              <a:t>Offener Code – keine Abhängigkeit, auch nicht von incoxx</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594360"/>
          </a:xfrm>
          <a:prstGeom prst="rect">
            <a:avLst/>
          </a:prstGeom>
          <a:noFill/>
          <a:ln/>
        </p:spPr>
        <p:txBody>
          <a:bodyPr wrap="square" lIns="0" tIns="0" rIns="0" bIns="0" rtlCol="0" anchor="b"/>
          <a:lstStyle/>
          <a:p>
            <a:pPr indent="0" marL="0">
              <a:buNone/>
            </a:pPr>
            <a:r>
              <a:rPr lang="en-US" sz="3000" dirty="0">
                <a:solidFill>
                  <a:srgbClr val="16181D"/>
                </a:solidFill>
                <a:latin typeface="Arial" pitchFamily="34" charset="0"/>
                <a:ea typeface="Arial" pitchFamily="34" charset="-122"/>
                <a:cs typeface="Arial" pitchFamily="34" charset="-120"/>
              </a:rPr>
              <a:t>VORGESCHLAGENER FAHRPLAN</a:t>
            </a:r>
            <a:endParaRPr lang="en-US" sz="3000" dirty="0"/>
          </a:p>
        </p:txBody>
      </p:sp>
      <p:sp>
        <p:nvSpPr>
          <p:cNvPr id="3" name="Text 1"/>
          <p:cNvSpPr txBox="1"/>
          <p:nvPr/>
        </p:nvSpPr>
        <p:spPr>
          <a:xfrm>
            <a:off x="548640" y="1033272"/>
            <a:ext cx="11094415" cy="365760"/>
          </a:xfrm>
          <a:prstGeom prst="rect">
            <a:avLst/>
          </a:prstGeom>
          <a:noFill/>
          <a:ln/>
        </p:spPr>
        <p:txBody>
          <a:bodyPr wrap="square" lIns="0" tIns="0" rIns="0" bIns="0" rtlCol="0" anchor="t"/>
          <a:lstStyle/>
          <a:p>
            <a:pPr indent="0" marL="0">
              <a:buNone/>
            </a:pPr>
            <a:r>
              <a:rPr lang="en-US" sz="1400" dirty="0">
                <a:solidFill>
                  <a:srgbClr val="4B5563"/>
                </a:solidFill>
                <a:latin typeface="Arial" pitchFamily="34" charset="0"/>
                <a:ea typeface="Arial" pitchFamily="34" charset="-122"/>
                <a:cs typeface="Arial" pitchFamily="34" charset="-120"/>
              </a:rPr>
              <a:t>Richtwerte für den Workshop. Pimcore 6 läuft bis zur Umstellung weiter; ein Fachbereich dient als Pilot.</a:t>
            </a:r>
            <a:endParaRPr lang="en-US" sz="1400" dirty="0"/>
          </a:p>
        </p:txBody>
      </p:sp>
      <p:sp>
        <p:nvSpPr>
          <p:cNvPr id="4" name="Text 2"/>
          <p:cNvSpPr txBox="1"/>
          <p:nvPr/>
        </p:nvSpPr>
        <p:spPr>
          <a:xfrm>
            <a:off x="548640" y="6400800"/>
            <a:ext cx="7315200" cy="228600"/>
          </a:xfrm>
          <a:prstGeom prst="rect">
            <a:avLst/>
          </a:prstGeom>
          <a:noFill/>
          <a:ln/>
        </p:spPr>
        <p:txBody>
          <a:bodyPr wrap="square" lIns="0" tIns="0" rIns="0" bIns="0" rtlCol="0" anchor="t"/>
          <a:lstStyle/>
          <a:p>
            <a:pPr indent="0" marL="0">
              <a:buNone/>
            </a:pPr>
            <a:r>
              <a:rPr lang="en-US" sz="900" dirty="0">
                <a:solidFill>
                  <a:srgbClr val="4B5563"/>
                </a:solidFill>
                <a:latin typeface="Arial" pitchFamily="34" charset="0"/>
                <a:ea typeface="Arial" pitchFamily="34" charset="-122"/>
                <a:cs typeface="Arial" pitchFamily="34" charset="-120"/>
              </a:rPr>
              <a:t>anyPIM für Kohlhammer  ·  Entscheidungsvorlage  ·  September 2026</a:t>
            </a:r>
            <a:endParaRPr lang="en-US" sz="900" dirty="0"/>
          </a:p>
        </p:txBody>
      </p:sp>
      <p:sp>
        <p:nvSpPr>
          <p:cNvPr id="5" name="Text 3"/>
          <p:cNvSpPr txBox="1"/>
          <p:nvPr/>
        </p:nvSpPr>
        <p:spPr>
          <a:xfrm>
            <a:off x="10728655" y="6400800"/>
            <a:ext cx="914400" cy="228600"/>
          </a:xfrm>
          <a:prstGeom prst="rect">
            <a:avLst/>
          </a:prstGeom>
          <a:noFill/>
          <a:ln/>
        </p:spPr>
        <p:txBody>
          <a:bodyPr wrap="square" lIns="0" tIns="0" rIns="0" bIns="0" rtlCol="0" anchor="t"/>
          <a:lstStyle/>
          <a:p>
            <a:pPr algn="r" indent="0" marL="0">
              <a:buNone/>
            </a:pPr>
            <a:r>
              <a:rPr lang="en-US" sz="900" dirty="0">
                <a:solidFill>
                  <a:srgbClr val="4B5563"/>
                </a:solidFill>
                <a:latin typeface="Arial" pitchFamily="34" charset="0"/>
                <a:ea typeface="Arial" pitchFamily="34" charset="-122"/>
                <a:cs typeface="Arial" pitchFamily="34" charset="-120"/>
              </a:rPr>
              <a:t>16</a:t>
            </a:r>
            <a:endParaRPr lang="en-US" sz="900" dirty="0"/>
          </a:p>
        </p:txBody>
      </p:sp>
      <p:sp>
        <p:nvSpPr>
          <p:cNvPr id="6" name="Shape 4"/>
          <p:cNvSpPr/>
          <p:nvPr/>
        </p:nvSpPr>
        <p:spPr>
          <a:xfrm>
            <a:off x="640080" y="2377440"/>
            <a:ext cx="10911535" cy="0"/>
          </a:xfrm>
          <a:prstGeom prst="line">
            <a:avLst/>
          </a:prstGeom>
          <a:noFill/>
          <a:ln w="19050">
            <a:solidFill>
              <a:srgbClr val="1B2D5C"/>
            </a:solidFill>
            <a:prstDash val="solid"/>
          </a:ln>
        </p:spPr>
      </p:sp>
      <p:sp>
        <p:nvSpPr>
          <p:cNvPr id="7" name="Shape 5"/>
          <p:cNvSpPr/>
          <p:nvPr/>
        </p:nvSpPr>
        <p:spPr>
          <a:xfrm>
            <a:off x="548640" y="2240280"/>
            <a:ext cx="274320" cy="274320"/>
          </a:xfrm>
          <a:prstGeom prst="rect">
            <a:avLst/>
          </a:prstGeom>
          <a:solidFill>
            <a:srgbClr val="000E2F"/>
          </a:solidFill>
          <a:ln w="12700">
            <a:solidFill>
              <a:srgbClr val="000E2F"/>
            </a:solidFill>
            <a:prstDash val="solid"/>
          </a:ln>
        </p:spPr>
      </p:sp>
      <p:sp>
        <p:nvSpPr>
          <p:cNvPr id="8" name="Text 6"/>
          <p:cNvSpPr txBox="1"/>
          <p:nvPr/>
        </p:nvSpPr>
        <p:spPr>
          <a:xfrm>
            <a:off x="548640" y="2788920"/>
            <a:ext cx="2560320" cy="731520"/>
          </a:xfrm>
          <a:prstGeom prst="rect">
            <a:avLst/>
          </a:prstGeom>
          <a:noFill/>
          <a:ln/>
        </p:spPr>
        <p:txBody>
          <a:bodyPr wrap="square" lIns="0" tIns="0" rIns="0" bIns="0" rtlCol="0" anchor="t"/>
          <a:lstStyle/>
          <a:p>
            <a:pPr indent="0" marL="0">
              <a:buNone/>
            </a:pPr>
            <a:r>
              <a:rPr lang="en-US" sz="4000" dirty="0">
                <a:solidFill>
                  <a:srgbClr val="1B2D5C"/>
                </a:solidFill>
                <a:latin typeface="Arial" pitchFamily="34" charset="0"/>
                <a:ea typeface="Arial" pitchFamily="34" charset="-122"/>
                <a:cs typeface="Arial" pitchFamily="34" charset="-120"/>
              </a:rPr>
              <a:t>01</a:t>
            </a:r>
            <a:endParaRPr lang="en-US" sz="4000" dirty="0"/>
          </a:p>
        </p:txBody>
      </p:sp>
      <p:sp>
        <p:nvSpPr>
          <p:cNvPr id="9" name="Text 7"/>
          <p:cNvSpPr txBox="1"/>
          <p:nvPr/>
        </p:nvSpPr>
        <p:spPr>
          <a:xfrm>
            <a:off x="548640" y="3611880"/>
            <a:ext cx="2560320" cy="256032"/>
          </a:xfrm>
          <a:prstGeom prst="rect">
            <a:avLst/>
          </a:prstGeom>
          <a:noFill/>
          <a:ln/>
        </p:spPr>
        <p:txBody>
          <a:bodyPr wrap="square" lIns="0" tIns="0" rIns="0" bIns="0" rtlCol="0" anchor="t"/>
          <a:lstStyle/>
          <a:p>
            <a:pPr indent="0" marL="0">
              <a:buNone/>
            </a:pPr>
            <a:r>
              <a:rPr lang="en-US" sz="1000" b="1" spc="100" kern="0" dirty="0">
                <a:solidFill>
                  <a:srgbClr val="4B5563"/>
                </a:solidFill>
                <a:latin typeface="Arial" pitchFamily="34" charset="0"/>
                <a:ea typeface="Arial" pitchFamily="34" charset="-122"/>
                <a:cs typeface="Arial" pitchFamily="34" charset="-120"/>
              </a:rPr>
              <a:t>CA. 2 WOCHEN</a:t>
            </a:r>
            <a:endParaRPr lang="en-US" sz="1000" dirty="0"/>
          </a:p>
        </p:txBody>
      </p:sp>
      <p:sp>
        <p:nvSpPr>
          <p:cNvPr id="10" name="Text 8"/>
          <p:cNvSpPr txBox="1"/>
          <p:nvPr/>
        </p:nvSpPr>
        <p:spPr>
          <a:xfrm>
            <a:off x="548640" y="3931920"/>
            <a:ext cx="2560320" cy="384048"/>
          </a:xfrm>
          <a:prstGeom prst="rect">
            <a:avLst/>
          </a:prstGeom>
          <a:noFill/>
          <a:ln/>
        </p:spPr>
        <p:txBody>
          <a:bodyPr wrap="square" lIns="0" tIns="0" rIns="0" bIns="0" rtlCol="0" anchor="t"/>
          <a:lstStyle/>
          <a:p>
            <a:pPr indent="0" marL="0">
              <a:buNone/>
            </a:pPr>
            <a:r>
              <a:rPr lang="en-US" sz="1800" b="1" dirty="0">
                <a:solidFill>
                  <a:srgbClr val="16181D"/>
                </a:solidFill>
                <a:latin typeface="Arial" pitchFamily="34" charset="0"/>
                <a:ea typeface="Arial" pitchFamily="34" charset="-122"/>
                <a:cs typeface="Arial" pitchFamily="34" charset="-120"/>
              </a:rPr>
              <a:t>Bestandsaufnahme</a:t>
            </a:r>
            <a:endParaRPr lang="en-US" sz="1800" dirty="0"/>
          </a:p>
        </p:txBody>
      </p:sp>
      <p:sp>
        <p:nvSpPr>
          <p:cNvPr id="11" name="Text 9"/>
          <p:cNvSpPr txBox="1"/>
          <p:nvPr/>
        </p:nvSpPr>
        <p:spPr>
          <a:xfrm>
            <a:off x="548640" y="4434840"/>
            <a:ext cx="2560320" cy="1737360"/>
          </a:xfrm>
          <a:prstGeom prst="rect">
            <a:avLst/>
          </a:prstGeom>
          <a:noFill/>
          <a:ln/>
        </p:spPr>
        <p:txBody>
          <a:bodyPr wrap="square" lIns="0" tIns="0" rIns="0" bIns="0" rtlCol="0" anchor="t"/>
          <a:lstStyle/>
          <a:p>
            <a:pPr indent="0" marL="0">
              <a:lnSpc>
                <a:spcPct val="112000"/>
              </a:lnSpc>
              <a:buNone/>
            </a:pPr>
            <a:r>
              <a:rPr lang="en-US" sz="1400" dirty="0">
                <a:solidFill>
                  <a:srgbClr val="16181D"/>
                </a:solidFill>
                <a:latin typeface="Arial" pitchFamily="34" charset="0"/>
                <a:ea typeface="Arial" pitchFamily="34" charset="-122"/>
                <a:cs typeface="Arial" pitchFamily="34" charset="-120"/>
              </a:rPr>
              <a:t>Pimcore-6-Klassen, Eigenentwicklungen und Schnittstellen erfassen; Zielmodell mit Produkttypen, Attributen, Hierarchien und Ausgaben festlegen.</a:t>
            </a:r>
            <a:endParaRPr lang="en-US" sz="1400" dirty="0"/>
          </a:p>
        </p:txBody>
      </p:sp>
      <p:sp>
        <p:nvSpPr>
          <p:cNvPr id="12" name="Shape 10"/>
          <p:cNvSpPr/>
          <p:nvPr/>
        </p:nvSpPr>
        <p:spPr>
          <a:xfrm>
            <a:off x="3393338" y="2240280"/>
            <a:ext cx="274320" cy="274320"/>
          </a:xfrm>
          <a:prstGeom prst="rect">
            <a:avLst/>
          </a:prstGeom>
          <a:solidFill>
            <a:srgbClr val="000E2F"/>
          </a:solidFill>
          <a:ln w="12700">
            <a:solidFill>
              <a:srgbClr val="000E2F"/>
            </a:solidFill>
            <a:prstDash val="solid"/>
          </a:ln>
        </p:spPr>
      </p:sp>
      <p:sp>
        <p:nvSpPr>
          <p:cNvPr id="13" name="Text 11"/>
          <p:cNvSpPr txBox="1"/>
          <p:nvPr/>
        </p:nvSpPr>
        <p:spPr>
          <a:xfrm>
            <a:off x="3393338" y="2788920"/>
            <a:ext cx="2560320" cy="731520"/>
          </a:xfrm>
          <a:prstGeom prst="rect">
            <a:avLst/>
          </a:prstGeom>
          <a:noFill/>
          <a:ln/>
        </p:spPr>
        <p:txBody>
          <a:bodyPr wrap="square" lIns="0" tIns="0" rIns="0" bIns="0" rtlCol="0" anchor="t"/>
          <a:lstStyle/>
          <a:p>
            <a:pPr indent="0" marL="0">
              <a:buNone/>
            </a:pPr>
            <a:r>
              <a:rPr lang="en-US" sz="4000" dirty="0">
                <a:solidFill>
                  <a:srgbClr val="1B2D5C"/>
                </a:solidFill>
                <a:latin typeface="Arial" pitchFamily="34" charset="0"/>
                <a:ea typeface="Arial" pitchFamily="34" charset="-122"/>
                <a:cs typeface="Arial" pitchFamily="34" charset="-120"/>
              </a:rPr>
              <a:t>02</a:t>
            </a:r>
            <a:endParaRPr lang="en-US" sz="4000" dirty="0"/>
          </a:p>
        </p:txBody>
      </p:sp>
      <p:sp>
        <p:nvSpPr>
          <p:cNvPr id="14" name="Text 12"/>
          <p:cNvSpPr txBox="1"/>
          <p:nvPr/>
        </p:nvSpPr>
        <p:spPr>
          <a:xfrm>
            <a:off x="3393338" y="3611880"/>
            <a:ext cx="2560320" cy="256032"/>
          </a:xfrm>
          <a:prstGeom prst="rect">
            <a:avLst/>
          </a:prstGeom>
          <a:noFill/>
          <a:ln/>
        </p:spPr>
        <p:txBody>
          <a:bodyPr wrap="square" lIns="0" tIns="0" rIns="0" bIns="0" rtlCol="0" anchor="t"/>
          <a:lstStyle/>
          <a:p>
            <a:pPr indent="0" marL="0">
              <a:buNone/>
            </a:pPr>
            <a:r>
              <a:rPr lang="en-US" sz="1000" b="1" spc="100" kern="0" dirty="0">
                <a:solidFill>
                  <a:srgbClr val="4B5563"/>
                </a:solidFill>
                <a:latin typeface="Arial" pitchFamily="34" charset="0"/>
                <a:ea typeface="Arial" pitchFamily="34" charset="-122"/>
                <a:cs typeface="Arial" pitchFamily="34" charset="-120"/>
              </a:rPr>
              <a:t>CA. 4 WOCHEN</a:t>
            </a:r>
            <a:endParaRPr lang="en-US" sz="1000" dirty="0"/>
          </a:p>
        </p:txBody>
      </p:sp>
      <p:sp>
        <p:nvSpPr>
          <p:cNvPr id="15" name="Text 13"/>
          <p:cNvSpPr txBox="1"/>
          <p:nvPr/>
        </p:nvSpPr>
        <p:spPr>
          <a:xfrm>
            <a:off x="3393338" y="3931920"/>
            <a:ext cx="2560320" cy="384048"/>
          </a:xfrm>
          <a:prstGeom prst="rect">
            <a:avLst/>
          </a:prstGeom>
          <a:noFill/>
          <a:ln/>
        </p:spPr>
        <p:txBody>
          <a:bodyPr wrap="square" lIns="0" tIns="0" rIns="0" bIns="0" rtlCol="0" anchor="t"/>
          <a:lstStyle/>
          <a:p>
            <a:pPr indent="0" marL="0">
              <a:buNone/>
            </a:pPr>
            <a:r>
              <a:rPr lang="en-US" sz="1800" b="1" dirty="0">
                <a:solidFill>
                  <a:srgbClr val="16181D"/>
                </a:solidFill>
                <a:latin typeface="Arial" pitchFamily="34" charset="0"/>
                <a:ea typeface="Arial" pitchFamily="34" charset="-122"/>
                <a:cs typeface="Arial" pitchFamily="34" charset="-120"/>
              </a:rPr>
              <a:t>Pilot Brandschutz</a:t>
            </a:r>
            <a:endParaRPr lang="en-US" sz="1800" dirty="0"/>
          </a:p>
        </p:txBody>
      </p:sp>
      <p:sp>
        <p:nvSpPr>
          <p:cNvPr id="16" name="Text 14"/>
          <p:cNvSpPr txBox="1"/>
          <p:nvPr/>
        </p:nvSpPr>
        <p:spPr>
          <a:xfrm>
            <a:off x="3393338" y="4434840"/>
            <a:ext cx="2560320" cy="1737360"/>
          </a:xfrm>
          <a:prstGeom prst="rect">
            <a:avLst/>
          </a:prstGeom>
          <a:noFill/>
          <a:ln/>
        </p:spPr>
        <p:txBody>
          <a:bodyPr wrap="square" lIns="0" tIns="0" rIns="0" bIns="0" rtlCol="0" anchor="t"/>
          <a:lstStyle/>
          <a:p>
            <a:pPr indent="0" marL="0">
              <a:lnSpc>
                <a:spcPct val="112000"/>
              </a:lnSpc>
              <a:buNone/>
            </a:pPr>
            <a:r>
              <a:rPr lang="en-US" sz="1400" dirty="0">
                <a:solidFill>
                  <a:srgbClr val="16181D"/>
                </a:solidFill>
                <a:latin typeface="Arial" pitchFamily="34" charset="0"/>
                <a:ea typeface="Arial" pitchFamily="34" charset="-122"/>
                <a:cs typeface="Arial" pitchFamily="34" charset="-120"/>
              </a:rPr>
              <a:t>Titel des Fachbereichs aus Pimcore 6 übernehmen, Werk/Ausgabe-Struktur, Qualitätsprofile; Parallelbetrieb und Datenabgleich.</a:t>
            </a:r>
            <a:endParaRPr lang="en-US" sz="1400" dirty="0"/>
          </a:p>
        </p:txBody>
      </p:sp>
      <p:sp>
        <p:nvSpPr>
          <p:cNvPr id="17" name="Shape 15"/>
          <p:cNvSpPr/>
          <p:nvPr/>
        </p:nvSpPr>
        <p:spPr>
          <a:xfrm>
            <a:off x="6238037" y="2240280"/>
            <a:ext cx="274320" cy="274320"/>
          </a:xfrm>
          <a:prstGeom prst="rect">
            <a:avLst/>
          </a:prstGeom>
          <a:solidFill>
            <a:srgbClr val="000E2F"/>
          </a:solidFill>
          <a:ln w="12700">
            <a:solidFill>
              <a:srgbClr val="000E2F"/>
            </a:solidFill>
            <a:prstDash val="solid"/>
          </a:ln>
        </p:spPr>
      </p:sp>
      <p:sp>
        <p:nvSpPr>
          <p:cNvPr id="18" name="Text 16"/>
          <p:cNvSpPr txBox="1"/>
          <p:nvPr/>
        </p:nvSpPr>
        <p:spPr>
          <a:xfrm>
            <a:off x="6238037" y="2788920"/>
            <a:ext cx="2560320" cy="731520"/>
          </a:xfrm>
          <a:prstGeom prst="rect">
            <a:avLst/>
          </a:prstGeom>
          <a:noFill/>
          <a:ln/>
        </p:spPr>
        <p:txBody>
          <a:bodyPr wrap="square" lIns="0" tIns="0" rIns="0" bIns="0" rtlCol="0" anchor="t"/>
          <a:lstStyle/>
          <a:p>
            <a:pPr indent="0" marL="0">
              <a:buNone/>
            </a:pPr>
            <a:r>
              <a:rPr lang="en-US" sz="4000" dirty="0">
                <a:solidFill>
                  <a:srgbClr val="1B2D5C"/>
                </a:solidFill>
                <a:latin typeface="Arial" pitchFamily="34" charset="0"/>
                <a:ea typeface="Arial" pitchFamily="34" charset="-122"/>
                <a:cs typeface="Arial" pitchFamily="34" charset="-120"/>
              </a:rPr>
              <a:t>03</a:t>
            </a:r>
            <a:endParaRPr lang="en-US" sz="4000" dirty="0"/>
          </a:p>
        </p:txBody>
      </p:sp>
      <p:sp>
        <p:nvSpPr>
          <p:cNvPr id="19" name="Text 17"/>
          <p:cNvSpPr txBox="1"/>
          <p:nvPr/>
        </p:nvSpPr>
        <p:spPr>
          <a:xfrm>
            <a:off x="6238037" y="3611880"/>
            <a:ext cx="2560320" cy="256032"/>
          </a:xfrm>
          <a:prstGeom prst="rect">
            <a:avLst/>
          </a:prstGeom>
          <a:noFill/>
          <a:ln/>
        </p:spPr>
        <p:txBody>
          <a:bodyPr wrap="square" lIns="0" tIns="0" rIns="0" bIns="0" rtlCol="0" anchor="t"/>
          <a:lstStyle/>
          <a:p>
            <a:pPr indent="0" marL="0">
              <a:buNone/>
            </a:pPr>
            <a:r>
              <a:rPr lang="en-US" sz="1000" b="1" spc="100" kern="0" dirty="0">
                <a:solidFill>
                  <a:srgbClr val="4B5563"/>
                </a:solidFill>
                <a:latin typeface="Arial" pitchFamily="34" charset="0"/>
                <a:ea typeface="Arial" pitchFamily="34" charset="-122"/>
                <a:cs typeface="Arial" pitchFamily="34" charset="-120"/>
              </a:rPr>
              <a:t>JE NACH UMFANG</a:t>
            </a:r>
            <a:endParaRPr lang="en-US" sz="1000" dirty="0"/>
          </a:p>
        </p:txBody>
      </p:sp>
      <p:sp>
        <p:nvSpPr>
          <p:cNvPr id="20" name="Text 18"/>
          <p:cNvSpPr txBox="1"/>
          <p:nvPr/>
        </p:nvSpPr>
        <p:spPr>
          <a:xfrm>
            <a:off x="6238037" y="3931920"/>
            <a:ext cx="2560320" cy="384048"/>
          </a:xfrm>
          <a:prstGeom prst="rect">
            <a:avLst/>
          </a:prstGeom>
          <a:noFill/>
          <a:ln/>
        </p:spPr>
        <p:txBody>
          <a:bodyPr wrap="square" lIns="0" tIns="0" rIns="0" bIns="0" rtlCol="0" anchor="t"/>
          <a:lstStyle/>
          <a:p>
            <a:pPr indent="0" marL="0">
              <a:buNone/>
            </a:pPr>
            <a:r>
              <a:rPr lang="en-US" sz="1800" b="1" dirty="0">
                <a:solidFill>
                  <a:srgbClr val="16181D"/>
                </a:solidFill>
                <a:latin typeface="Arial" pitchFamily="34" charset="0"/>
                <a:ea typeface="Arial" pitchFamily="34" charset="-122"/>
                <a:cs typeface="Arial" pitchFamily="34" charset="-120"/>
              </a:rPr>
              <a:t>Projektanteil</a:t>
            </a:r>
            <a:endParaRPr lang="en-US" sz="1800" dirty="0"/>
          </a:p>
        </p:txBody>
      </p:sp>
      <p:sp>
        <p:nvSpPr>
          <p:cNvPr id="21" name="Text 19"/>
          <p:cNvSpPr txBox="1"/>
          <p:nvPr/>
        </p:nvSpPr>
        <p:spPr>
          <a:xfrm>
            <a:off x="6238037" y="4434840"/>
            <a:ext cx="2560320" cy="1737360"/>
          </a:xfrm>
          <a:prstGeom prst="rect">
            <a:avLst/>
          </a:prstGeom>
          <a:noFill/>
          <a:ln/>
        </p:spPr>
        <p:txBody>
          <a:bodyPr wrap="square" lIns="0" tIns="0" rIns="0" bIns="0" rtlCol="0" anchor="t"/>
          <a:lstStyle/>
          <a:p>
            <a:pPr indent="0" marL="0">
              <a:lnSpc>
                <a:spcPct val="112000"/>
              </a:lnSpc>
              <a:buNone/>
            </a:pPr>
            <a:r>
              <a:rPr lang="en-US" sz="1400" dirty="0">
                <a:solidFill>
                  <a:srgbClr val="16181D"/>
                </a:solidFill>
                <a:latin typeface="Arial" pitchFamily="34" charset="0"/>
                <a:ea typeface="Arial" pitchFamily="34" charset="-122"/>
                <a:cs typeface="Arial" pitchFamily="34" charset="-120"/>
              </a:rPr>
              <a:t>Fehlende Funktionen als Standard bauen – EasyCatalog-, Thieme- und ONIX-Export, Cover-Metadaten; Shop und Handel umstellen.</a:t>
            </a:r>
            <a:endParaRPr lang="en-US" sz="1400" dirty="0"/>
          </a:p>
        </p:txBody>
      </p:sp>
      <p:sp>
        <p:nvSpPr>
          <p:cNvPr id="22" name="Shape 20"/>
          <p:cNvSpPr/>
          <p:nvPr/>
        </p:nvSpPr>
        <p:spPr>
          <a:xfrm>
            <a:off x="9082735" y="2240280"/>
            <a:ext cx="274320" cy="274320"/>
          </a:xfrm>
          <a:prstGeom prst="rect">
            <a:avLst/>
          </a:prstGeom>
          <a:solidFill>
            <a:srgbClr val="E2211C"/>
          </a:solidFill>
          <a:ln w="12700">
            <a:solidFill>
              <a:srgbClr val="E2211C"/>
            </a:solidFill>
            <a:prstDash val="solid"/>
          </a:ln>
        </p:spPr>
      </p:sp>
      <p:sp>
        <p:nvSpPr>
          <p:cNvPr id="23" name="Text 21"/>
          <p:cNvSpPr txBox="1"/>
          <p:nvPr/>
        </p:nvSpPr>
        <p:spPr>
          <a:xfrm>
            <a:off x="9082735" y="2788920"/>
            <a:ext cx="2560320" cy="731520"/>
          </a:xfrm>
          <a:prstGeom prst="rect">
            <a:avLst/>
          </a:prstGeom>
          <a:noFill/>
          <a:ln/>
        </p:spPr>
        <p:txBody>
          <a:bodyPr wrap="square" lIns="0" tIns="0" rIns="0" bIns="0" rtlCol="0" anchor="t"/>
          <a:lstStyle/>
          <a:p>
            <a:pPr indent="0" marL="0">
              <a:buNone/>
            </a:pPr>
            <a:r>
              <a:rPr lang="en-US" sz="4000" dirty="0">
                <a:solidFill>
                  <a:srgbClr val="1B2D5C"/>
                </a:solidFill>
                <a:latin typeface="Arial" pitchFamily="34" charset="0"/>
                <a:ea typeface="Arial" pitchFamily="34" charset="-122"/>
                <a:cs typeface="Arial" pitchFamily="34" charset="-120"/>
              </a:rPr>
              <a:t>04</a:t>
            </a:r>
            <a:endParaRPr lang="en-US" sz="4000" dirty="0"/>
          </a:p>
        </p:txBody>
      </p:sp>
      <p:sp>
        <p:nvSpPr>
          <p:cNvPr id="24" name="Text 22"/>
          <p:cNvSpPr txBox="1"/>
          <p:nvPr/>
        </p:nvSpPr>
        <p:spPr>
          <a:xfrm>
            <a:off x="9082735" y="3611880"/>
            <a:ext cx="2560320" cy="256032"/>
          </a:xfrm>
          <a:prstGeom prst="rect">
            <a:avLst/>
          </a:prstGeom>
          <a:noFill/>
          <a:ln/>
        </p:spPr>
        <p:txBody>
          <a:bodyPr wrap="square" lIns="0" tIns="0" rIns="0" bIns="0" rtlCol="0" anchor="t"/>
          <a:lstStyle/>
          <a:p>
            <a:pPr indent="0" marL="0">
              <a:buNone/>
            </a:pPr>
            <a:r>
              <a:rPr lang="en-US" sz="1000" b="1" spc="100" kern="0" dirty="0">
                <a:solidFill>
                  <a:srgbClr val="4B5563"/>
                </a:solidFill>
                <a:latin typeface="Arial" pitchFamily="34" charset="0"/>
                <a:ea typeface="Arial" pitchFamily="34" charset="-122"/>
                <a:cs typeface="Arial" pitchFamily="34" charset="-120"/>
              </a:rPr>
              <a:t>FORTLAUFEND</a:t>
            </a:r>
            <a:endParaRPr lang="en-US" sz="1000" dirty="0"/>
          </a:p>
        </p:txBody>
      </p:sp>
      <p:sp>
        <p:nvSpPr>
          <p:cNvPr id="25" name="Text 23"/>
          <p:cNvSpPr txBox="1"/>
          <p:nvPr/>
        </p:nvSpPr>
        <p:spPr>
          <a:xfrm>
            <a:off x="9082735" y="3931920"/>
            <a:ext cx="2560320" cy="384048"/>
          </a:xfrm>
          <a:prstGeom prst="rect">
            <a:avLst/>
          </a:prstGeom>
          <a:noFill/>
          <a:ln/>
        </p:spPr>
        <p:txBody>
          <a:bodyPr wrap="square" lIns="0" tIns="0" rIns="0" bIns="0" rtlCol="0" anchor="t"/>
          <a:lstStyle/>
          <a:p>
            <a:pPr indent="0" marL="0">
              <a:buNone/>
            </a:pPr>
            <a:r>
              <a:rPr lang="en-US" sz="1800" b="1" dirty="0">
                <a:solidFill>
                  <a:srgbClr val="16181D"/>
                </a:solidFill>
                <a:latin typeface="Arial" pitchFamily="34" charset="0"/>
                <a:ea typeface="Arial" pitchFamily="34" charset="-122"/>
                <a:cs typeface="Arial" pitchFamily="34" charset="-120"/>
              </a:rPr>
              <a:t>Ablösung</a:t>
            </a:r>
            <a:endParaRPr lang="en-US" sz="1800" dirty="0"/>
          </a:p>
        </p:txBody>
      </p:sp>
      <p:sp>
        <p:nvSpPr>
          <p:cNvPr id="26" name="Text 24"/>
          <p:cNvSpPr txBox="1"/>
          <p:nvPr/>
        </p:nvSpPr>
        <p:spPr>
          <a:xfrm>
            <a:off x="9082735" y="4434840"/>
            <a:ext cx="2560320" cy="1737360"/>
          </a:xfrm>
          <a:prstGeom prst="rect">
            <a:avLst/>
          </a:prstGeom>
          <a:noFill/>
          <a:ln/>
        </p:spPr>
        <p:txBody>
          <a:bodyPr wrap="square" lIns="0" tIns="0" rIns="0" bIns="0" rtlCol="0" anchor="t"/>
          <a:lstStyle/>
          <a:p>
            <a:pPr indent="0" marL="0">
              <a:lnSpc>
                <a:spcPct val="112000"/>
              </a:lnSpc>
              <a:buNone/>
            </a:pPr>
            <a:r>
              <a:rPr lang="en-US" sz="1400" dirty="0">
                <a:solidFill>
                  <a:srgbClr val="16181D"/>
                </a:solidFill>
                <a:latin typeface="Arial" pitchFamily="34" charset="0"/>
                <a:ea typeface="Arial" pitchFamily="34" charset="-122"/>
                <a:cs typeface="Arial" pitchFamily="34" charset="-120"/>
              </a:rPr>
              <a:t>Weitere Fachbereiche, Zeitschriften, Formulare und Seminare; Schulung der Redaktionen; Abschaltung von Pimcore 6.</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188720"/>
            <a:ext cx="11094415" cy="731520"/>
          </a:xfrm>
          <a:prstGeom prst="rect">
            <a:avLst/>
          </a:prstGeom>
          <a:noFill/>
          <a:ln/>
        </p:spPr>
        <p:txBody>
          <a:bodyPr wrap="square" lIns="0" tIns="0" rIns="0" bIns="0" rtlCol="0" anchor="t"/>
          <a:lstStyle/>
          <a:p>
            <a:pPr algn="ctr" indent="0" marL="0">
              <a:buNone/>
            </a:pPr>
            <a:r>
              <a:rPr lang="en-US" sz="4000" dirty="0">
                <a:solidFill>
                  <a:srgbClr val="16181D"/>
                </a:solidFill>
                <a:latin typeface="Arial" pitchFamily="34" charset="0"/>
                <a:ea typeface="Arial" pitchFamily="34" charset="-122"/>
                <a:cs typeface="Arial" pitchFamily="34" charset="-120"/>
              </a:rPr>
              <a:t>NÄCHSTER SCHRITT</a:t>
            </a:r>
            <a:endParaRPr lang="en-US" sz="4000" dirty="0"/>
          </a:p>
        </p:txBody>
      </p:sp>
      <p:sp>
        <p:nvSpPr>
          <p:cNvPr id="3" name="Text 1"/>
          <p:cNvSpPr txBox="1"/>
          <p:nvPr/>
        </p:nvSpPr>
        <p:spPr>
          <a:xfrm>
            <a:off x="2194560" y="2194560"/>
            <a:ext cx="7802575" cy="1371600"/>
          </a:xfrm>
          <a:prstGeom prst="rect">
            <a:avLst/>
          </a:prstGeom>
          <a:noFill/>
          <a:ln/>
        </p:spPr>
        <p:txBody>
          <a:bodyPr wrap="square" lIns="0" tIns="0" rIns="0" bIns="0" rtlCol="0" anchor="t"/>
          <a:lstStyle/>
          <a:p>
            <a:pPr algn="ctr" indent="0" marL="0">
              <a:lnSpc>
                <a:spcPct val="115000"/>
              </a:lnSpc>
              <a:buNone/>
            </a:pPr>
            <a:r>
              <a:rPr lang="en-US" sz="1700" dirty="0">
                <a:solidFill>
                  <a:srgbClr val="22303C"/>
                </a:solidFill>
                <a:latin typeface="Arial" pitchFamily="34" charset="0"/>
                <a:ea typeface="Arial" pitchFamily="34" charset="-122"/>
                <a:cs typeface="Arial" pitchFamily="34" charset="-120"/>
              </a:rPr>
              <a:t>Ein halbtägiger Workshop mit Lektorat, Herstellung, Vertrieb und IT – danach ein Pilot mit dem Fachbereich Brandschutz auf echten Titeldaten aus Pimcore 6. Das Ergebnis ist eine belastbare Grundlage für die Entscheidung zwischen Upgrade und Wechsel.</a:t>
            </a:r>
            <a:endParaRPr lang="en-US" sz="1700" dirty="0"/>
          </a:p>
        </p:txBody>
      </p:sp>
      <p:sp>
        <p:nvSpPr>
          <p:cNvPr id="4" name="Shape 2"/>
          <p:cNvSpPr/>
          <p:nvPr/>
        </p:nvSpPr>
        <p:spPr>
          <a:xfrm>
            <a:off x="4175608" y="3886200"/>
            <a:ext cx="3840480" cy="731520"/>
          </a:xfrm>
          <a:prstGeom prst="rect">
            <a:avLst/>
          </a:prstGeom>
          <a:solidFill>
            <a:srgbClr val="1B2D5C"/>
          </a:solidFill>
          <a:ln w="12700">
            <a:solidFill>
              <a:srgbClr val="1B2D5C"/>
            </a:solidFill>
            <a:prstDash val="solid"/>
          </a:ln>
        </p:spPr>
      </p:sp>
      <p:sp>
        <p:nvSpPr>
          <p:cNvPr id="5" name="Text 3"/>
          <p:cNvSpPr txBox="1"/>
          <p:nvPr/>
        </p:nvSpPr>
        <p:spPr>
          <a:xfrm>
            <a:off x="4175608" y="3886200"/>
            <a:ext cx="3840480" cy="731520"/>
          </a:xfrm>
          <a:prstGeom prst="rect">
            <a:avLst/>
          </a:prstGeom>
          <a:noFill/>
          <a:ln/>
        </p:spPr>
        <p:txBody>
          <a:bodyPr wrap="square" lIns="0" tIns="0" rIns="0" bIns="0" rtlCol="0" anchor="ctr"/>
          <a:lstStyle/>
          <a:p>
            <a:pPr algn="ctr" indent="0" marL="0">
              <a:buNone/>
            </a:pPr>
            <a:r>
              <a:rPr lang="en-US" sz="2000" dirty="0">
                <a:solidFill>
                  <a:srgbClr val="FFFFFF"/>
                </a:solidFill>
                <a:latin typeface="Arial" pitchFamily="34" charset="0"/>
                <a:ea typeface="Arial" pitchFamily="34" charset="-122"/>
                <a:cs typeface="Arial" pitchFamily="34" charset="-120"/>
              </a:rPr>
              <a:t>Workshop vereinbaren   →</a:t>
            </a:r>
            <a:endParaRPr lang="en-US" sz="2000" dirty="0"/>
          </a:p>
        </p:txBody>
      </p:sp>
      <p:sp>
        <p:nvSpPr>
          <p:cNvPr id="6" name="Text 4"/>
          <p:cNvSpPr txBox="1"/>
          <p:nvPr/>
        </p:nvSpPr>
        <p:spPr>
          <a:xfrm>
            <a:off x="548640" y="5760720"/>
            <a:ext cx="11094415" cy="731520"/>
          </a:xfrm>
          <a:prstGeom prst="rect">
            <a:avLst/>
          </a:prstGeom>
          <a:noFill/>
          <a:ln/>
        </p:spPr>
        <p:txBody>
          <a:bodyPr wrap="square" lIns="0" tIns="0" rIns="0" bIns="0" rtlCol="0" anchor="t"/>
          <a:lstStyle/>
          <a:p>
            <a:pPr algn="ctr" indent="0" marL="0">
              <a:buNone/>
            </a:pPr>
            <a:r>
              <a:rPr lang="en-US" sz="900" dirty="0">
                <a:solidFill>
                  <a:srgbClr val="4B5563"/>
                </a:solidFill>
                <a:latin typeface="Arial" pitchFamily="34" charset="0"/>
                <a:ea typeface="Arial" pitchFamily="34" charset="-122"/>
                <a:cs typeface="Arial" pitchFamily="34" charset="-120"/>
              </a:rPr>
              <a:t>Entscheidungsvorlage der incoxx GmbH, Stand September 2026. Keine Veröffentlichung der W. Kohlhammer GmbH; „Kohlhammer“ ist eine Marke der W. Kohlhammer GmbH. Titelbeispiel nach den im Kohlhammer-Shop angezeigten Angaben. Angaben zu Pimcore nach öffentlich verfügbaren Informationen (pimcore.com: Blog „Pimcore says goodbye to GPL … POCL“, Community Edition, Enterprise Open Core); aktuelle Lizenzkonditionen vor einer Entscheidung beim Hersteller prüfen.</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C6E6E3"/>
        </a:solidFill>
      </p:bgPr>
    </p:bg>
    <p:spTree>
      <p:nvGrpSpPr>
        <p:cNvPr id="1" name=""/>
        <p:cNvGrpSpPr/>
        <p:nvPr/>
      </p:nvGrpSpPr>
      <p:grpSpPr>
        <a:xfrm>
          <a:off x="0" y="0"/>
          <a:ext cx="0" cy="0"/>
          <a:chOff x="0" y="0"/>
          <a:chExt cx="0" cy="0"/>
        </a:xfrm>
      </p:grpSpPr>
      <p:sp>
        <p:nvSpPr>
          <p:cNvPr id="2" name="Shape 0"/>
          <p:cNvSpPr/>
          <p:nvPr/>
        </p:nvSpPr>
        <p:spPr>
          <a:xfrm>
            <a:off x="0" y="0"/>
            <a:ext cx="12191695" cy="868680"/>
          </a:xfrm>
          <a:prstGeom prst="rect">
            <a:avLst/>
          </a:prstGeom>
          <a:solidFill>
            <a:srgbClr val="000E2F"/>
          </a:solidFill>
          <a:ln w="12700">
            <a:solidFill>
              <a:srgbClr val="000E2F"/>
            </a:solidFill>
            <a:prstDash val="solid"/>
          </a:ln>
        </p:spPr>
      </p:sp>
      <p:sp>
        <p:nvSpPr>
          <p:cNvPr id="3" name="Text 1"/>
          <p:cNvSpPr txBox="1"/>
          <p:nvPr/>
        </p:nvSpPr>
        <p:spPr>
          <a:xfrm>
            <a:off x="548640" y="0"/>
            <a:ext cx="7315200" cy="86868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anyPIM</a:t>
            </a:r>
            <a:pPr indent="0" marL="0">
              <a:buNone/>
            </a:pPr>
            <a:r>
              <a:rPr lang="en-US" sz="2400" dirty="0">
                <a:solidFill>
                  <a:srgbClr val="FFFFFF"/>
                </a:solidFill>
                <a:latin typeface="Arial" pitchFamily="34" charset="0"/>
                <a:ea typeface="Arial" pitchFamily="34" charset="-122"/>
                <a:cs typeface="Arial" pitchFamily="34" charset="-120"/>
              </a:rPr>
              <a:t>  für Kohlhammer</a:t>
            </a:r>
            <a:endParaRPr lang="en-US" sz="2400" dirty="0"/>
          </a:p>
        </p:txBody>
      </p:sp>
      <p:sp>
        <p:nvSpPr>
          <p:cNvPr id="4" name="Text 2"/>
          <p:cNvSpPr txBox="1"/>
          <p:nvPr/>
        </p:nvSpPr>
        <p:spPr>
          <a:xfrm>
            <a:off x="2834640" y="1325880"/>
            <a:ext cx="7315200" cy="914400"/>
          </a:xfrm>
          <a:prstGeom prst="rect">
            <a:avLst/>
          </a:prstGeom>
          <a:noFill/>
          <a:ln/>
        </p:spPr>
        <p:txBody>
          <a:bodyPr wrap="square" lIns="0" tIns="0" rIns="0" bIns="0" rtlCol="0" anchor="t"/>
          <a:lstStyle/>
          <a:p>
            <a:pPr indent="0" marL="0">
              <a:buNone/>
            </a:pPr>
            <a:r>
              <a:rPr lang="en-US" sz="5800" dirty="0">
                <a:solidFill>
                  <a:srgbClr val="2B3050"/>
                </a:solidFill>
                <a:latin typeface="Arial" pitchFamily="34" charset="0"/>
                <a:ea typeface="Arial" pitchFamily="34" charset="-122"/>
                <a:cs typeface="Arial" pitchFamily="34" charset="-120"/>
              </a:rPr>
              <a:t>Befähigung ist</a:t>
            </a:r>
            <a:endParaRPr lang="en-US" sz="5800" dirty="0"/>
          </a:p>
        </p:txBody>
      </p:sp>
      <p:sp>
        <p:nvSpPr>
          <p:cNvPr id="5" name="Text 3"/>
          <p:cNvSpPr txBox="1"/>
          <p:nvPr/>
        </p:nvSpPr>
        <p:spPr>
          <a:xfrm>
            <a:off x="2286000" y="1965960"/>
            <a:ext cx="7315200" cy="2103120"/>
          </a:xfrm>
          <a:prstGeom prst="rect">
            <a:avLst/>
          </a:prstGeom>
          <a:noFill/>
          <a:ln/>
        </p:spPr>
        <p:txBody>
          <a:bodyPr wrap="square" lIns="0" tIns="0" rIns="0" bIns="0" rtlCol="0" anchor="t"/>
          <a:lstStyle/>
          <a:p>
            <a:pPr indent="0" marL="0">
              <a:buNone/>
            </a:pPr>
            <a:r>
              <a:rPr lang="en-US" sz="15000" dirty="0">
                <a:solidFill>
                  <a:srgbClr val="2B3050"/>
                </a:solidFill>
                <a:latin typeface="Arial" pitchFamily="34" charset="0"/>
                <a:ea typeface="Arial" pitchFamily="34" charset="-122"/>
                <a:cs typeface="Arial" pitchFamily="34" charset="-120"/>
              </a:rPr>
              <a:t>sexy!</a:t>
            </a:r>
            <a:endParaRPr lang="en-US" sz="15000" dirty="0"/>
          </a:p>
        </p:txBody>
      </p:sp>
      <p:sp>
        <p:nvSpPr>
          <p:cNvPr id="6" name="Shape 4"/>
          <p:cNvSpPr/>
          <p:nvPr/>
        </p:nvSpPr>
        <p:spPr>
          <a:xfrm>
            <a:off x="548640" y="5056632"/>
            <a:ext cx="182880" cy="182880"/>
          </a:xfrm>
          <a:prstGeom prst="rect">
            <a:avLst/>
          </a:prstGeom>
          <a:solidFill>
            <a:srgbClr val="000E2F"/>
          </a:solidFill>
          <a:ln w="12700">
            <a:solidFill>
              <a:srgbClr val="000E2F"/>
            </a:solidFill>
            <a:prstDash val="solid"/>
          </a:ln>
        </p:spPr>
      </p:sp>
      <p:sp>
        <p:nvSpPr>
          <p:cNvPr id="7" name="Text 5"/>
          <p:cNvSpPr txBox="1"/>
          <p:nvPr/>
        </p:nvSpPr>
        <p:spPr>
          <a:xfrm>
            <a:off x="914400" y="4983480"/>
            <a:ext cx="3154680" cy="365760"/>
          </a:xfrm>
          <a:prstGeom prst="rect">
            <a:avLst/>
          </a:prstGeom>
          <a:noFill/>
          <a:ln/>
        </p:spPr>
        <p:txBody>
          <a:bodyPr wrap="square" lIns="0" tIns="0" rIns="0" bIns="0" rtlCol="0" anchor="t"/>
          <a:lstStyle/>
          <a:p>
            <a:pPr indent="0" marL="0">
              <a:buNone/>
            </a:pPr>
            <a:r>
              <a:rPr lang="en-US" sz="1700" b="1" dirty="0">
                <a:solidFill>
                  <a:srgbClr val="000E2F"/>
                </a:solidFill>
                <a:latin typeface="Arial" pitchFamily="34" charset="0"/>
                <a:ea typeface="Arial" pitchFamily="34" charset="-122"/>
                <a:cs typeface="Arial" pitchFamily="34" charset="-120"/>
              </a:rPr>
              <a:t>Mitgestalten</a:t>
            </a:r>
            <a:endParaRPr lang="en-US" sz="1700" dirty="0"/>
          </a:p>
        </p:txBody>
      </p:sp>
      <p:sp>
        <p:nvSpPr>
          <p:cNvPr id="8" name="Text 6"/>
          <p:cNvSpPr txBox="1"/>
          <p:nvPr/>
        </p:nvSpPr>
        <p:spPr>
          <a:xfrm>
            <a:off x="914400" y="5394960"/>
            <a:ext cx="3154680" cy="822960"/>
          </a:xfrm>
          <a:prstGeom prst="rect">
            <a:avLst/>
          </a:prstGeom>
          <a:noFill/>
          <a:ln/>
        </p:spPr>
        <p:txBody>
          <a:bodyPr wrap="square" lIns="0" tIns="0" rIns="0" bIns="0" rtlCol="0" anchor="t"/>
          <a:lstStyle/>
          <a:p>
            <a:pPr indent="0" marL="0">
              <a:lnSpc>
                <a:spcPct val="110000"/>
              </a:lnSpc>
              <a:buNone/>
            </a:pPr>
            <a:r>
              <a:rPr lang="en-US" sz="1300" dirty="0">
                <a:solidFill>
                  <a:srgbClr val="22303C"/>
                </a:solidFill>
                <a:latin typeface="Arial" pitchFamily="34" charset="0"/>
                <a:ea typeface="Arial" pitchFamily="34" charset="-122"/>
                <a:cs typeface="Arial" pitchFamily="34" charset="-120"/>
              </a:rPr>
              <a:t>Kohlhammer bringt Anforderungen ein – sie werden Standard im Produkt.</a:t>
            </a:r>
            <a:endParaRPr lang="en-US" sz="1300" dirty="0"/>
          </a:p>
        </p:txBody>
      </p:sp>
      <p:sp>
        <p:nvSpPr>
          <p:cNvPr id="9" name="Shape 7"/>
          <p:cNvSpPr/>
          <p:nvPr/>
        </p:nvSpPr>
        <p:spPr>
          <a:xfrm>
            <a:off x="4335628" y="5056632"/>
            <a:ext cx="182880" cy="182880"/>
          </a:xfrm>
          <a:prstGeom prst="rect">
            <a:avLst/>
          </a:prstGeom>
          <a:solidFill>
            <a:srgbClr val="000E2F"/>
          </a:solidFill>
          <a:ln w="12700">
            <a:solidFill>
              <a:srgbClr val="000E2F"/>
            </a:solidFill>
            <a:prstDash val="solid"/>
          </a:ln>
        </p:spPr>
      </p:sp>
      <p:sp>
        <p:nvSpPr>
          <p:cNvPr id="10" name="Text 8"/>
          <p:cNvSpPr txBox="1"/>
          <p:nvPr/>
        </p:nvSpPr>
        <p:spPr>
          <a:xfrm>
            <a:off x="4701388" y="4983480"/>
            <a:ext cx="3154680" cy="365760"/>
          </a:xfrm>
          <a:prstGeom prst="rect">
            <a:avLst/>
          </a:prstGeom>
          <a:noFill/>
          <a:ln/>
        </p:spPr>
        <p:txBody>
          <a:bodyPr wrap="square" lIns="0" tIns="0" rIns="0" bIns="0" rtlCol="0" anchor="t"/>
          <a:lstStyle/>
          <a:p>
            <a:pPr indent="0" marL="0">
              <a:buNone/>
            </a:pPr>
            <a:r>
              <a:rPr lang="en-US" sz="1700" b="1" dirty="0">
                <a:solidFill>
                  <a:srgbClr val="000E2F"/>
                </a:solidFill>
                <a:latin typeface="Arial" pitchFamily="34" charset="0"/>
                <a:ea typeface="Arial" pitchFamily="34" charset="-122"/>
                <a:cs typeface="Arial" pitchFamily="34" charset="-120"/>
              </a:rPr>
              <a:t>Verstehen</a:t>
            </a:r>
            <a:endParaRPr lang="en-US" sz="1700" dirty="0"/>
          </a:p>
        </p:txBody>
      </p:sp>
      <p:sp>
        <p:nvSpPr>
          <p:cNvPr id="11" name="Text 9"/>
          <p:cNvSpPr txBox="1"/>
          <p:nvPr/>
        </p:nvSpPr>
        <p:spPr>
          <a:xfrm>
            <a:off x="4701388" y="5394960"/>
            <a:ext cx="3154680" cy="822960"/>
          </a:xfrm>
          <a:prstGeom prst="rect">
            <a:avLst/>
          </a:prstGeom>
          <a:noFill/>
          <a:ln/>
        </p:spPr>
        <p:txBody>
          <a:bodyPr wrap="square" lIns="0" tIns="0" rIns="0" bIns="0" rtlCol="0" anchor="t"/>
          <a:lstStyle/>
          <a:p>
            <a:pPr indent="0" marL="0">
              <a:lnSpc>
                <a:spcPct val="110000"/>
              </a:lnSpc>
              <a:buNone/>
            </a:pPr>
            <a:r>
              <a:rPr lang="en-US" sz="1300" dirty="0">
                <a:solidFill>
                  <a:srgbClr val="22303C"/>
                </a:solidFill>
                <a:latin typeface="Arial" pitchFamily="34" charset="0"/>
                <a:ea typeface="Arial" pitchFamily="34" charset="-122"/>
                <a:cs typeface="Arial" pitchFamily="34" charset="-120"/>
              </a:rPr>
              <a:t>Mit Claude und GitHub bleibt nachvollziehbar, was das System tut – ohne Code zu lesen.</a:t>
            </a:r>
            <a:endParaRPr lang="en-US" sz="1300" dirty="0"/>
          </a:p>
        </p:txBody>
      </p:sp>
      <p:sp>
        <p:nvSpPr>
          <p:cNvPr id="12" name="Shape 10"/>
          <p:cNvSpPr/>
          <p:nvPr/>
        </p:nvSpPr>
        <p:spPr>
          <a:xfrm>
            <a:off x="8122615" y="5056632"/>
            <a:ext cx="182880" cy="182880"/>
          </a:xfrm>
          <a:prstGeom prst="rect">
            <a:avLst/>
          </a:prstGeom>
          <a:solidFill>
            <a:srgbClr val="000E2F"/>
          </a:solidFill>
          <a:ln w="12700">
            <a:solidFill>
              <a:srgbClr val="000E2F"/>
            </a:solidFill>
            <a:prstDash val="solid"/>
          </a:ln>
        </p:spPr>
      </p:sp>
      <p:sp>
        <p:nvSpPr>
          <p:cNvPr id="13" name="Text 11"/>
          <p:cNvSpPr txBox="1"/>
          <p:nvPr/>
        </p:nvSpPr>
        <p:spPr>
          <a:xfrm>
            <a:off x="8488375" y="4983480"/>
            <a:ext cx="3154680" cy="365760"/>
          </a:xfrm>
          <a:prstGeom prst="rect">
            <a:avLst/>
          </a:prstGeom>
          <a:noFill/>
          <a:ln/>
        </p:spPr>
        <p:txBody>
          <a:bodyPr wrap="square" lIns="0" tIns="0" rIns="0" bIns="0" rtlCol="0" anchor="t"/>
          <a:lstStyle/>
          <a:p>
            <a:pPr indent="0" marL="0">
              <a:buNone/>
            </a:pPr>
            <a:r>
              <a:rPr lang="en-US" sz="1700" b="1" dirty="0">
                <a:solidFill>
                  <a:srgbClr val="000E2F"/>
                </a:solidFill>
                <a:latin typeface="Arial" pitchFamily="34" charset="0"/>
                <a:ea typeface="Arial" pitchFamily="34" charset="-122"/>
                <a:cs typeface="Arial" pitchFamily="34" charset="-120"/>
              </a:rPr>
              <a:t>Unabhängig bleiben</a:t>
            </a:r>
            <a:endParaRPr lang="en-US" sz="1700" dirty="0"/>
          </a:p>
        </p:txBody>
      </p:sp>
      <p:sp>
        <p:nvSpPr>
          <p:cNvPr id="14" name="Text 12"/>
          <p:cNvSpPr txBox="1"/>
          <p:nvPr/>
        </p:nvSpPr>
        <p:spPr>
          <a:xfrm>
            <a:off x="8488375" y="5394960"/>
            <a:ext cx="3154680" cy="822960"/>
          </a:xfrm>
          <a:prstGeom prst="rect">
            <a:avLst/>
          </a:prstGeom>
          <a:noFill/>
          <a:ln/>
        </p:spPr>
        <p:txBody>
          <a:bodyPr wrap="square" lIns="0" tIns="0" rIns="0" bIns="0" rtlCol="0" anchor="t"/>
          <a:lstStyle/>
          <a:p>
            <a:pPr indent="0" marL="0">
              <a:lnSpc>
                <a:spcPct val="110000"/>
              </a:lnSpc>
              <a:buNone/>
            </a:pPr>
            <a:r>
              <a:rPr lang="en-US" sz="1300" dirty="0">
                <a:solidFill>
                  <a:srgbClr val="22303C"/>
                </a:solidFill>
                <a:latin typeface="Arial" pitchFamily="34" charset="0"/>
                <a:ea typeface="Arial" pitchFamily="34" charset="-122"/>
                <a:cs typeface="Arial" pitchFamily="34" charset="-120"/>
              </a:rPr>
              <a:t>Wissen im Repository, offener Code, schlanker Betrieb.</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anyPIM für Kohlhammer – Pimcore-Upgrade oder Wechsel</dc:title>
  <dc:subject>PptxGenJS Presentation</dc:subject>
  <dc:creator>incoxx GmbH</dc:creator>
  <cp:lastModifiedBy>incoxx GmbH</cp:lastModifiedBy>
  <cp:revision>1</cp:revision>
  <dcterms:created xsi:type="dcterms:W3CDTF">2026-09-28T14:38:35Z</dcterms:created>
  <dcterms:modified xsi:type="dcterms:W3CDTF">2026-09-28T14:38:35Z</dcterms:modified>
</cp:coreProperties>
</file>