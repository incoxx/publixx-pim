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incoxx betreut Kohlhammer seit 25 Jahren; die Titeldaten liegen heute in Pimcore 6, eingeführt und betrieben von incoxx. Pimcore 6 ist am Ende seines Lebenszyklus. Heute geht es um die Frage: Upgrade auf das aktuelle Pimcore oder Wechsel auf anyPIM. Wir stellen beide Wege sachlich gegenüber und begründen unsere Empfehlung.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Offen ansprechen: incoxx hat ein Eigeninteresse, da anyPIM unser Produkt ist. Gleichzeitig kennen wir Pimcore bei Kohlhammer besser als jeder andere Partner und könnten das Upgrade ebenso umsetzen. anyPIM hat ebenfalls Enterprise-Module; lizenziert wird aber nur, was Kohlhammer tatsächlich nutzt. Die Empfehlung folgt aus Aufwand, Lizenz und Funktionsabdeckung.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Programm kennen wir aus 25 Jahren Zusammenarbeit; die Beispiele stammen aus kohlhammer.de und dem Shop. Entscheidend: ein Werk mit mehreren Ausgaben, parallele Ordnungen (Fachbereich, Reihe, Handel) und ein sehr gemischtes Programm.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Realer Titel aus dem Kohlhammer-Shop. In anyPIM ist das Werk das Elternprodukt, die drei Ausgaben sind Varianten. Vererbung ist pro Attribut steuerbar. Der Titel hängt in einer Master-Hierarchie und parallel in beliebig vielen Output-Hierarchien – ohne Dubletten. „Mehr aus der Reihe“ ergibt sich direkt aus der Reihen-Hierarchie.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Weiterbetrieb von Pimcore 6 ist nur eine Übergangslösung. Die echte Wahl liegt zwischen Upgrade und Wechsel. Beide sind machbar – sie unterscheiden sich in Aufwand, laufendem Wartungsaufwand, Lizenzkosten und Zukunftssicherheit.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Kohlhammer ist auf Pimcore 6, Pimcore selbst ist bei 2026.2, 2026.3 ist angekündigt. Der Weg führt über Pimcore 10 und 11 bis zur aktuellen Version – und danach muss jedes weitere Release nachgezogen werden. Seit 2025.1 gilt die POCL: kostenfrei nur bis 5 Mio. € Jahresumsatz (Quelle: pimcore.com). Konkrete Lizenzkonditionen vor der Entscheidung beim Hersteller anfragen.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der Stack, den Pimcore in aktuellen Versionen typischerweise mitbringt: Container-Betrieb, OpenSearch als Pflicht-Suchindex, Messenger-Worker und lizenzierte Enterprise-Erweiterungen, die Kohlhammer nur eingeschränkt nutzt. Rechts anyPIM: nativer Betrieb auf einem Linux-Server, Updates per Skript. Semantische Suche über Meilisearch ist optional zuschaltbar.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Kacheln spiegeln die Service-Navigation von kohlhammer.de. Alles hier Genannte ist heute im Produkt vorhanden; ONIX ist bewusst ausgeklammert und gehört zum Projektanteil (Folie „Auch mit anyPIM gibt es ein Projekt“).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Zehn Argumente, jedes an einer vorhandenen Funktion festgemacht. Für Kohlhammer besonders relevant: Werk/Ausgabe-Vererbung, parallele Klassifikationen, Print aus PIM-Daten und der schlanke Betrieb mit Lizenz nach Nutzung.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Bewusst offen: Auch der Wechsel zu anyPIM ist ein Projekt. Die Kohlhammer-Funktionsliste zeigt drei Gruppen – was heute Standard ist, was eingerichtet wird, und was wir bauen. Alles, was wir bauen, wird Teil des Produkts (z. B. EasyCatalog- und ONIX-Export als Standardformate), nicht eine Kundenerweiterung. Das Projekt gibt es auch beim Pimcore-Upgrade – dort als Portierung der Eigenentwicklungen, die danach bei jedem Release wieder gepflegt werden müssen. Herstellung, Honorare und Rechte bleiben in der Verlagssoftware. Ärzteshop und Compu-Anwendung im Workshop klären.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Erster Teil des Vergleichs: Weg, laufender Betrieb und Lizenz. Pimcore punktet bei der Datenkontinuität, anyPIM bei laufenden Updates, Betriebskomplexität und einem Lizenzmodell, das nur genutzte Module berechnet.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Zweiter Teil: Funktionen. Pimcore ist bei DAM, CMS und Ökosystem breiter aufgestellt. Für die Kernaufgabe Titeldaten liegt anyPIM bei Datenmodell, Klassifikationen und Print vorn.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Bilanz zählt nicht Kriterien, sondern gewichtet nach Wirkung. Pimcores Vorteile – Datenkontinuität beim Umstieg und Plattformbreite – wirken einmalig bzw. nur, wenn Kohlhammer eine Plattform-Konsolidierung will. anyPIMs Vorteile – Updates, Betrieb, Lizenz nach Nutzung und Kohlhammer-Funktionen als Standard – wirken jedes Jahr. Die Plattformfrage offen ansprechen.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Kernbotschaft: Bei anyPIM gestaltet Kohlhammer das Produkt mit. Die vier Säulen machen das möglich: offener Code, KI-Anbindung über MCP und KI-Dienste, klare Erweiterungspunkte und eine Dokumentation, die Menschen und KI-Agenten gleichermaßen nutzen. Was Kohlhammer braucht, wird Standard – und bleibt es bei jedem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entwickeln anyPIM mit KI (Claude Code). Die Regeln dafür liegen im Repository – etwa wie ein neues Exportformat gebaut wird – und gelten für Menschen und KI gleichermaßen. Kohlhammer muss dafür keinen Code lesen: Wünsche werden in Fachsprache formuliert, jede Änderung wird von incoxx geprüft und als nachvollziehbarer Pull Request dokumentiert. Mit Zugang zu Claude und GitHub kann Kohlhammer selbst Fragen zum System stellen und Änderungen verfolgen. Das senkt das Risiko: Das Wissen ist nicht an einzelne Personen gebunden.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Fahrplan entspricht dem Dokument „Projektablauf“. Pimcore 6 bleibt bis zur Abnahme durch alle Abteilungen führend; anyPIM wird automatisch nachgezogen, es gibt keine Doppelpflege. Der Pilot mit dem Fachbereich Brandschutz liefert eine belastbare Grundlage auf echten Daten. Die Umstellung legen wir bewusst außerhalb der Vorschau-Produktion und der Messezeiten.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 abschließen: Terminvorschlag für den Auftakt nach der Buchmesse. Der Pilot schafft Sicherheit auf echten Daten; die Entscheidung fällt danach mit belastbarer Aufwandsschätzung und Angebot. Kosten offen ansprechen, keine Zahlen ohne Bestandsaufnahme.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Schlussfolgerung in Anlehnung an den Kohlhammer-Claim „Wissen ist sexy!“: Befähigung ist sexy. Kohlhammer bekommt nicht nur ein neues System, sondern die Fähigkeit, es mitzugestalten, zu verstehen und unabhängig zu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148840" y="1417320"/>
            <a:ext cx="7315200" cy="914400"/>
          </a:xfrm>
          <a:prstGeom prst="rect">
            <a:avLst/>
          </a:prstGeom>
          <a:noFill/>
          <a:ln/>
        </p:spPr>
        <p:txBody>
          <a:bodyPr wrap="square" lIns="0" tIns="0" rIns="0" bIns="0" rtlCol="0" anchor="t"/>
          <a:lstStyle/>
          <a:p>
            <a:pPr indent="0" marL="0">
              <a:buNone/>
            </a:pPr>
            <a:r>
              <a:rPr lang="en-US" sz="6000" dirty="0">
                <a:solidFill>
                  <a:srgbClr val="2B3050"/>
                </a:solidFill>
                <a:latin typeface="Arial" pitchFamily="34" charset="0"/>
                <a:ea typeface="Arial" pitchFamily="34" charset="-122"/>
                <a:cs typeface="Arial" pitchFamily="34" charset="-120"/>
              </a:rPr>
              <a:t>Wissen braucht</a:t>
            </a:r>
            <a:endParaRPr lang="en-US" sz="6000" dirty="0"/>
          </a:p>
        </p:txBody>
      </p:sp>
      <p:sp>
        <p:nvSpPr>
          <p:cNvPr id="5" name="Text 3"/>
          <p:cNvSpPr txBox="1"/>
          <p:nvPr/>
        </p:nvSpPr>
        <p:spPr>
          <a:xfrm>
            <a:off x="1417320" y="2194560"/>
            <a:ext cx="9144000" cy="1737360"/>
          </a:xfrm>
          <a:prstGeom prst="rect">
            <a:avLst/>
          </a:prstGeom>
          <a:noFill/>
          <a:ln/>
        </p:spPr>
        <p:txBody>
          <a:bodyPr wrap="square" lIns="0" tIns="0" rIns="0" bIns="0" rtlCol="0" anchor="t"/>
          <a:lstStyle/>
          <a:p>
            <a:pPr indent="0" marL="0">
              <a:buNone/>
            </a:pPr>
            <a:r>
              <a:rPr lang="en-US" sz="12400" dirty="0">
                <a:solidFill>
                  <a:srgbClr val="2B3050"/>
                </a:solidFill>
                <a:latin typeface="Arial" pitchFamily="34" charset="0"/>
                <a:ea typeface="Arial" pitchFamily="34" charset="-122"/>
                <a:cs typeface="Arial" pitchFamily="34" charset="-120"/>
              </a:rPr>
              <a:t>Struktur.</a:t>
            </a:r>
            <a:endParaRPr lang="en-US" sz="12400" dirty="0"/>
          </a:p>
        </p:txBody>
      </p:sp>
      <p:sp>
        <p:nvSpPr>
          <p:cNvPr id="6" name="Text 4"/>
          <p:cNvSpPr txBox="1"/>
          <p:nvPr/>
        </p:nvSpPr>
        <p:spPr>
          <a:xfrm>
            <a:off x="548640" y="4480560"/>
            <a:ext cx="11094415" cy="548640"/>
          </a:xfrm>
          <a:prstGeom prst="rect">
            <a:avLst/>
          </a:prstGeom>
          <a:noFill/>
          <a:ln/>
        </p:spPr>
        <p:txBody>
          <a:bodyPr wrap="square" lIns="0" tIns="0" rIns="0" bIns="0" rtlCol="0" anchor="t"/>
          <a:lstStyle/>
          <a:p>
            <a:pPr indent="0" marL="0">
              <a:buNone/>
            </a:pPr>
            <a:r>
              <a:rPr lang="en-US" sz="2800" b="1" dirty="0">
                <a:solidFill>
                  <a:srgbClr val="000E2F"/>
                </a:solidFill>
                <a:latin typeface="Arial" pitchFamily="34" charset="0"/>
                <a:ea typeface="Arial" pitchFamily="34" charset="-122"/>
                <a:cs typeface="Arial" pitchFamily="34" charset="-120"/>
              </a:rPr>
              <a:t>Pimcore-Upgrade oder Wechsel zu anyPIM</a:t>
            </a:r>
            <a:endParaRPr lang="en-US" sz="2800" dirty="0"/>
          </a:p>
        </p:txBody>
      </p:sp>
      <p:sp>
        <p:nvSpPr>
          <p:cNvPr id="7" name="Text 5"/>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500" dirty="0">
                <a:solidFill>
                  <a:srgbClr val="1B2D5C"/>
                </a:solidFill>
                <a:latin typeface="Arial" pitchFamily="34" charset="0"/>
                <a:ea typeface="Arial" pitchFamily="34" charset="-122"/>
                <a:cs typeface="Arial" pitchFamily="34" charset="-120"/>
              </a:rPr>
              <a:t>Entscheidungsvorlage für die W. Kohlhammer GmbH  ·  incoxx GmbH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25 JAHRE PARTNER – UND EINE EHRLICHE EMPFEHLUNG</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Wir können beide Wege gehen. Deshalb sagen wir offen, welchen wir empfehlen – und warum.</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2</a:t>
            </a:r>
            <a:endParaRPr lang="en-US" sz="900" dirty="0"/>
          </a:p>
        </p:txBody>
      </p:sp>
      <p:sp>
        <p:nvSpPr>
          <p:cNvPr id="6" name="Shape 4"/>
          <p:cNvSpPr/>
          <p:nvPr/>
        </p:nvSpPr>
        <p:spPr>
          <a:xfrm>
            <a:off x="548640" y="1645920"/>
            <a:ext cx="4023360" cy="4434840"/>
          </a:xfrm>
          <a:prstGeom prst="rect">
            <a:avLst/>
          </a:prstGeom>
          <a:solidFill>
            <a:srgbClr val="000E2F"/>
          </a:solidFill>
          <a:ln w="12700">
            <a:solidFill>
              <a:srgbClr val="000E2F"/>
            </a:solidFill>
            <a:prstDash val="solid"/>
          </a:ln>
        </p:spPr>
      </p:sp>
      <p:sp>
        <p:nvSpPr>
          <p:cNvPr id="7" name="Text 5"/>
          <p:cNvSpPr txBox="1"/>
          <p:nvPr/>
        </p:nvSpPr>
        <p:spPr>
          <a:xfrm>
            <a:off x="914400" y="1920240"/>
            <a:ext cx="3474720" cy="1463040"/>
          </a:xfrm>
          <a:prstGeom prst="rect">
            <a:avLst/>
          </a:prstGeom>
          <a:noFill/>
          <a:ln/>
        </p:spPr>
        <p:txBody>
          <a:bodyPr wrap="square" lIns="0" tIns="0" rIns="0" bIns="0" rtlCol="0" anchor="t"/>
          <a:lstStyle/>
          <a:p>
            <a:pPr indent="0" marL="0">
              <a:buNone/>
            </a:pPr>
            <a:r>
              <a:rPr lang="en-US" sz="11000" dirty="0">
                <a:solidFill>
                  <a:srgbClr val="FFFFFF"/>
                </a:solidFill>
                <a:latin typeface="Arial" pitchFamily="34" charset="0"/>
                <a:ea typeface="Arial" pitchFamily="34" charset="-122"/>
                <a:cs typeface="Arial" pitchFamily="34" charset="-120"/>
              </a:rPr>
              <a:t>25</a:t>
            </a:r>
            <a:endParaRPr lang="en-US" sz="11000" dirty="0"/>
          </a:p>
        </p:txBody>
      </p:sp>
      <p:sp>
        <p:nvSpPr>
          <p:cNvPr id="8" name="Text 6"/>
          <p:cNvSpPr txBox="1"/>
          <p:nvPr/>
        </p:nvSpPr>
        <p:spPr>
          <a:xfrm>
            <a:off x="914400" y="3474720"/>
            <a:ext cx="3291840" cy="73152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Jahre Partnerschaft zwischen Kohlhammer und incoxx</a:t>
            </a:r>
            <a:endParaRPr lang="en-US" sz="1700" dirty="0"/>
          </a:p>
        </p:txBody>
      </p:sp>
      <p:sp>
        <p:nvSpPr>
          <p:cNvPr id="9" name="Text 7"/>
          <p:cNvSpPr txBox="1"/>
          <p:nvPr/>
        </p:nvSpPr>
        <p:spPr>
          <a:xfrm>
            <a:off x="914400" y="4480560"/>
            <a:ext cx="3291840" cy="914400"/>
          </a:xfrm>
          <a:prstGeom prst="rect">
            <a:avLst/>
          </a:prstGeom>
          <a:noFill/>
          <a:ln/>
        </p:spPr>
        <p:txBody>
          <a:bodyPr wrap="square" lIns="0" tIns="0" rIns="0" bIns="0" rtlCol="0" anchor="t"/>
          <a:lstStyle/>
          <a:p>
            <a:pPr indent="0" marL="0">
              <a:buNone/>
            </a:pPr>
            <a:r>
              <a:rPr lang="en-US" sz="1300" dirty="0">
                <a:solidFill>
                  <a:srgbClr val="C6E6E3"/>
                </a:solidFill>
                <a:latin typeface="Arial" pitchFamily="34" charset="0"/>
                <a:ea typeface="Arial" pitchFamily="34" charset="-122"/>
                <a:cs typeface="Arial" pitchFamily="34" charset="-120"/>
              </a:rPr>
              <a:t>Pimcore 6 eingeführt und betrieben.</a:t>
            </a:r>
            <a:endParaRPr lang="en-US" sz="1300" dirty="0"/>
          </a:p>
          <a:p>
            <a:pPr indent="0" marL="0">
              <a:buNone/>
            </a:pPr>
            <a:r>
              <a:rPr lang="en-US" sz="1300" dirty="0">
                <a:solidFill>
                  <a:srgbClr val="C6E6E3"/>
                </a:solidFill>
                <a:latin typeface="Arial" pitchFamily="34" charset="0"/>
                <a:ea typeface="Arial" pitchFamily="34" charset="-122"/>
                <a:cs typeface="Arial" pitchFamily="34" charset="-120"/>
              </a:rPr>
              <a:t>anyPIM ist ein Produkt von incoxx.</a:t>
            </a:r>
            <a:endParaRPr lang="en-US" sz="1300" dirty="0"/>
          </a:p>
        </p:txBody>
      </p:sp>
      <p:sp>
        <p:nvSpPr>
          <p:cNvPr id="10" name="Shape 8"/>
          <p:cNvSpPr/>
          <p:nvPr/>
        </p:nvSpPr>
        <p:spPr>
          <a:xfrm>
            <a:off x="5029200" y="1755648"/>
            <a:ext cx="182880" cy="182880"/>
          </a:xfrm>
          <a:prstGeom prst="rect">
            <a:avLst/>
          </a:prstGeom>
          <a:solidFill>
            <a:srgbClr val="000E2F"/>
          </a:solidFill>
          <a:ln w="12700">
            <a:solidFill>
              <a:srgbClr val="000E2F"/>
            </a:solidFill>
            <a:prstDash val="solid"/>
          </a:ln>
        </p:spPr>
      </p:sp>
      <p:sp>
        <p:nvSpPr>
          <p:cNvPr id="11" name="Text 9"/>
          <p:cNvSpPr txBox="1"/>
          <p:nvPr/>
        </p:nvSpPr>
        <p:spPr>
          <a:xfrm>
            <a:off x="5440680" y="1691640"/>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kennen den Bestand</a:t>
            </a:r>
            <a:endParaRPr lang="en-US" sz="1700" dirty="0"/>
          </a:p>
        </p:txBody>
      </p:sp>
      <p:sp>
        <p:nvSpPr>
          <p:cNvPr id="12" name="Text 10"/>
          <p:cNvSpPr txBox="1"/>
          <p:nvPr/>
        </p:nvSpPr>
        <p:spPr>
          <a:xfrm>
            <a:off x="5440680" y="2075688"/>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Klassen, Objekte, Eigenentwicklungen und Schnittstellen der Pimcore-6-Installation kennen wir im Detail. Das senkt das Migrationsrisiko – bei anyPIM besonders, weil das Daten-Mapping nicht erst erarbeitet werden muss.</a:t>
            </a:r>
            <a:endParaRPr lang="en-US" sz="1300" dirty="0"/>
          </a:p>
        </p:txBody>
      </p:sp>
      <p:sp>
        <p:nvSpPr>
          <p:cNvPr id="13" name="Shape 11"/>
          <p:cNvSpPr/>
          <p:nvPr/>
        </p:nvSpPr>
        <p:spPr>
          <a:xfrm>
            <a:off x="5029200" y="3236976"/>
            <a:ext cx="182880" cy="182880"/>
          </a:xfrm>
          <a:prstGeom prst="rect">
            <a:avLst/>
          </a:prstGeom>
          <a:solidFill>
            <a:srgbClr val="000E2F"/>
          </a:solidFill>
          <a:ln w="12700">
            <a:solidFill>
              <a:srgbClr val="000E2F"/>
            </a:solidFill>
            <a:prstDash val="solid"/>
          </a:ln>
        </p:spPr>
      </p:sp>
      <p:sp>
        <p:nvSpPr>
          <p:cNvPr id="14" name="Text 12"/>
          <p:cNvSpPr txBox="1"/>
          <p:nvPr/>
        </p:nvSpPr>
        <p:spPr>
          <a:xfrm>
            <a:off x="5440680" y="3172968"/>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empfehlen anyPIM</a:t>
            </a:r>
            <a:endParaRPr lang="en-US" sz="1700" dirty="0"/>
          </a:p>
        </p:txBody>
      </p:sp>
      <p:sp>
        <p:nvSpPr>
          <p:cNvPr id="15" name="Text 13"/>
          <p:cNvSpPr txBox="1"/>
          <p:nvPr/>
        </p:nvSpPr>
        <p:spPr>
          <a:xfrm>
            <a:off x="5440680" y="3557016"/>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Weil das Upgrade einem Neuprojekt gleichkommt, danach dauerhaft Update- und Betriebsaufwand bindet und Lizenzkosten auch für wenig genutzte Erweiterungen auslöst. Was heute Eigenentwicklung ist, bauen wir in anyPIM als Standard.</a:t>
            </a:r>
            <a:endParaRPr lang="en-US" sz="1300" dirty="0"/>
          </a:p>
        </p:txBody>
      </p:sp>
      <p:sp>
        <p:nvSpPr>
          <p:cNvPr id="16" name="Shape 14"/>
          <p:cNvSpPr/>
          <p:nvPr/>
        </p:nvSpPr>
        <p:spPr>
          <a:xfrm>
            <a:off x="5029200" y="4718304"/>
            <a:ext cx="182880" cy="182880"/>
          </a:xfrm>
          <a:prstGeom prst="rect">
            <a:avLst/>
          </a:prstGeom>
          <a:solidFill>
            <a:srgbClr val="000E2F"/>
          </a:solidFill>
          <a:ln w="12700">
            <a:solidFill>
              <a:srgbClr val="000E2F"/>
            </a:solidFill>
            <a:prstDash val="solid"/>
          </a:ln>
        </p:spPr>
      </p:sp>
      <p:sp>
        <p:nvSpPr>
          <p:cNvPr id="17" name="Text 15"/>
          <p:cNvSpPr txBox="1"/>
          <p:nvPr/>
        </p:nvSpPr>
        <p:spPr>
          <a:xfrm>
            <a:off x="5440680" y="4654296"/>
            <a:ext cx="6202375" cy="347472"/>
          </a:xfrm>
          <a:prstGeom prst="rect">
            <a:avLst/>
          </a:prstGeom>
          <a:noFill/>
          <a:ln/>
        </p:spPr>
        <p:txBody>
          <a:bodyPr wrap="square" lIns="0" tIns="0" rIns="0" bIns="0" rtlCol="0" anchor="t"/>
          <a:lstStyle/>
          <a:p>
            <a:pPr indent="0" marL="0">
              <a:buNone/>
            </a:pPr>
            <a:r>
              <a:rPr lang="en-US" sz="1700" b="1" dirty="0">
                <a:solidFill>
                  <a:srgbClr val="16181D"/>
                </a:solidFill>
                <a:latin typeface="Arial" pitchFamily="34" charset="0"/>
                <a:ea typeface="Arial" pitchFamily="34" charset="-122"/>
                <a:cs typeface="Arial" pitchFamily="34" charset="-120"/>
              </a:rPr>
              <a:t>Wir bleiben Ansprechpartner</a:t>
            </a:r>
            <a:endParaRPr lang="en-US" sz="1700" dirty="0"/>
          </a:p>
        </p:txBody>
      </p:sp>
      <p:sp>
        <p:nvSpPr>
          <p:cNvPr id="18" name="Text 16"/>
          <p:cNvSpPr txBox="1"/>
          <p:nvPr/>
        </p:nvSpPr>
        <p:spPr>
          <a:xfrm>
            <a:off x="5440680" y="5038344"/>
            <a:ext cx="6202375" cy="1005840"/>
          </a:xfrm>
          <a:prstGeom prst="rect">
            <a:avLst/>
          </a:prstGeom>
          <a:noFill/>
          <a:ln/>
        </p:spPr>
        <p:txBody>
          <a:bodyPr wrap="square" lIns="0" tIns="0" rIns="0" bIns="0" rtlCol="0" anchor="t"/>
          <a:lstStyle/>
          <a:p>
            <a:pPr indent="0" marL="0">
              <a:lnSpc>
                <a:spcPct val="110000"/>
              </a:lnSpc>
              <a:buNone/>
            </a:pPr>
            <a:r>
              <a:rPr lang="en-US" sz="1300" dirty="0">
                <a:solidFill>
                  <a:srgbClr val="4B5563"/>
                </a:solidFill>
                <a:latin typeface="Arial" pitchFamily="34" charset="0"/>
                <a:ea typeface="Arial" pitchFamily="34" charset="-122"/>
                <a:cs typeface="Arial" pitchFamily="34" charset="-120"/>
              </a:rPr>
              <a:t>Gleicher Partner, gleiche Ansprechpersonen – mit direktem Einfluss auf die Weiterentwicklung des Produkts, etwa beim ONIX-Export.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AUSGANGSLAGE</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das Kohlhammer-Programm von einem PIM verlangt.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3</a:t>
            </a:r>
            <a:endParaRPr lang="en-US" sz="900" dirty="0"/>
          </a:p>
        </p:txBody>
      </p:sp>
      <p:sp>
        <p:nvSpPr>
          <p:cNvPr id="6" name="Shape 4"/>
          <p:cNvSpPr/>
          <p:nvPr/>
        </p:nvSpPr>
        <p:spPr>
          <a:xfrm>
            <a:off x="548640" y="1700784"/>
            <a:ext cx="182880" cy="182880"/>
          </a:xfrm>
          <a:prstGeom prst="rect">
            <a:avLst/>
          </a:prstGeom>
          <a:solidFill>
            <a:srgbClr val="000E2F"/>
          </a:solidFill>
          <a:ln w="12700">
            <a:solidFill>
              <a:srgbClr val="000E2F"/>
            </a:solidFill>
            <a:prstDash val="solid"/>
          </a:ln>
        </p:spPr>
      </p:sp>
      <p:sp>
        <p:nvSpPr>
          <p:cNvPr id="7" name="Text 5"/>
          <p:cNvSpPr txBox="1"/>
          <p:nvPr/>
        </p:nvSpPr>
        <p:spPr>
          <a:xfrm>
            <a:off x="960120" y="164592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Fachbereiche als Baum</a:t>
            </a:r>
            <a:endParaRPr lang="en-US" sz="1600" dirty="0"/>
          </a:p>
        </p:txBody>
      </p:sp>
      <p:sp>
        <p:nvSpPr>
          <p:cNvPr id="8" name="Text 6"/>
          <p:cNvSpPr txBox="1"/>
          <p:nvPr/>
        </p:nvSpPr>
        <p:spPr>
          <a:xfrm>
            <a:off x="960120" y="195681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z. B. Brandschutz › Bautechnik / Vorbeugender Brandschutz, Brandeinsatz, Dienstvorschriften</a:t>
            </a:r>
            <a:endParaRPr lang="en-US" sz="1200" dirty="0"/>
          </a:p>
        </p:txBody>
      </p:sp>
      <p:sp>
        <p:nvSpPr>
          <p:cNvPr id="9" name="Shape 7"/>
          <p:cNvSpPr/>
          <p:nvPr/>
        </p:nvSpPr>
        <p:spPr>
          <a:xfrm>
            <a:off x="548640" y="2459736"/>
            <a:ext cx="182880" cy="182880"/>
          </a:xfrm>
          <a:prstGeom prst="rect">
            <a:avLst/>
          </a:prstGeom>
          <a:solidFill>
            <a:srgbClr val="000E2F"/>
          </a:solidFill>
          <a:ln w="12700">
            <a:solidFill>
              <a:srgbClr val="000E2F"/>
            </a:solidFill>
            <a:prstDash val="solid"/>
          </a:ln>
        </p:spPr>
      </p:sp>
      <p:sp>
        <p:nvSpPr>
          <p:cNvPr id="10" name="Text 8"/>
          <p:cNvSpPr txBox="1"/>
          <p:nvPr/>
        </p:nvSpPr>
        <p:spPr>
          <a:xfrm>
            <a:off x="960120" y="2404872"/>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Ein Werk, mehrere Ausgaben</a:t>
            </a:r>
            <a:endParaRPr lang="en-US" sz="1600" dirty="0"/>
          </a:p>
        </p:txBody>
      </p:sp>
      <p:sp>
        <p:nvSpPr>
          <p:cNvPr id="11" name="Text 9"/>
          <p:cNvSpPr txBox="1"/>
          <p:nvPr/>
        </p:nvSpPr>
        <p:spPr>
          <a:xfrm>
            <a:off x="960120" y="2715768"/>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Print, eBook (PDF), eBook (ePub) – eigene Preise und Kennungen, gemeinsamer Inhalt</a:t>
            </a:r>
            <a:endParaRPr lang="en-US" sz="1200" dirty="0"/>
          </a:p>
        </p:txBody>
      </p:sp>
      <p:sp>
        <p:nvSpPr>
          <p:cNvPr id="12" name="Shape 10"/>
          <p:cNvSpPr/>
          <p:nvPr/>
        </p:nvSpPr>
        <p:spPr>
          <a:xfrm>
            <a:off x="548640" y="3218688"/>
            <a:ext cx="182880" cy="182880"/>
          </a:xfrm>
          <a:prstGeom prst="rect">
            <a:avLst/>
          </a:prstGeom>
          <a:solidFill>
            <a:srgbClr val="000E2F"/>
          </a:solidFill>
          <a:ln w="12700">
            <a:solidFill>
              <a:srgbClr val="000E2F"/>
            </a:solidFill>
            <a:prstDash val="solid"/>
          </a:ln>
        </p:spPr>
      </p:sp>
      <p:sp>
        <p:nvSpPr>
          <p:cNvPr id="13" name="Text 11"/>
          <p:cNvSpPr txBox="1"/>
          <p:nvPr/>
        </p:nvSpPr>
        <p:spPr>
          <a:xfrm>
            <a:off x="960120" y="3163824"/>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Reihen und Bände</a:t>
            </a:r>
            <a:endParaRPr lang="en-US" sz="1600" dirty="0"/>
          </a:p>
        </p:txBody>
      </p:sp>
      <p:sp>
        <p:nvSpPr>
          <p:cNvPr id="14" name="Text 12"/>
          <p:cNvSpPr txBox="1"/>
          <p:nvPr/>
        </p:nvSpPr>
        <p:spPr>
          <a:xfrm>
            <a:off x="960120" y="3474720"/>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„Die Roten Hefte, Band 75“ samt „Mehr aus der Reihe“ im Shop</a:t>
            </a:r>
            <a:endParaRPr lang="en-US" sz="1200" dirty="0"/>
          </a:p>
        </p:txBody>
      </p:sp>
      <p:sp>
        <p:nvSpPr>
          <p:cNvPr id="15" name="Shape 13"/>
          <p:cNvSpPr/>
          <p:nvPr/>
        </p:nvSpPr>
        <p:spPr>
          <a:xfrm>
            <a:off x="548640" y="3977640"/>
            <a:ext cx="182880" cy="182880"/>
          </a:xfrm>
          <a:prstGeom prst="rect">
            <a:avLst/>
          </a:prstGeom>
          <a:solidFill>
            <a:srgbClr val="000E2F"/>
          </a:solidFill>
          <a:ln w="12700">
            <a:solidFill>
              <a:srgbClr val="000E2F"/>
            </a:solidFill>
            <a:prstDash val="solid"/>
          </a:ln>
        </p:spPr>
      </p:sp>
      <p:sp>
        <p:nvSpPr>
          <p:cNvPr id="16" name="Text 14"/>
          <p:cNvSpPr txBox="1"/>
          <p:nvPr/>
        </p:nvSpPr>
        <p:spPr>
          <a:xfrm>
            <a:off x="960120" y="3922776"/>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Bibliografische Tiefe</a:t>
            </a:r>
            <a:endParaRPr lang="en-US" sz="1600" dirty="0"/>
          </a:p>
        </p:txBody>
      </p:sp>
      <p:sp>
        <p:nvSpPr>
          <p:cNvPr id="17" name="Text 15"/>
          <p:cNvSpPr txBox="1"/>
          <p:nvPr/>
        </p:nvSpPr>
        <p:spPr>
          <a:xfrm>
            <a:off x="960120" y="4233672"/>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Auflage, Jahr, Seiten, Abbildungen, Tabellen, Einband, Format, ISBN, Lieferstatus</a:t>
            </a:r>
            <a:endParaRPr lang="en-US" sz="1200" dirty="0"/>
          </a:p>
        </p:txBody>
      </p:sp>
      <p:sp>
        <p:nvSpPr>
          <p:cNvPr id="18" name="Shape 16"/>
          <p:cNvSpPr/>
          <p:nvPr/>
        </p:nvSpPr>
        <p:spPr>
          <a:xfrm>
            <a:off x="548640" y="4736592"/>
            <a:ext cx="182880" cy="182880"/>
          </a:xfrm>
          <a:prstGeom prst="rect">
            <a:avLst/>
          </a:prstGeom>
          <a:solidFill>
            <a:srgbClr val="000E2F"/>
          </a:solidFill>
          <a:ln w="12700">
            <a:solidFill>
              <a:srgbClr val="000E2F"/>
            </a:solidFill>
            <a:prstDash val="solid"/>
          </a:ln>
        </p:spPr>
      </p:sp>
      <p:sp>
        <p:nvSpPr>
          <p:cNvPr id="19" name="Text 17"/>
          <p:cNvSpPr txBox="1"/>
          <p:nvPr/>
        </p:nvSpPr>
        <p:spPr>
          <a:xfrm>
            <a:off x="960120" y="4681728"/>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Heterogenes Programm</a:t>
            </a:r>
            <a:endParaRPr lang="en-US" sz="1600" dirty="0"/>
          </a:p>
        </p:txBody>
      </p:sp>
      <p:sp>
        <p:nvSpPr>
          <p:cNvPr id="20" name="Text 18"/>
          <p:cNvSpPr txBox="1"/>
          <p:nvPr/>
        </p:nvSpPr>
        <p:spPr>
          <a:xfrm>
            <a:off x="960120" y="4992624"/>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Bücher, Zeitschriften, Formulare, Formularsoftware, Verlag für Ärzte / Schulen, Seminare</a:t>
            </a:r>
            <a:endParaRPr lang="en-US" sz="1200" dirty="0"/>
          </a:p>
        </p:txBody>
      </p:sp>
      <p:sp>
        <p:nvSpPr>
          <p:cNvPr id="21" name="Shape 19"/>
          <p:cNvSpPr/>
          <p:nvPr/>
        </p:nvSpPr>
        <p:spPr>
          <a:xfrm>
            <a:off x="548640" y="5495544"/>
            <a:ext cx="182880" cy="182880"/>
          </a:xfrm>
          <a:prstGeom prst="rect">
            <a:avLst/>
          </a:prstGeom>
          <a:solidFill>
            <a:srgbClr val="000E2F"/>
          </a:solidFill>
          <a:ln w="12700">
            <a:solidFill>
              <a:srgbClr val="000E2F"/>
            </a:solidFill>
            <a:prstDash val="solid"/>
          </a:ln>
        </p:spPr>
      </p:sp>
      <p:sp>
        <p:nvSpPr>
          <p:cNvPr id="22" name="Text 20"/>
          <p:cNvSpPr txBox="1"/>
          <p:nvPr/>
        </p:nvSpPr>
        <p:spPr>
          <a:xfrm>
            <a:off x="960120" y="5440680"/>
            <a:ext cx="6400800" cy="310896"/>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Viele Abnehmer derselben Daten</a:t>
            </a:r>
            <a:endParaRPr lang="en-US" sz="1600" dirty="0"/>
          </a:p>
        </p:txBody>
      </p:sp>
      <p:sp>
        <p:nvSpPr>
          <p:cNvPr id="23" name="Text 21"/>
          <p:cNvSpPr txBox="1"/>
          <p:nvPr/>
        </p:nvSpPr>
        <p:spPr>
          <a:xfrm>
            <a:off x="960120" y="5751576"/>
            <a:ext cx="6400800" cy="36576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 Buchhandel, Bibliotheken, Presse, Foreign Rights &amp; Licensing, Mediadaten</a:t>
            </a:r>
            <a:endParaRPr lang="en-US" sz="1200" dirty="0"/>
          </a:p>
        </p:txBody>
      </p:sp>
      <p:sp>
        <p:nvSpPr>
          <p:cNvPr id="24" name="Text 22"/>
          <p:cNvSpPr txBox="1"/>
          <p:nvPr/>
        </p:nvSpPr>
        <p:spPr>
          <a:xfrm>
            <a:off x="7955280" y="1645920"/>
            <a:ext cx="3657600" cy="274320"/>
          </a:xfrm>
          <a:prstGeom prst="rect">
            <a:avLst/>
          </a:prstGeom>
          <a:noFill/>
          <a:ln/>
        </p:spPr>
        <p:txBody>
          <a:bodyPr wrap="square" lIns="0" tIns="0" rIns="0" bIns="0" rtlCol="0" anchor="t"/>
          <a:lstStyle/>
          <a:p>
            <a:pPr indent="0" marL="0">
              <a:buNone/>
            </a:pPr>
            <a:r>
              <a:rPr lang="en-US" sz="1100" b="1" spc="100" kern="0" dirty="0">
                <a:solidFill>
                  <a:srgbClr val="4B5563"/>
                </a:solidFill>
                <a:latin typeface="Arial" pitchFamily="34" charset="0"/>
                <a:ea typeface="Arial" pitchFamily="34" charset="-122"/>
                <a:cs typeface="Arial" pitchFamily="34" charset="-120"/>
              </a:rPr>
              <a:t>PRODUKTARTEN IM PROGRAMM</a:t>
            </a:r>
            <a:endParaRPr lang="en-US" sz="1100" dirty="0"/>
          </a:p>
        </p:txBody>
      </p:sp>
      <p:sp>
        <p:nvSpPr>
          <p:cNvPr id="25" name="Shape 23"/>
          <p:cNvSpPr/>
          <p:nvPr/>
        </p:nvSpPr>
        <p:spPr>
          <a:xfrm>
            <a:off x="7955280" y="2103120"/>
            <a:ext cx="2651760" cy="420624"/>
          </a:xfrm>
          <a:prstGeom prst="roundRect">
            <a:avLst>
              <a:gd name="adj" fmla="val 50000"/>
            </a:avLst>
          </a:prstGeom>
          <a:solidFill>
            <a:srgbClr val="EEF0F2"/>
          </a:solidFill>
          <a:ln w="12700">
            <a:solidFill>
              <a:srgbClr val="EEF0F2"/>
            </a:solidFill>
            <a:prstDash val="solid"/>
          </a:ln>
        </p:spPr>
      </p:sp>
      <p:sp>
        <p:nvSpPr>
          <p:cNvPr id="26" name="Text 24"/>
          <p:cNvSpPr txBox="1"/>
          <p:nvPr/>
        </p:nvSpPr>
        <p:spPr>
          <a:xfrm>
            <a:off x="8183880" y="21031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Buch</a:t>
            </a:r>
            <a:endParaRPr lang="en-US" sz="1400" dirty="0"/>
          </a:p>
        </p:txBody>
      </p:sp>
      <p:sp>
        <p:nvSpPr>
          <p:cNvPr id="27" name="Text 25"/>
          <p:cNvSpPr txBox="1"/>
          <p:nvPr/>
        </p:nvSpPr>
        <p:spPr>
          <a:xfrm>
            <a:off x="10149840" y="21031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28" name="Shape 26"/>
          <p:cNvSpPr/>
          <p:nvPr/>
        </p:nvSpPr>
        <p:spPr>
          <a:xfrm>
            <a:off x="7955280" y="2651760"/>
            <a:ext cx="2651760" cy="420624"/>
          </a:xfrm>
          <a:prstGeom prst="roundRect">
            <a:avLst>
              <a:gd name="adj" fmla="val 50000"/>
            </a:avLst>
          </a:prstGeom>
          <a:solidFill>
            <a:srgbClr val="EEF0F2"/>
          </a:solidFill>
          <a:ln w="12700">
            <a:solidFill>
              <a:srgbClr val="EEF0F2"/>
            </a:solidFill>
            <a:prstDash val="solid"/>
          </a:ln>
        </p:spPr>
      </p:sp>
      <p:sp>
        <p:nvSpPr>
          <p:cNvPr id="29" name="Text 27"/>
          <p:cNvSpPr txBox="1"/>
          <p:nvPr/>
        </p:nvSpPr>
        <p:spPr>
          <a:xfrm>
            <a:off x="8183880" y="26517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(PDF)</a:t>
            </a:r>
            <a:endParaRPr lang="en-US" sz="1400" dirty="0"/>
          </a:p>
        </p:txBody>
      </p:sp>
      <p:sp>
        <p:nvSpPr>
          <p:cNvPr id="30" name="Text 28"/>
          <p:cNvSpPr txBox="1"/>
          <p:nvPr/>
        </p:nvSpPr>
        <p:spPr>
          <a:xfrm>
            <a:off x="10149840" y="26517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1" name="Shape 29"/>
          <p:cNvSpPr/>
          <p:nvPr/>
        </p:nvSpPr>
        <p:spPr>
          <a:xfrm>
            <a:off x="7955280" y="3200400"/>
            <a:ext cx="2651760" cy="420624"/>
          </a:xfrm>
          <a:prstGeom prst="roundRect">
            <a:avLst>
              <a:gd name="adj" fmla="val 50000"/>
            </a:avLst>
          </a:prstGeom>
          <a:solidFill>
            <a:srgbClr val="EEF0F2"/>
          </a:solidFill>
          <a:ln w="12700">
            <a:solidFill>
              <a:srgbClr val="EEF0F2"/>
            </a:solidFill>
            <a:prstDash val="solid"/>
          </a:ln>
        </p:spPr>
      </p:sp>
      <p:sp>
        <p:nvSpPr>
          <p:cNvPr id="32" name="Text 30"/>
          <p:cNvSpPr txBox="1"/>
          <p:nvPr/>
        </p:nvSpPr>
        <p:spPr>
          <a:xfrm>
            <a:off x="8183880" y="320040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eBook (ePub)</a:t>
            </a:r>
            <a:endParaRPr lang="en-US" sz="1400" dirty="0"/>
          </a:p>
        </p:txBody>
      </p:sp>
      <p:sp>
        <p:nvSpPr>
          <p:cNvPr id="33" name="Text 31"/>
          <p:cNvSpPr txBox="1"/>
          <p:nvPr/>
        </p:nvSpPr>
        <p:spPr>
          <a:xfrm>
            <a:off x="10149840" y="320040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4" name="Shape 32"/>
          <p:cNvSpPr/>
          <p:nvPr/>
        </p:nvSpPr>
        <p:spPr>
          <a:xfrm>
            <a:off x="7955280" y="3749040"/>
            <a:ext cx="2651760" cy="420624"/>
          </a:xfrm>
          <a:prstGeom prst="roundRect">
            <a:avLst>
              <a:gd name="adj" fmla="val 50000"/>
            </a:avLst>
          </a:prstGeom>
          <a:solidFill>
            <a:srgbClr val="EEF0F2"/>
          </a:solidFill>
          <a:ln w="12700">
            <a:solidFill>
              <a:srgbClr val="EEF0F2"/>
            </a:solidFill>
            <a:prstDash val="solid"/>
          </a:ln>
        </p:spPr>
      </p:sp>
      <p:sp>
        <p:nvSpPr>
          <p:cNvPr id="35" name="Text 33"/>
          <p:cNvSpPr txBox="1"/>
          <p:nvPr/>
        </p:nvSpPr>
        <p:spPr>
          <a:xfrm>
            <a:off x="8183880" y="374904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Zeitschrift</a:t>
            </a:r>
            <a:endParaRPr lang="en-US" sz="1400" dirty="0"/>
          </a:p>
        </p:txBody>
      </p:sp>
      <p:sp>
        <p:nvSpPr>
          <p:cNvPr id="36" name="Text 34"/>
          <p:cNvSpPr txBox="1"/>
          <p:nvPr/>
        </p:nvSpPr>
        <p:spPr>
          <a:xfrm>
            <a:off x="10149840" y="374904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37" name="Shape 35"/>
          <p:cNvSpPr/>
          <p:nvPr/>
        </p:nvSpPr>
        <p:spPr>
          <a:xfrm>
            <a:off x="7955280" y="4297680"/>
            <a:ext cx="2651760" cy="420624"/>
          </a:xfrm>
          <a:prstGeom prst="roundRect">
            <a:avLst>
              <a:gd name="adj" fmla="val 50000"/>
            </a:avLst>
          </a:prstGeom>
          <a:solidFill>
            <a:srgbClr val="EEF0F2"/>
          </a:solidFill>
          <a:ln w="12700">
            <a:solidFill>
              <a:srgbClr val="EEF0F2"/>
            </a:solidFill>
            <a:prstDash val="solid"/>
          </a:ln>
        </p:spPr>
      </p:sp>
      <p:sp>
        <p:nvSpPr>
          <p:cNvPr id="38" name="Text 36"/>
          <p:cNvSpPr txBox="1"/>
          <p:nvPr/>
        </p:nvSpPr>
        <p:spPr>
          <a:xfrm>
            <a:off x="8183880" y="429768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a:t>
            </a:r>
            <a:endParaRPr lang="en-US" sz="1400" dirty="0"/>
          </a:p>
        </p:txBody>
      </p:sp>
      <p:sp>
        <p:nvSpPr>
          <p:cNvPr id="39" name="Text 37"/>
          <p:cNvSpPr txBox="1"/>
          <p:nvPr/>
        </p:nvSpPr>
        <p:spPr>
          <a:xfrm>
            <a:off x="10149840" y="429768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0" name="Shape 38"/>
          <p:cNvSpPr/>
          <p:nvPr/>
        </p:nvSpPr>
        <p:spPr>
          <a:xfrm>
            <a:off x="7955280" y="4846320"/>
            <a:ext cx="2651760" cy="420624"/>
          </a:xfrm>
          <a:prstGeom prst="roundRect">
            <a:avLst>
              <a:gd name="adj" fmla="val 50000"/>
            </a:avLst>
          </a:prstGeom>
          <a:solidFill>
            <a:srgbClr val="EEF0F2"/>
          </a:solidFill>
          <a:ln w="12700">
            <a:solidFill>
              <a:srgbClr val="EEF0F2"/>
            </a:solidFill>
            <a:prstDash val="solid"/>
          </a:ln>
        </p:spPr>
      </p:sp>
      <p:sp>
        <p:nvSpPr>
          <p:cNvPr id="41" name="Text 39"/>
          <p:cNvSpPr txBox="1"/>
          <p:nvPr/>
        </p:nvSpPr>
        <p:spPr>
          <a:xfrm>
            <a:off x="8183880" y="484632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Formularsoftware</a:t>
            </a:r>
            <a:endParaRPr lang="en-US" sz="1400" dirty="0"/>
          </a:p>
        </p:txBody>
      </p:sp>
      <p:sp>
        <p:nvSpPr>
          <p:cNvPr id="42" name="Text 40"/>
          <p:cNvSpPr txBox="1"/>
          <p:nvPr/>
        </p:nvSpPr>
        <p:spPr>
          <a:xfrm>
            <a:off x="10149840" y="484632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
        <p:nvSpPr>
          <p:cNvPr id="43" name="Shape 41"/>
          <p:cNvSpPr/>
          <p:nvPr/>
        </p:nvSpPr>
        <p:spPr>
          <a:xfrm>
            <a:off x="7955280" y="5394960"/>
            <a:ext cx="2651760" cy="420624"/>
          </a:xfrm>
          <a:prstGeom prst="roundRect">
            <a:avLst>
              <a:gd name="adj" fmla="val 50000"/>
            </a:avLst>
          </a:prstGeom>
          <a:solidFill>
            <a:srgbClr val="EEF0F2"/>
          </a:solidFill>
          <a:ln w="12700">
            <a:solidFill>
              <a:srgbClr val="EEF0F2"/>
            </a:solidFill>
            <a:prstDash val="solid"/>
          </a:ln>
        </p:spPr>
      </p:sp>
      <p:sp>
        <p:nvSpPr>
          <p:cNvPr id="44" name="Text 42"/>
          <p:cNvSpPr txBox="1"/>
          <p:nvPr/>
        </p:nvSpPr>
        <p:spPr>
          <a:xfrm>
            <a:off x="8183880" y="5394960"/>
            <a:ext cx="2011680" cy="420624"/>
          </a:xfrm>
          <a:prstGeom prst="rect">
            <a:avLst/>
          </a:prstGeom>
          <a:noFill/>
          <a:ln/>
        </p:spPr>
        <p:txBody>
          <a:bodyPr wrap="square" lIns="0" tIns="0" rIns="0" bIns="0" rtlCol="0" anchor="ctr"/>
          <a:lstStyle/>
          <a:p>
            <a:pPr indent="0" marL="0">
              <a:buNone/>
            </a:pPr>
            <a:r>
              <a:rPr lang="en-US" sz="1400" dirty="0">
                <a:solidFill>
                  <a:srgbClr val="1B2D5C"/>
                </a:solidFill>
                <a:latin typeface="Arial" pitchFamily="34" charset="0"/>
                <a:ea typeface="Arial" pitchFamily="34" charset="-122"/>
                <a:cs typeface="Arial" pitchFamily="34" charset="-120"/>
              </a:rPr>
              <a:t>Seminar</a:t>
            </a:r>
            <a:endParaRPr lang="en-US" sz="1400" dirty="0"/>
          </a:p>
        </p:txBody>
      </p:sp>
      <p:sp>
        <p:nvSpPr>
          <p:cNvPr id="45" name="Text 43"/>
          <p:cNvSpPr txBox="1"/>
          <p:nvPr/>
        </p:nvSpPr>
        <p:spPr>
          <a:xfrm>
            <a:off x="10149840" y="5394960"/>
            <a:ext cx="274320" cy="420624"/>
          </a:xfrm>
          <a:prstGeom prst="rect">
            <a:avLst/>
          </a:prstGeom>
          <a:noFill/>
          <a:ln/>
        </p:spPr>
        <p:txBody>
          <a:bodyPr wrap="square" lIns="0" tIns="0" rIns="0" bIns="0" rtlCol="0" anchor="ctr"/>
          <a:lstStyle/>
          <a:p>
            <a:pPr indent="0" marL="0">
              <a:buNone/>
            </a:pPr>
            <a:r>
              <a:rPr lang="en-US" sz="1500" dirty="0">
                <a:solidFill>
                  <a:srgbClr val="000E2F"/>
                </a:solidFill>
                <a:latin typeface="Arial" pitchFamily="34" charset="0"/>
                <a:ea typeface="Arial" pitchFamily="34" charset="-122"/>
                <a:cs typeface="Arial"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EIN TITEL, DREI AUSGABEN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Einmal am Werk gepflegt – die Ausgaben überschreiben nur, was wirklich abweicht.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4</a:t>
            </a:r>
            <a:endParaRPr lang="en-US" sz="900" dirty="0"/>
          </a:p>
        </p:txBody>
      </p:sp>
      <p:sp>
        <p:nvSpPr>
          <p:cNvPr id="6" name="Shape 4"/>
          <p:cNvSpPr/>
          <p:nvPr/>
        </p:nvSpPr>
        <p:spPr>
          <a:xfrm>
            <a:off x="548640" y="1600200"/>
            <a:ext cx="2377440" cy="3346704"/>
          </a:xfrm>
          <a:prstGeom prst="rect">
            <a:avLst/>
          </a:prstGeom>
          <a:solidFill>
            <a:srgbClr val="E2211C"/>
          </a:solidFill>
          <a:ln w="12700">
            <a:solidFill>
              <a:srgbClr val="E2211C"/>
            </a:solidFill>
            <a:prstDash val="solid"/>
          </a:ln>
          <a:effectLst>
            <a:outerShdw sx="100000" sy="100000" kx="0" ky="0" algn="bl" rotWithShape="0" blurRad="101600" dist="38100" dir="5400000">
              <a:srgbClr val="000000">
                <a:alpha val="20000"/>
              </a:srgbClr>
            </a:outerShdw>
          </a:effectLst>
        </p:spPr>
      </p:sp>
      <p:sp>
        <p:nvSpPr>
          <p:cNvPr id="7" name="Shape 5"/>
          <p:cNvSpPr/>
          <p:nvPr/>
        </p:nvSpPr>
        <p:spPr>
          <a:xfrm>
            <a:off x="548640" y="1600200"/>
            <a:ext cx="2377440" cy="237744"/>
          </a:xfrm>
          <a:prstGeom prst="rect">
            <a:avLst/>
          </a:prstGeom>
          <a:solidFill>
            <a:srgbClr val="F29400"/>
          </a:solidFill>
          <a:ln w="12700">
            <a:solidFill>
              <a:srgbClr val="F29400"/>
            </a:solidFill>
            <a:prstDash val="solid"/>
          </a:ln>
        </p:spPr>
      </p:sp>
      <p:sp>
        <p:nvSpPr>
          <p:cNvPr id="8" name="Text 6"/>
          <p:cNvSpPr txBox="1"/>
          <p:nvPr/>
        </p:nvSpPr>
        <p:spPr>
          <a:xfrm>
            <a:off x="658368" y="1600200"/>
            <a:ext cx="2194560" cy="237744"/>
          </a:xfrm>
          <a:prstGeom prst="rect">
            <a:avLst/>
          </a:prstGeom>
          <a:noFill/>
          <a:ln/>
        </p:spPr>
        <p:txBody>
          <a:bodyPr wrap="square" lIns="0" tIns="0" rIns="0" bIns="0" rtlCol="0" anchor="ctr"/>
          <a:lstStyle/>
          <a:p>
            <a:pPr indent="0" marL="0">
              <a:buNone/>
            </a:pPr>
            <a:r>
              <a:rPr lang="en-US" sz="800" dirty="0">
                <a:solidFill>
                  <a:srgbClr val="FFFFFF"/>
                </a:solidFill>
                <a:latin typeface="Arial" pitchFamily="34" charset="0"/>
                <a:ea typeface="Arial" pitchFamily="34" charset="-122"/>
                <a:cs typeface="Arial" pitchFamily="34" charset="-120"/>
              </a:rPr>
              <a:t>Vorbeugender Brandschutz</a:t>
            </a:r>
            <a:endParaRPr lang="en-US" sz="800" dirty="0"/>
          </a:p>
        </p:txBody>
      </p:sp>
      <p:sp>
        <p:nvSpPr>
          <p:cNvPr id="9" name="Text 7"/>
          <p:cNvSpPr txBox="1"/>
          <p:nvPr/>
        </p:nvSpPr>
        <p:spPr>
          <a:xfrm>
            <a:off x="658368" y="1947672"/>
            <a:ext cx="2194560" cy="2743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DIE ROTEN HEFTE </a:t>
            </a:r>
            <a:pPr indent="0" marL="0">
              <a:buNone/>
            </a:pPr>
            <a:r>
              <a:rPr lang="en-US" sz="1300" dirty="0">
                <a:solidFill>
                  <a:srgbClr val="FFFFFF"/>
                </a:solidFill>
                <a:latin typeface="Arial" pitchFamily="34" charset="0"/>
                <a:ea typeface="Arial" pitchFamily="34" charset="-122"/>
                <a:cs typeface="Arial" pitchFamily="34" charset="-120"/>
              </a:rPr>
              <a:t>75</a:t>
            </a:r>
            <a:endParaRPr lang="en-US" sz="1300" dirty="0"/>
          </a:p>
        </p:txBody>
      </p:sp>
      <p:sp>
        <p:nvSpPr>
          <p:cNvPr id="10" name="Text 8"/>
          <p:cNvSpPr txBox="1"/>
          <p:nvPr/>
        </p:nvSpPr>
        <p:spPr>
          <a:xfrm>
            <a:off x="658368" y="2286000"/>
            <a:ext cx="2194560" cy="228600"/>
          </a:xfrm>
          <a:prstGeom prst="rect">
            <a:avLst/>
          </a:prstGeom>
          <a:noFill/>
          <a:ln/>
        </p:spPr>
        <p:txBody>
          <a:bodyPr wrap="square" lIns="0" tIns="0" rIns="0" bIns="0" rtlCol="0" anchor="t"/>
          <a:lstStyle/>
          <a:p>
            <a:pPr indent="0" marL="0">
              <a:buNone/>
            </a:pPr>
            <a:r>
              <a:rPr lang="en-US" sz="800" dirty="0">
                <a:solidFill>
                  <a:srgbClr val="FFFFFF"/>
                </a:solidFill>
                <a:latin typeface="Arial" pitchFamily="34" charset="0"/>
                <a:ea typeface="Arial" pitchFamily="34" charset="-122"/>
                <a:cs typeface="Arial" pitchFamily="34" charset="-120"/>
              </a:rPr>
              <a:t>Frieder Kircher / Rainer Sonntag</a:t>
            </a:r>
            <a:endParaRPr lang="en-US" sz="800" dirty="0"/>
          </a:p>
        </p:txBody>
      </p:sp>
      <p:sp>
        <p:nvSpPr>
          <p:cNvPr id="11" name="Text 9"/>
          <p:cNvSpPr txBox="1"/>
          <p:nvPr/>
        </p:nvSpPr>
        <p:spPr>
          <a:xfrm>
            <a:off x="658368" y="2651760"/>
            <a:ext cx="2194560" cy="822960"/>
          </a:xfrm>
          <a:prstGeom prst="rect">
            <a:avLst/>
          </a:prstGeom>
          <a:noFill/>
          <a:ln/>
        </p:spPr>
        <p:txBody>
          <a:bodyPr wrap="square" lIns="0" tIns="0" rIns="0" bIns="0" rtlCol="0" anchor="t"/>
          <a:lstStyle/>
          <a:p>
            <a:pPr indent="0" marL="0">
              <a:buNone/>
            </a:pPr>
            <a:r>
              <a:rPr lang="en-US" sz="1900" dirty="0">
                <a:solidFill>
                  <a:srgbClr val="FFFFFF"/>
                </a:solidFill>
                <a:latin typeface="Arial" pitchFamily="34" charset="0"/>
                <a:ea typeface="Arial" pitchFamily="34" charset="-122"/>
                <a:cs typeface="Arial" pitchFamily="34" charset="-120"/>
              </a:rPr>
              <a:t>Vorbeugender Brandschutz</a:t>
            </a:r>
            <a:endParaRPr lang="en-US" sz="1900" dirty="0"/>
          </a:p>
        </p:txBody>
      </p:sp>
      <p:sp>
        <p:nvSpPr>
          <p:cNvPr id="12" name="Text 10"/>
          <p:cNvSpPr txBox="1"/>
          <p:nvPr/>
        </p:nvSpPr>
        <p:spPr>
          <a:xfrm>
            <a:off x="658368" y="4599432"/>
            <a:ext cx="2157984" cy="228600"/>
          </a:xfrm>
          <a:prstGeom prst="rect">
            <a:avLst/>
          </a:prstGeom>
          <a:noFill/>
          <a:ln/>
        </p:spPr>
        <p:txBody>
          <a:bodyPr wrap="square" lIns="0" tIns="0" rIns="0" bIns="0" rtlCol="0" anchor="t"/>
          <a:lstStyle/>
          <a:p>
            <a:pPr algn="r" indent="0" marL="0">
              <a:buNone/>
            </a:pPr>
            <a:r>
              <a:rPr lang="en-US" sz="800" dirty="0">
                <a:solidFill>
                  <a:srgbClr val="FFFFFF"/>
                </a:solidFill>
                <a:latin typeface="Arial" pitchFamily="34" charset="0"/>
                <a:ea typeface="Arial" pitchFamily="34" charset="-122"/>
                <a:cs typeface="Arial" pitchFamily="34" charset="-120"/>
              </a:rPr>
              <a:t>2., aktualisierte Auflage</a:t>
            </a:r>
            <a:endParaRPr lang="en-US" sz="800" dirty="0"/>
          </a:p>
        </p:txBody>
      </p:sp>
      <p:sp>
        <p:nvSpPr>
          <p:cNvPr id="13" name="Text 11"/>
          <p:cNvSpPr txBox="1"/>
          <p:nvPr/>
        </p:nvSpPr>
        <p:spPr>
          <a:xfrm>
            <a:off x="548640" y="5038344"/>
            <a:ext cx="2377440" cy="228600"/>
          </a:xfrm>
          <a:prstGeom prst="rect">
            <a:avLst/>
          </a:prstGeom>
          <a:noFill/>
          <a:ln/>
        </p:spPr>
        <p:txBody>
          <a:bodyPr wrap="square" lIns="0" tIns="0" rIns="0" bIns="0" rtlCol="0" anchor="t"/>
          <a:lstStyle/>
          <a:p>
            <a:pPr algn="ctr" indent="0" marL="0">
              <a:buNone/>
            </a:pPr>
            <a:r>
              <a:rPr lang="en-US" sz="1000" dirty="0">
                <a:solidFill>
                  <a:srgbClr val="4B5563"/>
                </a:solidFill>
                <a:latin typeface="Arial" pitchFamily="34" charset="0"/>
                <a:ea typeface="Arial" pitchFamily="34" charset="-122"/>
                <a:cs typeface="Arial" pitchFamily="34" charset="-120"/>
              </a:rPr>
              <a:t>Schematische Darstellung</a:t>
            </a:r>
            <a:endParaRPr lang="en-US" sz="1000" dirty="0"/>
          </a:p>
        </p:txBody>
      </p:sp>
      <p:sp>
        <p:nvSpPr>
          <p:cNvPr id="14" name="Text 12"/>
          <p:cNvSpPr txBox="1"/>
          <p:nvPr/>
        </p:nvSpPr>
        <p:spPr>
          <a:xfrm>
            <a:off x="3429000" y="160020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ELTERNPRODUKT · PRODUKTTYP „BUCH“</a:t>
            </a:r>
            <a:endParaRPr lang="en-US" sz="1000" dirty="0"/>
          </a:p>
        </p:txBody>
      </p:sp>
      <p:sp>
        <p:nvSpPr>
          <p:cNvPr id="15" name="Text 13"/>
          <p:cNvSpPr txBox="1"/>
          <p:nvPr/>
        </p:nvSpPr>
        <p:spPr>
          <a:xfrm>
            <a:off x="3429000" y="1828800"/>
            <a:ext cx="8214055" cy="365760"/>
          </a:xfrm>
          <a:prstGeom prst="rect">
            <a:avLst/>
          </a:prstGeom>
          <a:noFill/>
          <a:ln/>
        </p:spPr>
        <p:txBody>
          <a:bodyPr wrap="square" lIns="0" tIns="0" rIns="0" bIns="0" rtlCol="0" anchor="t"/>
          <a:lstStyle/>
          <a:p>
            <a:pPr indent="0" marL="0">
              <a:buNone/>
            </a:pPr>
            <a:r>
              <a:rPr lang="en-US" sz="1800" dirty="0">
                <a:solidFill>
                  <a:srgbClr val="16181D"/>
                </a:solidFill>
                <a:latin typeface="Arial" pitchFamily="34" charset="0"/>
                <a:ea typeface="Arial" pitchFamily="34" charset="-122"/>
                <a:cs typeface="Arial" pitchFamily="34" charset="-120"/>
              </a:rPr>
              <a:t>Werk: Vorbeugender Brandschutz</a:t>
            </a:r>
            <a:endParaRPr lang="en-US" sz="1800" dirty="0"/>
          </a:p>
        </p:txBody>
      </p:sp>
      <p:sp>
        <p:nvSpPr>
          <p:cNvPr id="16" name="Shape 14"/>
          <p:cNvSpPr/>
          <p:nvPr/>
        </p:nvSpPr>
        <p:spPr>
          <a:xfrm>
            <a:off x="3429000" y="2286000"/>
            <a:ext cx="8214055" cy="777240"/>
          </a:xfrm>
          <a:prstGeom prst="rect">
            <a:avLst/>
          </a:prstGeom>
          <a:solidFill>
            <a:srgbClr val="E4F3F1"/>
          </a:solidFill>
          <a:ln w="12700">
            <a:solidFill>
              <a:srgbClr val="E4F3F1"/>
            </a:solidFill>
            <a:prstDash val="solid"/>
          </a:ln>
        </p:spPr>
      </p:sp>
      <p:sp>
        <p:nvSpPr>
          <p:cNvPr id="17" name="Text 15"/>
          <p:cNvSpPr txBox="1"/>
          <p:nvPr/>
        </p:nvSpPr>
        <p:spPr>
          <a:xfrm>
            <a:off x="3611880" y="2286000"/>
            <a:ext cx="7848295" cy="777240"/>
          </a:xfrm>
          <a:prstGeom prst="rect">
            <a:avLst/>
          </a:prstGeom>
          <a:noFill/>
          <a:ln/>
        </p:spPr>
        <p:txBody>
          <a:bodyPr wrap="square" lIns="0" tIns="0" rIns="0" bIns="0" rtlCol="0" anchor="ctr"/>
          <a:lstStyle/>
          <a:p>
            <a:pPr indent="0" marL="0">
              <a:buNone/>
            </a:pPr>
            <a:r>
              <a:rPr lang="en-US" sz="1200" b="1" dirty="0">
                <a:solidFill>
                  <a:srgbClr val="16181D"/>
                </a:solidFill>
                <a:latin typeface="Arial" pitchFamily="34" charset="0"/>
                <a:ea typeface="Arial" pitchFamily="34" charset="-122"/>
                <a:cs typeface="Arial" pitchFamily="34" charset="-120"/>
              </a:rPr>
              <a:t>Einmal gepflegt, an alle Ausgaben vererbt: </a:t>
            </a:r>
            <a:pPr indent="0" marL="0">
              <a:buNone/>
            </a:pPr>
            <a:r>
              <a:rPr lang="en-US" sz="1200" dirty="0">
                <a:solidFill>
                  <a:srgbClr val="16181D"/>
                </a:solidFill>
                <a:latin typeface="Arial" pitchFamily="34" charset="0"/>
                <a:ea typeface="Arial" pitchFamily="34" charset="-122"/>
                <a:cs typeface="Arial" pitchFamily="34" charset="-120"/>
              </a:rPr>
              <a:t>AutorInnen, Reihe „Die Roten Hefte“, Band 75, Auflage, Erscheinungsjahr 2026, Umfang 164 Seiten / 36 Abb. / 9 Tab., Produktbeschreibung, Cover, Fachbereich.</a:t>
            </a:r>
            <a:endParaRPr lang="en-US" sz="1200" dirty="0"/>
          </a:p>
        </p:txBody>
      </p:sp>
      <p:sp>
        <p:nvSpPr>
          <p:cNvPr id="18" name="Text 16"/>
          <p:cNvSpPr txBox="1"/>
          <p:nvPr/>
        </p:nvSpPr>
        <p:spPr>
          <a:xfrm>
            <a:off x="3429000" y="324612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VARIANTEN · NUR ABWEICHUNGEN</a:t>
            </a:r>
            <a:endParaRPr lang="en-US" sz="1000" dirty="0"/>
          </a:p>
        </p:txBody>
      </p:sp>
      <p:sp>
        <p:nvSpPr>
          <p:cNvPr id="19" name="Shape 17"/>
          <p:cNvSpPr/>
          <p:nvPr/>
        </p:nvSpPr>
        <p:spPr>
          <a:xfrm>
            <a:off x="3429000" y="3520440"/>
            <a:ext cx="2616098" cy="1234440"/>
          </a:xfrm>
          <a:prstGeom prst="rect">
            <a:avLst/>
          </a:prstGeom>
          <a:solidFill>
            <a:srgbClr val="FFFFFF"/>
          </a:solidFill>
          <a:ln w="12700">
            <a:solidFill>
              <a:srgbClr val="D6DDE3"/>
            </a:solidFill>
            <a:prstDash val="solid"/>
          </a:ln>
        </p:spPr>
      </p:sp>
      <p:sp>
        <p:nvSpPr>
          <p:cNvPr id="20" name="Text 18"/>
          <p:cNvSpPr txBox="1"/>
          <p:nvPr/>
        </p:nvSpPr>
        <p:spPr>
          <a:xfrm>
            <a:off x="3566160"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Print</a:t>
            </a:r>
            <a:endParaRPr lang="en-US" sz="1300" dirty="0"/>
          </a:p>
        </p:txBody>
      </p:sp>
      <p:sp>
        <p:nvSpPr>
          <p:cNvPr id="21" name="Text 19"/>
          <p:cNvSpPr txBox="1"/>
          <p:nvPr/>
        </p:nvSpPr>
        <p:spPr>
          <a:xfrm>
            <a:off x="3566160"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ISBN 978-3-17-040610-0</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19,00 € inkl. MwSt.</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kartoniert, 148 × 105 × 10 mm</a:t>
            </a:r>
            <a:endParaRPr lang="en-US" sz="1100" dirty="0"/>
          </a:p>
        </p:txBody>
      </p:sp>
      <p:sp>
        <p:nvSpPr>
          <p:cNvPr id="22" name="Shape 20"/>
          <p:cNvSpPr/>
          <p:nvPr/>
        </p:nvSpPr>
        <p:spPr>
          <a:xfrm>
            <a:off x="6227978" y="3520440"/>
            <a:ext cx="2616098" cy="1234440"/>
          </a:xfrm>
          <a:prstGeom prst="rect">
            <a:avLst/>
          </a:prstGeom>
          <a:solidFill>
            <a:srgbClr val="FFFFFF"/>
          </a:solidFill>
          <a:ln w="12700">
            <a:solidFill>
              <a:srgbClr val="D6DDE3"/>
            </a:solidFill>
            <a:prstDash val="solid"/>
          </a:ln>
        </p:spPr>
      </p:sp>
      <p:sp>
        <p:nvSpPr>
          <p:cNvPr id="23" name="Text 21"/>
          <p:cNvSpPr txBox="1"/>
          <p:nvPr/>
        </p:nvSpPr>
        <p:spPr>
          <a:xfrm>
            <a:off x="6365138"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(PDF)</a:t>
            </a:r>
            <a:endParaRPr lang="en-US" sz="1300" dirty="0"/>
          </a:p>
        </p:txBody>
      </p:sp>
      <p:sp>
        <p:nvSpPr>
          <p:cNvPr id="24" name="Text 22"/>
          <p:cNvSpPr txBox="1"/>
          <p:nvPr/>
        </p:nvSpPr>
        <p:spPr>
          <a:xfrm>
            <a:off x="6365138"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5" name="Shape 23"/>
          <p:cNvSpPr/>
          <p:nvPr/>
        </p:nvSpPr>
        <p:spPr>
          <a:xfrm>
            <a:off x="9026957" y="3520440"/>
            <a:ext cx="2616098" cy="1234440"/>
          </a:xfrm>
          <a:prstGeom prst="rect">
            <a:avLst/>
          </a:prstGeom>
          <a:solidFill>
            <a:srgbClr val="FFFFFF"/>
          </a:solidFill>
          <a:ln w="12700">
            <a:solidFill>
              <a:srgbClr val="D6DDE3"/>
            </a:solidFill>
            <a:prstDash val="solid"/>
          </a:ln>
        </p:spPr>
      </p:sp>
      <p:sp>
        <p:nvSpPr>
          <p:cNvPr id="26" name="Text 24"/>
          <p:cNvSpPr txBox="1"/>
          <p:nvPr/>
        </p:nvSpPr>
        <p:spPr>
          <a:xfrm>
            <a:off x="9164117" y="3611880"/>
            <a:ext cx="2341778" cy="274320"/>
          </a:xfrm>
          <a:prstGeom prst="rect">
            <a:avLst/>
          </a:prstGeom>
          <a:noFill/>
          <a:ln/>
        </p:spPr>
        <p:txBody>
          <a:bodyPr wrap="square" lIns="0" tIns="0" rIns="0" bIns="0" rtlCol="0" anchor="t"/>
          <a:lstStyle/>
          <a:p>
            <a:pPr indent="0" marL="0">
              <a:buNone/>
            </a:pPr>
            <a:r>
              <a:rPr lang="en-US" sz="1300" b="1" dirty="0">
                <a:solidFill>
                  <a:srgbClr val="1B2D5C"/>
                </a:solidFill>
                <a:latin typeface="Arial" pitchFamily="34" charset="0"/>
                <a:ea typeface="Arial" pitchFamily="34" charset="-122"/>
                <a:cs typeface="Arial" pitchFamily="34" charset="-120"/>
              </a:rPr>
              <a:t>eBook (ePub)</a:t>
            </a:r>
            <a:endParaRPr lang="en-US" sz="1300" dirty="0"/>
          </a:p>
        </p:txBody>
      </p:sp>
      <p:sp>
        <p:nvSpPr>
          <p:cNvPr id="27" name="Text 25"/>
          <p:cNvSpPr txBox="1"/>
          <p:nvPr/>
        </p:nvSpPr>
        <p:spPr>
          <a:xfrm>
            <a:off x="9164117" y="3913632"/>
            <a:ext cx="2387498" cy="82296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 ISBN</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eigener Preis</a:t>
            </a:r>
            <a:endParaRPr lang="en-US" sz="1100" dirty="0"/>
          </a:p>
          <a:p>
            <a:pPr marL="342900" indent="-342900">
              <a:spcAft>
                <a:spcPts val="600"/>
              </a:spcAft>
              <a:buSzPct val="100000"/>
              <a:buChar char="•"/>
            </a:pPr>
            <a:r>
              <a:rPr lang="en-US" sz="1100" dirty="0">
                <a:solidFill>
                  <a:srgbClr val="16181D"/>
                </a:solidFill>
                <a:latin typeface="Arial" pitchFamily="34" charset="0"/>
                <a:ea typeface="Arial" pitchFamily="34" charset="-122"/>
                <a:cs typeface="Arial" pitchFamily="34" charset="-120"/>
              </a:rPr>
              <a:t>Datei als Download-Asset</a:t>
            </a:r>
            <a:endParaRPr lang="en-US" sz="1100" dirty="0"/>
          </a:p>
        </p:txBody>
      </p:sp>
      <p:sp>
        <p:nvSpPr>
          <p:cNvPr id="28" name="Text 26"/>
          <p:cNvSpPr txBox="1"/>
          <p:nvPr/>
        </p:nvSpPr>
        <p:spPr>
          <a:xfrm>
            <a:off x="3429000" y="4937760"/>
            <a:ext cx="8214055" cy="228600"/>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HIERARCHIEN · EIN TITEL, MEHRERE ORDNUNGEN</a:t>
            </a:r>
            <a:endParaRPr lang="en-US" sz="1000" dirty="0"/>
          </a:p>
        </p:txBody>
      </p:sp>
      <p:sp>
        <p:nvSpPr>
          <p:cNvPr id="29" name="Shape 27"/>
          <p:cNvSpPr/>
          <p:nvPr/>
        </p:nvSpPr>
        <p:spPr>
          <a:xfrm>
            <a:off x="3429000" y="5212080"/>
            <a:ext cx="1950644" cy="914400"/>
          </a:xfrm>
          <a:prstGeom prst="rect">
            <a:avLst/>
          </a:prstGeom>
          <a:solidFill>
            <a:srgbClr val="EEF0F2"/>
          </a:solidFill>
          <a:ln w="12700">
            <a:solidFill>
              <a:srgbClr val="EEF0F2"/>
            </a:solidFill>
            <a:prstDash val="solid"/>
          </a:ln>
        </p:spPr>
      </p:sp>
      <p:sp>
        <p:nvSpPr>
          <p:cNvPr id="30" name="Text 28"/>
          <p:cNvSpPr txBox="1"/>
          <p:nvPr/>
        </p:nvSpPr>
        <p:spPr>
          <a:xfrm>
            <a:off x="3538728"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MASTER</a:t>
            </a:r>
            <a:endParaRPr lang="en-US" sz="900" dirty="0"/>
          </a:p>
        </p:txBody>
      </p:sp>
      <p:sp>
        <p:nvSpPr>
          <p:cNvPr id="31" name="Text 29"/>
          <p:cNvSpPr txBox="1"/>
          <p:nvPr/>
        </p:nvSpPr>
        <p:spPr>
          <a:xfrm>
            <a:off x="3538728"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Brandschutz › Bautechnik / Vorb. Brandschutz</a:t>
            </a:r>
            <a:endParaRPr lang="en-US" sz="1100" dirty="0"/>
          </a:p>
        </p:txBody>
      </p:sp>
      <p:sp>
        <p:nvSpPr>
          <p:cNvPr id="32" name="Shape 30"/>
          <p:cNvSpPr/>
          <p:nvPr/>
        </p:nvSpPr>
        <p:spPr>
          <a:xfrm>
            <a:off x="5516804" y="5212080"/>
            <a:ext cx="1950644" cy="914400"/>
          </a:xfrm>
          <a:prstGeom prst="rect">
            <a:avLst/>
          </a:prstGeom>
          <a:solidFill>
            <a:srgbClr val="EEF0F2"/>
          </a:solidFill>
          <a:ln w="12700">
            <a:solidFill>
              <a:srgbClr val="EEF0F2"/>
            </a:solidFill>
            <a:prstDash val="solid"/>
          </a:ln>
        </p:spPr>
      </p:sp>
      <p:sp>
        <p:nvSpPr>
          <p:cNvPr id="33" name="Text 31"/>
          <p:cNvSpPr txBox="1"/>
          <p:nvPr/>
        </p:nvSpPr>
        <p:spPr>
          <a:xfrm>
            <a:off x="5626532"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SHOP</a:t>
            </a:r>
            <a:endParaRPr lang="en-US" sz="900" dirty="0"/>
          </a:p>
        </p:txBody>
      </p:sp>
      <p:sp>
        <p:nvSpPr>
          <p:cNvPr id="34" name="Text 32"/>
          <p:cNvSpPr txBox="1"/>
          <p:nvPr/>
        </p:nvSpPr>
        <p:spPr>
          <a:xfrm>
            <a:off x="5626532"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Navigation und Filter des Shops</a:t>
            </a:r>
            <a:endParaRPr lang="en-US" sz="1100" dirty="0"/>
          </a:p>
        </p:txBody>
      </p:sp>
      <p:sp>
        <p:nvSpPr>
          <p:cNvPr id="35" name="Shape 33"/>
          <p:cNvSpPr/>
          <p:nvPr/>
        </p:nvSpPr>
        <p:spPr>
          <a:xfrm>
            <a:off x="7604608" y="5212080"/>
            <a:ext cx="1950644" cy="914400"/>
          </a:xfrm>
          <a:prstGeom prst="rect">
            <a:avLst/>
          </a:prstGeom>
          <a:solidFill>
            <a:srgbClr val="EEF0F2"/>
          </a:solidFill>
          <a:ln w="12700">
            <a:solidFill>
              <a:srgbClr val="EEF0F2"/>
            </a:solidFill>
            <a:prstDash val="solid"/>
          </a:ln>
        </p:spPr>
      </p:sp>
      <p:sp>
        <p:nvSpPr>
          <p:cNvPr id="36" name="Text 34"/>
          <p:cNvSpPr txBox="1"/>
          <p:nvPr/>
        </p:nvSpPr>
        <p:spPr>
          <a:xfrm>
            <a:off x="7714336"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REIHE</a:t>
            </a:r>
            <a:endParaRPr lang="en-US" sz="900" dirty="0"/>
          </a:p>
        </p:txBody>
      </p:sp>
      <p:sp>
        <p:nvSpPr>
          <p:cNvPr id="37" name="Text 35"/>
          <p:cNvSpPr txBox="1"/>
          <p:nvPr/>
        </p:nvSpPr>
        <p:spPr>
          <a:xfrm>
            <a:off x="7714336"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Die Roten Hefte › Band 75</a:t>
            </a:r>
            <a:endParaRPr lang="en-US" sz="1100" dirty="0"/>
          </a:p>
        </p:txBody>
      </p:sp>
      <p:sp>
        <p:nvSpPr>
          <p:cNvPr id="38" name="Shape 36"/>
          <p:cNvSpPr/>
          <p:nvPr/>
        </p:nvSpPr>
        <p:spPr>
          <a:xfrm>
            <a:off x="9692411" y="5212080"/>
            <a:ext cx="1950644" cy="914400"/>
          </a:xfrm>
          <a:prstGeom prst="rect">
            <a:avLst/>
          </a:prstGeom>
          <a:solidFill>
            <a:srgbClr val="EEF0F2"/>
          </a:solidFill>
          <a:ln w="12700">
            <a:solidFill>
              <a:srgbClr val="EEF0F2"/>
            </a:solidFill>
            <a:prstDash val="solid"/>
          </a:ln>
        </p:spPr>
      </p:sp>
      <p:sp>
        <p:nvSpPr>
          <p:cNvPr id="39" name="Text 37"/>
          <p:cNvSpPr txBox="1"/>
          <p:nvPr/>
        </p:nvSpPr>
        <p:spPr>
          <a:xfrm>
            <a:off x="9802139" y="5285232"/>
            <a:ext cx="1731188" cy="201168"/>
          </a:xfrm>
          <a:prstGeom prst="rect">
            <a:avLst/>
          </a:prstGeom>
          <a:noFill/>
          <a:ln/>
        </p:spPr>
        <p:txBody>
          <a:bodyPr wrap="square" lIns="0" tIns="0" rIns="0" bIns="0" rtlCol="0" anchor="t"/>
          <a:lstStyle/>
          <a:p>
            <a:pPr indent="0" marL="0">
              <a:buNone/>
            </a:pPr>
            <a:r>
              <a:rPr lang="en-US" sz="900" b="1" dirty="0">
                <a:solidFill>
                  <a:srgbClr val="4B5563"/>
                </a:solidFill>
                <a:latin typeface="Arial" pitchFamily="34" charset="0"/>
                <a:ea typeface="Arial" pitchFamily="34" charset="-122"/>
                <a:cs typeface="Arial" pitchFamily="34" charset="-120"/>
              </a:rPr>
              <a:t>OUTPUT: HANDEL</a:t>
            </a:r>
            <a:endParaRPr lang="en-US" sz="900" dirty="0"/>
          </a:p>
        </p:txBody>
      </p:sp>
      <p:sp>
        <p:nvSpPr>
          <p:cNvPr id="40" name="Text 38"/>
          <p:cNvSpPr txBox="1"/>
          <p:nvPr/>
        </p:nvSpPr>
        <p:spPr>
          <a:xfrm>
            <a:off x="9802139" y="5504688"/>
            <a:ext cx="1731188" cy="548640"/>
          </a:xfrm>
          <a:prstGeom prst="rect">
            <a:avLst/>
          </a:prstGeom>
          <a:noFill/>
          <a:ln/>
        </p:spPr>
        <p:txBody>
          <a:bodyPr wrap="square" lIns="0" tIns="0" rIns="0" bIns="0" rtlCol="0" anchor="t"/>
          <a:lstStyle/>
          <a:p>
            <a:pPr indent="0" marL="0">
              <a:buNone/>
            </a:pPr>
            <a:r>
              <a:rPr lang="en-US" sz="1100" dirty="0">
                <a:solidFill>
                  <a:srgbClr val="16181D"/>
                </a:solidFill>
                <a:latin typeface="Arial" pitchFamily="34" charset="0"/>
                <a:ea typeface="Arial" pitchFamily="34" charset="-122"/>
                <a:cs typeface="Arial" pitchFamily="34" charset="-120"/>
              </a:rPr>
              <a:t>z. B. Thema / Warengruppe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DIE ENTSCHEIDUNG</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denkbare Wege – zwei davon sind tragfähig.</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5</a:t>
            </a:r>
            <a:endParaRPr lang="en-US" sz="900" dirty="0"/>
          </a:p>
        </p:txBody>
      </p:sp>
      <p:sp>
        <p:nvSpPr>
          <p:cNvPr id="6" name="Shape 4"/>
          <p:cNvSpPr/>
          <p:nvPr/>
        </p:nvSpPr>
        <p:spPr>
          <a:xfrm>
            <a:off x="548640" y="1783080"/>
            <a:ext cx="3520440" cy="685800"/>
          </a:xfrm>
          <a:prstGeom prst="rect">
            <a:avLst/>
          </a:prstGeom>
          <a:solidFill>
            <a:srgbClr val="000E2F"/>
          </a:solidFill>
          <a:ln w="12700">
            <a:solidFill>
              <a:srgbClr val="000E2F"/>
            </a:solidFill>
            <a:prstDash val="solid"/>
          </a:ln>
        </p:spPr>
      </p:sp>
      <p:sp>
        <p:nvSpPr>
          <p:cNvPr id="7" name="Text 5"/>
          <p:cNvSpPr txBox="1"/>
          <p:nvPr/>
        </p:nvSpPr>
        <p:spPr>
          <a:xfrm>
            <a:off x="731520"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Weiter mit Pimcore 6</a:t>
            </a:r>
            <a:endParaRPr lang="en-US" sz="1600" dirty="0"/>
          </a:p>
        </p:txBody>
      </p:sp>
      <p:sp>
        <p:nvSpPr>
          <p:cNvPr id="8" name="Text 6"/>
          <p:cNvSpPr txBox="1"/>
          <p:nvPr/>
        </p:nvSpPr>
        <p:spPr>
          <a:xfrm>
            <a:off x="3566160"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548640" y="2697480"/>
            <a:ext cx="2377440" cy="365760"/>
          </a:xfrm>
          <a:prstGeom prst="roundRect">
            <a:avLst>
              <a:gd name="adj" fmla="val 50000"/>
            </a:avLst>
          </a:prstGeom>
          <a:solidFill>
            <a:srgbClr val="EEF0F2"/>
          </a:solidFill>
          <a:ln w="12700">
            <a:solidFill>
              <a:srgbClr val="EEF0F2"/>
            </a:solidFill>
            <a:prstDash val="solid"/>
          </a:ln>
        </p:spPr>
      </p:sp>
      <p:sp>
        <p:nvSpPr>
          <p:cNvPr id="10" name="Text 8"/>
          <p:cNvSpPr txBox="1"/>
          <p:nvPr/>
        </p:nvSpPr>
        <p:spPr>
          <a:xfrm>
            <a:off x="548640" y="2697480"/>
            <a:ext cx="2377440" cy="36576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Keine Option</a:t>
            </a:r>
            <a:endParaRPr lang="en-US" sz="1200" dirty="0"/>
          </a:p>
        </p:txBody>
      </p:sp>
      <p:sp>
        <p:nvSpPr>
          <p:cNvPr id="11" name="Text 9"/>
          <p:cNvSpPr txBox="1"/>
          <p:nvPr/>
        </p:nvSpPr>
        <p:spPr>
          <a:xfrm>
            <a:off x="548640"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Pimcore 6 erhält keine Updates mehr und läuft auf einer PHP- und Symfony-Generation ohne Sicherheitsupdates. Das Betriebsrisiko wächst mit jedem Monat.</a:t>
            </a:r>
            <a:endParaRPr lang="en-US" sz="1500" dirty="0"/>
          </a:p>
        </p:txBody>
      </p:sp>
      <p:sp>
        <p:nvSpPr>
          <p:cNvPr id="12" name="Shape 10"/>
          <p:cNvSpPr/>
          <p:nvPr/>
        </p:nvSpPr>
        <p:spPr>
          <a:xfrm>
            <a:off x="4335628" y="1783080"/>
            <a:ext cx="3520440" cy="685800"/>
          </a:xfrm>
          <a:prstGeom prst="rect">
            <a:avLst/>
          </a:prstGeom>
          <a:solidFill>
            <a:srgbClr val="000E2F"/>
          </a:solidFill>
          <a:ln w="12700">
            <a:solidFill>
              <a:srgbClr val="000E2F"/>
            </a:solidFill>
            <a:prstDash val="solid"/>
          </a:ln>
        </p:spPr>
      </p:sp>
      <p:sp>
        <p:nvSpPr>
          <p:cNvPr id="13" name="Text 11"/>
          <p:cNvSpPr txBox="1"/>
          <p:nvPr/>
        </p:nvSpPr>
        <p:spPr>
          <a:xfrm>
            <a:off x="4518508"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Upgrade auf aktuelles Pimcore</a:t>
            </a:r>
            <a:endParaRPr lang="en-US" sz="1600" dirty="0"/>
          </a:p>
        </p:txBody>
      </p:sp>
      <p:sp>
        <p:nvSpPr>
          <p:cNvPr id="14" name="Text 12"/>
          <p:cNvSpPr txBox="1"/>
          <p:nvPr/>
        </p:nvSpPr>
        <p:spPr>
          <a:xfrm>
            <a:off x="7353148"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4335628" y="2697480"/>
            <a:ext cx="2377440" cy="365760"/>
          </a:xfrm>
          <a:prstGeom prst="roundRect">
            <a:avLst>
              <a:gd name="adj" fmla="val 50000"/>
            </a:avLst>
          </a:prstGeom>
          <a:solidFill>
            <a:srgbClr val="E3E8F4"/>
          </a:solidFill>
          <a:ln w="12700">
            <a:solidFill>
              <a:srgbClr val="E3E8F4"/>
            </a:solidFill>
            <a:prstDash val="solid"/>
          </a:ln>
        </p:spPr>
      </p:sp>
      <p:sp>
        <p:nvSpPr>
          <p:cNvPr id="16" name="Text 14"/>
          <p:cNvSpPr txBox="1"/>
          <p:nvPr/>
        </p:nvSpPr>
        <p:spPr>
          <a:xfrm>
            <a:off x="4335628" y="2697480"/>
            <a:ext cx="237744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Tragfähig, aufwendig</a:t>
            </a:r>
            <a:endParaRPr lang="en-US" sz="1200" dirty="0"/>
          </a:p>
        </p:txBody>
      </p:sp>
      <p:sp>
        <p:nvSpPr>
          <p:cNvPr id="17" name="Text 15"/>
          <p:cNvSpPr txBox="1"/>
          <p:nvPr/>
        </p:nvSpPr>
        <p:spPr>
          <a:xfrm>
            <a:off x="4335628"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Schrittweise über mehrere Hauptversionen bis 2026.x, danach jedes Release nachziehen. Wachsender Stack mit Docker und OpenSearch – und erstmals Lizenzkosten, auch für Erweiterungen mit wenig Nutzen.</a:t>
            </a:r>
            <a:endParaRPr lang="en-US" sz="1500" dirty="0"/>
          </a:p>
        </p:txBody>
      </p:sp>
      <p:sp>
        <p:nvSpPr>
          <p:cNvPr id="18" name="Shape 16"/>
          <p:cNvSpPr/>
          <p:nvPr/>
        </p:nvSpPr>
        <p:spPr>
          <a:xfrm>
            <a:off x="8122615" y="1783080"/>
            <a:ext cx="3520440" cy="685800"/>
          </a:xfrm>
          <a:prstGeom prst="rect">
            <a:avLst/>
          </a:prstGeom>
          <a:solidFill>
            <a:srgbClr val="000E2F"/>
          </a:solidFill>
          <a:ln w="12700">
            <a:solidFill>
              <a:srgbClr val="000E2F"/>
            </a:solidFill>
            <a:prstDash val="solid"/>
          </a:ln>
        </p:spPr>
      </p:sp>
      <p:sp>
        <p:nvSpPr>
          <p:cNvPr id="19" name="Text 17"/>
          <p:cNvSpPr txBox="1"/>
          <p:nvPr/>
        </p:nvSpPr>
        <p:spPr>
          <a:xfrm>
            <a:off x="8305495" y="1783080"/>
            <a:ext cx="2834640" cy="6858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Wechsel zu anyPIM</a:t>
            </a:r>
            <a:endParaRPr lang="en-US" sz="1600" dirty="0"/>
          </a:p>
        </p:txBody>
      </p:sp>
      <p:sp>
        <p:nvSpPr>
          <p:cNvPr id="20" name="Text 18"/>
          <p:cNvSpPr txBox="1"/>
          <p:nvPr/>
        </p:nvSpPr>
        <p:spPr>
          <a:xfrm>
            <a:off x="11140135" y="1783080"/>
            <a:ext cx="365760" cy="68580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8122615" y="2697480"/>
            <a:ext cx="2377440" cy="365760"/>
          </a:xfrm>
          <a:prstGeom prst="roundRect">
            <a:avLst>
              <a:gd name="adj" fmla="val 50000"/>
            </a:avLst>
          </a:prstGeom>
          <a:solidFill>
            <a:srgbClr val="DFF3EA"/>
          </a:solidFill>
          <a:ln w="12700">
            <a:solidFill>
              <a:srgbClr val="DFF3EA"/>
            </a:solidFill>
            <a:prstDash val="solid"/>
          </a:ln>
        </p:spPr>
      </p:sp>
      <p:sp>
        <p:nvSpPr>
          <p:cNvPr id="22" name="Text 20"/>
          <p:cNvSpPr txBox="1"/>
          <p:nvPr/>
        </p:nvSpPr>
        <p:spPr>
          <a:xfrm>
            <a:off x="8122615" y="2697480"/>
            <a:ext cx="237744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Tragfähig · Empfehlung</a:t>
            </a:r>
            <a:endParaRPr lang="en-US" sz="1200" dirty="0"/>
          </a:p>
        </p:txBody>
      </p:sp>
      <p:sp>
        <p:nvSpPr>
          <p:cNvPr id="23" name="Text 21"/>
          <p:cNvSpPr txBox="1"/>
          <p:nvPr/>
        </p:nvSpPr>
        <p:spPr>
          <a:xfrm>
            <a:off x="8122615" y="3291840"/>
            <a:ext cx="3520440" cy="2194560"/>
          </a:xfrm>
          <a:prstGeom prst="rect">
            <a:avLst/>
          </a:prstGeom>
          <a:noFill/>
          <a:ln/>
        </p:spPr>
        <p:txBody>
          <a:bodyPr wrap="square" lIns="0" tIns="0" rIns="0" bIns="0" rtlCol="0" anchor="t"/>
          <a:lstStyle/>
          <a:p>
            <a:pPr indent="0" marL="0">
              <a:lnSpc>
                <a:spcPct val="115000"/>
              </a:lnSpc>
              <a:buNone/>
            </a:pPr>
            <a:r>
              <a:rPr lang="en-US" sz="1500" dirty="0">
                <a:solidFill>
                  <a:srgbClr val="16181D"/>
                </a:solidFill>
                <a:latin typeface="Arial" pitchFamily="34" charset="0"/>
                <a:ea typeface="Arial" pitchFamily="34" charset="-122"/>
                <a:cs typeface="Arial" pitchFamily="34" charset="-120"/>
              </a:rPr>
              <a:t>Datenübernahme und ein Projekt für Kohlhammer-Funktionen, die danach Standard im Produkt sind. Nativer Betrieb ohne Docker und OpenSearch; lizenziert werden nur genutzte Module.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WAS „UPGRADE“ BEI PIMCORE 6 HEISST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Kein Versionssprung, sondern ein Weg über mehrere Hauptversionen – und danach eine Daueraufgabe.</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6</a:t>
            </a:r>
            <a:endParaRPr lang="en-US" sz="900" dirty="0"/>
          </a:p>
        </p:txBody>
      </p:sp>
      <p:sp>
        <p:nvSpPr>
          <p:cNvPr id="6" name="Shape 4"/>
          <p:cNvSpPr/>
          <p:nvPr/>
        </p:nvSpPr>
        <p:spPr>
          <a:xfrm>
            <a:off x="548640" y="1783080"/>
            <a:ext cx="914400" cy="914400"/>
          </a:xfrm>
          <a:prstGeom prst="ellipse">
            <a:avLst/>
          </a:prstGeom>
          <a:solidFill>
            <a:srgbClr val="FFFFFF"/>
          </a:solidFill>
          <a:ln w="25400">
            <a:solidFill>
              <a:srgbClr val="1B2D5C"/>
            </a:solidFill>
            <a:prstDash val="solid"/>
          </a:ln>
        </p:spPr>
      </p:sp>
      <p:sp>
        <p:nvSpPr>
          <p:cNvPr id="7" name="Text 5"/>
          <p:cNvSpPr txBox="1"/>
          <p:nvPr/>
        </p:nvSpPr>
        <p:spPr>
          <a:xfrm>
            <a:off x="54864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6</a:t>
            </a:r>
            <a:endParaRPr lang="en-US" sz="2800" dirty="0"/>
          </a:p>
        </p:txBody>
      </p:sp>
      <p:sp>
        <p:nvSpPr>
          <p:cNvPr id="8" name="Text 6"/>
          <p:cNvSpPr txBox="1"/>
          <p:nvPr/>
        </p:nvSpPr>
        <p:spPr>
          <a:xfrm>
            <a:off x="36576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Kohlhammer</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heute</a:t>
            </a:r>
            <a:endParaRPr lang="en-US" sz="1050" dirty="0"/>
          </a:p>
        </p:txBody>
      </p:sp>
      <p:sp>
        <p:nvSpPr>
          <p:cNvPr id="9" name="Text 7"/>
          <p:cNvSpPr txBox="1"/>
          <p:nvPr/>
        </p:nvSpPr>
        <p:spPr>
          <a:xfrm>
            <a:off x="146304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1828800" y="1783080"/>
            <a:ext cx="914400" cy="914400"/>
          </a:xfrm>
          <a:prstGeom prst="ellipse">
            <a:avLst/>
          </a:prstGeom>
          <a:solidFill>
            <a:srgbClr val="FFFFFF"/>
          </a:solidFill>
          <a:ln w="25400">
            <a:solidFill>
              <a:srgbClr val="1B2D5C"/>
            </a:solidFill>
            <a:prstDash val="solid"/>
          </a:ln>
        </p:spPr>
      </p:sp>
      <p:sp>
        <p:nvSpPr>
          <p:cNvPr id="11" name="Text 9"/>
          <p:cNvSpPr txBox="1"/>
          <p:nvPr/>
        </p:nvSpPr>
        <p:spPr>
          <a:xfrm>
            <a:off x="182880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10</a:t>
            </a:r>
            <a:endParaRPr lang="en-US" sz="2800" dirty="0"/>
          </a:p>
        </p:txBody>
      </p:sp>
      <p:sp>
        <p:nvSpPr>
          <p:cNvPr id="12" name="Text 10"/>
          <p:cNvSpPr txBox="1"/>
          <p:nvPr/>
        </p:nvSpPr>
        <p:spPr>
          <a:xfrm>
            <a:off x="164592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5,</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PHP 8</a:t>
            </a:r>
            <a:endParaRPr lang="en-US" sz="1050" dirty="0"/>
          </a:p>
        </p:txBody>
      </p:sp>
      <p:sp>
        <p:nvSpPr>
          <p:cNvPr id="13" name="Text 11"/>
          <p:cNvSpPr txBox="1"/>
          <p:nvPr/>
        </p:nvSpPr>
        <p:spPr>
          <a:xfrm>
            <a:off x="274320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3108960" y="1783080"/>
            <a:ext cx="914400" cy="914400"/>
          </a:xfrm>
          <a:prstGeom prst="ellipse">
            <a:avLst/>
          </a:prstGeom>
          <a:solidFill>
            <a:srgbClr val="FFFFFF"/>
          </a:solidFill>
          <a:ln w="25400">
            <a:solidFill>
              <a:srgbClr val="1B2D5C"/>
            </a:solidFill>
            <a:prstDash val="solid"/>
          </a:ln>
        </p:spPr>
      </p:sp>
      <p:sp>
        <p:nvSpPr>
          <p:cNvPr id="15" name="Text 13"/>
          <p:cNvSpPr txBox="1"/>
          <p:nvPr/>
        </p:nvSpPr>
        <p:spPr>
          <a:xfrm>
            <a:off x="3108960" y="1783080"/>
            <a:ext cx="914400" cy="914400"/>
          </a:xfrm>
          <a:prstGeom prst="rect">
            <a:avLst/>
          </a:prstGeom>
          <a:noFill/>
          <a:ln/>
        </p:spPr>
        <p:txBody>
          <a:bodyPr wrap="square" lIns="0" tIns="0" rIns="0" bIns="0" rtlCol="0" anchor="ctr"/>
          <a:lstStyle/>
          <a:p>
            <a:pPr algn="ctr" indent="0" marL="0">
              <a:buNone/>
            </a:pPr>
            <a:r>
              <a:rPr lang="en-US" sz="2800" dirty="0">
                <a:solidFill>
                  <a:srgbClr val="1B2D5C"/>
                </a:solidFill>
                <a:latin typeface="Arial" pitchFamily="34" charset="0"/>
                <a:ea typeface="Arial" pitchFamily="34" charset="-122"/>
                <a:cs typeface="Arial" pitchFamily="34" charset="-120"/>
              </a:rPr>
              <a:t>11</a:t>
            </a:r>
            <a:endParaRPr lang="en-US" sz="2800" dirty="0"/>
          </a:p>
        </p:txBody>
      </p:sp>
      <p:sp>
        <p:nvSpPr>
          <p:cNvPr id="16" name="Text 14"/>
          <p:cNvSpPr txBox="1"/>
          <p:nvPr/>
        </p:nvSpPr>
        <p:spPr>
          <a:xfrm>
            <a:off x="292608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Symfony 6,</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Bundles ausgelagert</a:t>
            </a:r>
            <a:endParaRPr lang="en-US" sz="1050" dirty="0"/>
          </a:p>
        </p:txBody>
      </p:sp>
      <p:sp>
        <p:nvSpPr>
          <p:cNvPr id="17" name="Text 15"/>
          <p:cNvSpPr txBox="1"/>
          <p:nvPr/>
        </p:nvSpPr>
        <p:spPr>
          <a:xfrm>
            <a:off x="402336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18" name="Shape 16"/>
          <p:cNvSpPr/>
          <p:nvPr/>
        </p:nvSpPr>
        <p:spPr>
          <a:xfrm>
            <a:off x="4389120" y="1783080"/>
            <a:ext cx="914400" cy="914400"/>
          </a:xfrm>
          <a:prstGeom prst="ellipse">
            <a:avLst/>
          </a:prstGeom>
          <a:solidFill>
            <a:srgbClr val="FFFFFF"/>
          </a:solidFill>
          <a:ln w="25400">
            <a:solidFill>
              <a:srgbClr val="1B2D5C"/>
            </a:solidFill>
            <a:prstDash val="solid"/>
          </a:ln>
        </p:spPr>
      </p:sp>
      <p:sp>
        <p:nvSpPr>
          <p:cNvPr id="19" name="Text 17"/>
          <p:cNvSpPr txBox="1"/>
          <p:nvPr/>
        </p:nvSpPr>
        <p:spPr>
          <a:xfrm>
            <a:off x="4389120" y="1783080"/>
            <a:ext cx="914400" cy="914400"/>
          </a:xfrm>
          <a:prstGeom prst="rect">
            <a:avLst/>
          </a:prstGeom>
          <a:noFill/>
          <a:ln/>
        </p:spPr>
        <p:txBody>
          <a:bodyPr wrap="square" lIns="0" tIns="0" rIns="0" bIns="0" rtlCol="0" anchor="ctr"/>
          <a:lstStyle/>
          <a:p>
            <a:pPr algn="ctr" indent="0" marL="0">
              <a:buNone/>
            </a:pPr>
            <a:r>
              <a:rPr lang="en-US" sz="1600" dirty="0">
                <a:solidFill>
                  <a:srgbClr val="1B2D5C"/>
                </a:solidFill>
                <a:latin typeface="Arial" pitchFamily="34" charset="0"/>
                <a:ea typeface="Arial" pitchFamily="34" charset="-122"/>
                <a:cs typeface="Arial" pitchFamily="34" charset="-120"/>
              </a:rPr>
              <a:t>2026.2</a:t>
            </a:r>
            <a:endParaRPr lang="en-US" sz="1600" dirty="0"/>
          </a:p>
        </p:txBody>
      </p:sp>
      <p:sp>
        <p:nvSpPr>
          <p:cNvPr id="20" name="Text 18"/>
          <p:cNvSpPr txBox="1"/>
          <p:nvPr/>
        </p:nvSpPr>
        <p:spPr>
          <a:xfrm>
            <a:off x="420624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aktuelle Version,</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POCL, Studio</a:t>
            </a:r>
            <a:endParaRPr lang="en-US" sz="1050" dirty="0"/>
          </a:p>
        </p:txBody>
      </p:sp>
      <p:sp>
        <p:nvSpPr>
          <p:cNvPr id="21" name="Text 19"/>
          <p:cNvSpPr txBox="1"/>
          <p:nvPr/>
        </p:nvSpPr>
        <p:spPr>
          <a:xfrm>
            <a:off x="5303520" y="1783080"/>
            <a:ext cx="365760" cy="914400"/>
          </a:xfrm>
          <a:prstGeom prst="rect">
            <a:avLst/>
          </a:prstGeom>
          <a:noFill/>
          <a:ln/>
        </p:spPr>
        <p:txBody>
          <a:bodyPr wrap="square" lIns="0" tIns="0" rIns="0" bIns="0" rtlCol="0" anchor="ctr"/>
          <a:lstStyle/>
          <a:p>
            <a:pPr algn="ctr" indent="0" marL="0">
              <a:buNone/>
            </a:pPr>
            <a:r>
              <a:rPr lang="en-US" sz="2000" dirty="0">
                <a:solidFill>
                  <a:srgbClr val="1B2D5C"/>
                </a:solidFill>
                <a:latin typeface="Arial" pitchFamily="34" charset="0"/>
                <a:ea typeface="Arial" pitchFamily="34" charset="-122"/>
                <a:cs typeface="Arial" pitchFamily="34" charset="-120"/>
              </a:rPr>
              <a:t>→</a:t>
            </a:r>
            <a:endParaRPr lang="en-US" sz="2000" dirty="0"/>
          </a:p>
        </p:txBody>
      </p:sp>
      <p:sp>
        <p:nvSpPr>
          <p:cNvPr id="22" name="Shape 20"/>
          <p:cNvSpPr/>
          <p:nvPr/>
        </p:nvSpPr>
        <p:spPr>
          <a:xfrm>
            <a:off x="5669280" y="1783080"/>
            <a:ext cx="914400" cy="914400"/>
          </a:xfrm>
          <a:prstGeom prst="ellipse">
            <a:avLst/>
          </a:prstGeom>
          <a:solidFill>
            <a:srgbClr val="1B2D5C"/>
          </a:solidFill>
          <a:ln w="25400">
            <a:solidFill>
              <a:srgbClr val="1B2D5C"/>
            </a:solidFill>
            <a:prstDash val="solid"/>
          </a:ln>
        </p:spPr>
      </p:sp>
      <p:sp>
        <p:nvSpPr>
          <p:cNvPr id="23" name="Text 21"/>
          <p:cNvSpPr txBox="1"/>
          <p:nvPr/>
        </p:nvSpPr>
        <p:spPr>
          <a:xfrm>
            <a:off x="5669280" y="1783080"/>
            <a:ext cx="914400" cy="914400"/>
          </a:xfrm>
          <a:prstGeom prst="rect">
            <a:avLst/>
          </a:prstGeom>
          <a:noFill/>
          <a:ln/>
        </p:spPr>
        <p:txBody>
          <a:bodyPr wrap="square" lIns="0" tIns="0" rIns="0" bIns="0" rtlCol="0" anchor="ctr"/>
          <a:lstStyle/>
          <a:p>
            <a:pPr algn="ctr" indent="0" marL="0">
              <a:buNone/>
            </a:pPr>
            <a:r>
              <a:rPr lang="en-US" sz="1600" dirty="0">
                <a:solidFill>
                  <a:srgbClr val="FFFFFF"/>
                </a:solidFill>
                <a:latin typeface="Arial" pitchFamily="34" charset="0"/>
                <a:ea typeface="Arial" pitchFamily="34" charset="-122"/>
                <a:cs typeface="Arial" pitchFamily="34" charset="-120"/>
              </a:rPr>
              <a:t>2026.3</a:t>
            </a:r>
            <a:endParaRPr lang="en-US" sz="1600" dirty="0"/>
          </a:p>
        </p:txBody>
      </p:sp>
      <p:sp>
        <p:nvSpPr>
          <p:cNvPr id="24" name="Text 22"/>
          <p:cNvSpPr txBox="1"/>
          <p:nvPr/>
        </p:nvSpPr>
        <p:spPr>
          <a:xfrm>
            <a:off x="5486400" y="2816352"/>
            <a:ext cx="1280160" cy="640080"/>
          </a:xfrm>
          <a:prstGeom prst="rect">
            <a:avLst/>
          </a:prstGeom>
          <a:noFill/>
          <a:ln/>
        </p:spPr>
        <p:txBody>
          <a:bodyPr wrap="square" lIns="0" tIns="0" rIns="0" bIns="0" rtlCol="0" anchor="t"/>
          <a:lstStyle/>
          <a:p>
            <a:pPr algn="ctr" indent="0" marL="0">
              <a:buNone/>
            </a:pPr>
            <a:r>
              <a:rPr lang="en-US" sz="1050" dirty="0">
                <a:solidFill>
                  <a:srgbClr val="4B5563"/>
                </a:solidFill>
                <a:latin typeface="Arial" pitchFamily="34" charset="0"/>
                <a:ea typeface="Arial" pitchFamily="34" charset="-122"/>
                <a:cs typeface="Arial" pitchFamily="34" charset="-120"/>
              </a:rPr>
              <a:t>angekündigt –</a:t>
            </a:r>
            <a:endParaRPr lang="en-US" sz="1050" dirty="0"/>
          </a:p>
          <a:p>
            <a:pPr algn="ctr" indent="0" marL="0">
              <a:buNone/>
            </a:pPr>
            <a:r>
              <a:rPr lang="en-US" sz="1050" dirty="0">
                <a:solidFill>
                  <a:srgbClr val="4B5563"/>
                </a:solidFill>
                <a:latin typeface="Arial" pitchFamily="34" charset="0"/>
                <a:ea typeface="Arial" pitchFamily="34" charset="-122"/>
                <a:cs typeface="Arial" pitchFamily="34" charset="-120"/>
              </a:rPr>
              <a:t>und so weiter</a:t>
            </a:r>
            <a:endParaRPr lang="en-US" sz="1050" dirty="0"/>
          </a:p>
        </p:txBody>
      </p:sp>
      <p:sp>
        <p:nvSpPr>
          <p:cNvPr id="25" name="Text 23"/>
          <p:cNvSpPr txBox="1"/>
          <p:nvPr/>
        </p:nvSpPr>
        <p:spPr>
          <a:xfrm>
            <a:off x="548640" y="3703320"/>
            <a:ext cx="5943600" cy="24688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Jede Stufe bringt neue PHP- und Symfony-Anforderungen – Eigenentwicklungen müssen jedes Mal angepasst werden.</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Nach dem Upgrade bleibt Nachziehen Daueraufgabe: 2026.3 ist angekündigt, jedes Release betrifft Core, Bundles, Oberfläche und Betriebsumgebung.</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Pimcore 6 lief unter GPL. Das aktuelle Pimcore steht unter der Pimcore Open Core License.</a:t>
            </a:r>
            <a:endParaRPr lang="en-US" sz="1400" dirty="0"/>
          </a:p>
        </p:txBody>
      </p:sp>
      <p:sp>
        <p:nvSpPr>
          <p:cNvPr id="26" name="Shape 24"/>
          <p:cNvSpPr/>
          <p:nvPr/>
        </p:nvSpPr>
        <p:spPr>
          <a:xfrm>
            <a:off x="6903720" y="1783080"/>
            <a:ext cx="4739335" cy="2834640"/>
          </a:xfrm>
          <a:prstGeom prst="rect">
            <a:avLst/>
          </a:prstGeom>
          <a:solidFill>
            <a:srgbClr val="C6E6E3"/>
          </a:solidFill>
          <a:ln w="12700">
            <a:solidFill>
              <a:srgbClr val="C6E6E3"/>
            </a:solidFill>
            <a:prstDash val="solid"/>
          </a:ln>
        </p:spPr>
      </p:sp>
      <p:sp>
        <p:nvSpPr>
          <p:cNvPr id="27" name="Text 25"/>
          <p:cNvSpPr txBox="1"/>
          <p:nvPr/>
        </p:nvSpPr>
        <p:spPr>
          <a:xfrm>
            <a:off x="7223760" y="2011680"/>
            <a:ext cx="4114800" cy="1005840"/>
          </a:xfrm>
          <a:prstGeom prst="rect">
            <a:avLst/>
          </a:prstGeom>
          <a:noFill/>
          <a:ln/>
        </p:spPr>
        <p:txBody>
          <a:bodyPr wrap="square" lIns="0" tIns="0" rIns="0" bIns="0" rtlCol="0" anchor="t"/>
          <a:lstStyle/>
          <a:p>
            <a:pPr indent="0" marL="0">
              <a:buNone/>
            </a:pPr>
            <a:r>
              <a:rPr lang="en-US" sz="6000" dirty="0">
                <a:solidFill>
                  <a:srgbClr val="000E2F"/>
                </a:solidFill>
                <a:latin typeface="Arial" pitchFamily="34" charset="0"/>
                <a:ea typeface="Arial" pitchFamily="34" charset="-122"/>
                <a:cs typeface="Arial" pitchFamily="34" charset="-120"/>
              </a:rPr>
              <a:t>5 Mio. €</a:t>
            </a:r>
            <a:endParaRPr lang="en-US" sz="6000" dirty="0"/>
          </a:p>
        </p:txBody>
      </p:sp>
      <p:sp>
        <p:nvSpPr>
          <p:cNvPr id="28" name="Text 26"/>
          <p:cNvSpPr txBox="1"/>
          <p:nvPr/>
        </p:nvSpPr>
        <p:spPr>
          <a:xfrm>
            <a:off x="7223760" y="3108960"/>
            <a:ext cx="4114800" cy="137160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Umsatzgrenze der kostenfreien Pimcore Community Edition seit Version 2025.1. Darüber ist eine kommerzielle Lizenz nötig – für ein Verlagshaus in der Größe von Kohlhammer eine neue laufende Kostenposition.</a:t>
            </a:r>
            <a:endParaRPr lang="en-US" sz="1300" dirty="0"/>
          </a:p>
        </p:txBody>
      </p:sp>
      <p:sp>
        <p:nvSpPr>
          <p:cNvPr id="29" name="Text 27"/>
          <p:cNvSpPr txBox="1"/>
          <p:nvPr/>
        </p:nvSpPr>
        <p:spPr>
          <a:xfrm>
            <a:off x="6903720" y="4892040"/>
            <a:ext cx="4739335" cy="1188720"/>
          </a:xfrm>
          <a:prstGeom prst="rect">
            <a:avLst/>
          </a:prstGeom>
          <a:noFill/>
          <a:ln/>
        </p:spPr>
        <p:txBody>
          <a:bodyPr wrap="square" lIns="0" tIns="0" rIns="0" bIns="0" rtlCol="0" anchor="t"/>
          <a:lstStyle/>
          <a:p>
            <a:pPr indent="0" marL="0">
              <a:lnSpc>
                <a:spcPct val="110000"/>
              </a:lnSpc>
              <a:buNone/>
            </a:pPr>
            <a:r>
              <a:rPr lang="en-US" sz="1500" b="1" dirty="0">
                <a:solidFill>
                  <a:srgbClr val="1B2D5C"/>
                </a:solidFill>
                <a:latin typeface="Arial" pitchFamily="34" charset="0"/>
                <a:ea typeface="Arial" pitchFamily="34" charset="-122"/>
                <a:cs typeface="Arial" pitchFamily="34" charset="-120"/>
              </a:rPr>
              <a:t>Fazit: </a:t>
            </a:r>
            <a:pPr indent="0" marL="0">
              <a:lnSpc>
                <a:spcPct val="110000"/>
              </a:lnSpc>
              <a:buNone/>
            </a:pPr>
            <a:r>
              <a:rPr lang="en-US" sz="1500" dirty="0">
                <a:solidFill>
                  <a:srgbClr val="1B2D5C"/>
                </a:solidFill>
                <a:latin typeface="Arial" pitchFamily="34" charset="0"/>
                <a:ea typeface="Arial" pitchFamily="34" charset="-122"/>
                <a:cs typeface="Arial" pitchFamily="34" charset="-120"/>
              </a:rPr>
              <a:t>Das Upgrade ist in der Praxis ein Neuprojekt – mit dauerhaft höherem Wartungsaufwand danach. Jetzt ist der richtige Zeitpunkt, die Systemfrage offen zu stellen.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BETRIEB IM VERGLEICH</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Was nach der Umstellung dauerhaft betrieben, gesichert und aktualisiert werden muss.</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7</a:t>
            </a:r>
            <a:endParaRPr lang="en-US" sz="900" dirty="0"/>
          </a:p>
        </p:txBody>
      </p:sp>
      <p:sp>
        <p:nvSpPr>
          <p:cNvPr id="6" name="Text 4"/>
          <p:cNvSpPr txBox="1"/>
          <p:nvPr/>
        </p:nvSpPr>
        <p:spPr>
          <a:xfrm>
            <a:off x="548640"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Pimcore 2026 – typischer Betrieb</a:t>
            </a:r>
            <a:endParaRPr lang="en-US" sz="1700" dirty="0"/>
          </a:p>
        </p:txBody>
      </p:sp>
      <p:sp>
        <p:nvSpPr>
          <p:cNvPr id="7" name="Shape 5"/>
          <p:cNvSpPr/>
          <p:nvPr/>
        </p:nvSpPr>
        <p:spPr>
          <a:xfrm>
            <a:off x="548640" y="2011680"/>
            <a:ext cx="5303520" cy="384048"/>
          </a:xfrm>
          <a:prstGeom prst="rect">
            <a:avLst/>
          </a:prstGeom>
          <a:solidFill>
            <a:srgbClr val="F3F5F9"/>
          </a:solidFill>
          <a:ln w="12700">
            <a:solidFill>
              <a:srgbClr val="F3F5F9"/>
            </a:solidFill>
            <a:prstDash val="solid"/>
          </a:ln>
        </p:spPr>
      </p:sp>
      <p:sp>
        <p:nvSpPr>
          <p:cNvPr id="8" name="Text 6"/>
          <p:cNvSpPr txBox="1"/>
          <p:nvPr/>
        </p:nvSpPr>
        <p:spPr>
          <a:xfrm>
            <a:off x="731520"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Container-Betrieb (Docker)</a:t>
            </a:r>
            <a:endParaRPr lang="en-US" sz="1250" dirty="0"/>
          </a:p>
        </p:txBody>
      </p:sp>
      <p:sp>
        <p:nvSpPr>
          <p:cNvPr id="9" name="Shape 7"/>
          <p:cNvSpPr/>
          <p:nvPr/>
        </p:nvSpPr>
        <p:spPr>
          <a:xfrm>
            <a:off x="548640" y="2459736"/>
            <a:ext cx="5303520" cy="384048"/>
          </a:xfrm>
          <a:prstGeom prst="rect">
            <a:avLst/>
          </a:prstGeom>
          <a:solidFill>
            <a:srgbClr val="F3F5F9"/>
          </a:solidFill>
          <a:ln w="12700">
            <a:solidFill>
              <a:srgbClr val="F3F5F9"/>
            </a:solidFill>
            <a:prstDash val="solid"/>
          </a:ln>
        </p:spPr>
      </p:sp>
      <p:sp>
        <p:nvSpPr>
          <p:cNvPr id="10" name="Text 8"/>
          <p:cNvSpPr txBox="1"/>
          <p:nvPr/>
        </p:nvSpPr>
        <p:spPr>
          <a:xfrm>
            <a:off x="731520"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Webserver und PHP-FPM</a:t>
            </a:r>
            <a:endParaRPr lang="en-US" sz="1250" dirty="0"/>
          </a:p>
        </p:txBody>
      </p:sp>
      <p:sp>
        <p:nvSpPr>
          <p:cNvPr id="11" name="Shape 9"/>
          <p:cNvSpPr/>
          <p:nvPr/>
        </p:nvSpPr>
        <p:spPr>
          <a:xfrm>
            <a:off x="548640" y="2907792"/>
            <a:ext cx="5303520" cy="384048"/>
          </a:xfrm>
          <a:prstGeom prst="rect">
            <a:avLst/>
          </a:prstGeom>
          <a:solidFill>
            <a:srgbClr val="F3F5F9"/>
          </a:solidFill>
          <a:ln w="12700">
            <a:solidFill>
              <a:srgbClr val="F3F5F9"/>
            </a:solidFill>
            <a:prstDash val="solid"/>
          </a:ln>
        </p:spPr>
      </p:sp>
      <p:sp>
        <p:nvSpPr>
          <p:cNvPr id="12" name="Text 10"/>
          <p:cNvSpPr txBox="1"/>
          <p:nvPr/>
        </p:nvSpPr>
        <p:spPr>
          <a:xfrm>
            <a:off x="731520"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Pimcore Core und Pimcore Studio</a:t>
            </a:r>
            <a:endParaRPr lang="en-US" sz="1250" dirty="0"/>
          </a:p>
        </p:txBody>
      </p:sp>
      <p:sp>
        <p:nvSpPr>
          <p:cNvPr id="13" name="Shape 11"/>
          <p:cNvSpPr/>
          <p:nvPr/>
        </p:nvSpPr>
        <p:spPr>
          <a:xfrm>
            <a:off x="548640" y="3355848"/>
            <a:ext cx="5303520" cy="384048"/>
          </a:xfrm>
          <a:prstGeom prst="rect">
            <a:avLst/>
          </a:prstGeom>
          <a:solidFill>
            <a:srgbClr val="F3F5F9"/>
          </a:solidFill>
          <a:ln w="12700">
            <a:solidFill>
              <a:srgbClr val="F3F5F9"/>
            </a:solidFill>
            <a:prstDash val="solid"/>
          </a:ln>
        </p:spPr>
      </p:sp>
      <p:sp>
        <p:nvSpPr>
          <p:cNvPr id="14" name="Text 12"/>
          <p:cNvSpPr txBox="1"/>
          <p:nvPr/>
        </p:nvSpPr>
        <p:spPr>
          <a:xfrm>
            <a:off x="731520" y="3355848"/>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Enterprise-Erweiterungen (Datahub, Portale)</a:t>
            </a:r>
            <a:endParaRPr lang="en-US" sz="1250" dirty="0"/>
          </a:p>
        </p:txBody>
      </p:sp>
      <p:sp>
        <p:nvSpPr>
          <p:cNvPr id="15" name="Text 13"/>
          <p:cNvSpPr txBox="1"/>
          <p:nvPr/>
        </p:nvSpPr>
        <p:spPr>
          <a:xfrm>
            <a:off x="4160520" y="3355848"/>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für Kohlhammer wenig Nutzen</a:t>
            </a:r>
            <a:endParaRPr lang="en-US" sz="1000" dirty="0"/>
          </a:p>
        </p:txBody>
      </p:sp>
      <p:sp>
        <p:nvSpPr>
          <p:cNvPr id="16" name="Shape 14"/>
          <p:cNvSpPr/>
          <p:nvPr/>
        </p:nvSpPr>
        <p:spPr>
          <a:xfrm>
            <a:off x="548640" y="3803904"/>
            <a:ext cx="5303520" cy="384048"/>
          </a:xfrm>
          <a:prstGeom prst="rect">
            <a:avLst/>
          </a:prstGeom>
          <a:solidFill>
            <a:srgbClr val="F3F5F9"/>
          </a:solidFill>
          <a:ln w="12700">
            <a:solidFill>
              <a:srgbClr val="F3F5F9"/>
            </a:solidFill>
            <a:prstDash val="solid"/>
          </a:ln>
        </p:spPr>
      </p:sp>
      <p:sp>
        <p:nvSpPr>
          <p:cNvPr id="17" name="Text 15"/>
          <p:cNvSpPr txBox="1"/>
          <p:nvPr/>
        </p:nvSpPr>
        <p:spPr>
          <a:xfrm>
            <a:off x="731520"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Messenger-Worker</a:t>
            </a:r>
            <a:endParaRPr lang="en-US" sz="1250" dirty="0"/>
          </a:p>
        </p:txBody>
      </p:sp>
      <p:sp>
        <p:nvSpPr>
          <p:cNvPr id="18" name="Shape 16"/>
          <p:cNvSpPr/>
          <p:nvPr/>
        </p:nvSpPr>
        <p:spPr>
          <a:xfrm>
            <a:off x="548640" y="4251960"/>
            <a:ext cx="5303520" cy="384048"/>
          </a:xfrm>
          <a:prstGeom prst="rect">
            <a:avLst/>
          </a:prstGeom>
          <a:solidFill>
            <a:srgbClr val="F3F5F9"/>
          </a:solidFill>
          <a:ln w="12700">
            <a:solidFill>
              <a:srgbClr val="F3F5F9"/>
            </a:solidFill>
            <a:prstDash val="solid"/>
          </a:ln>
        </p:spPr>
      </p:sp>
      <p:sp>
        <p:nvSpPr>
          <p:cNvPr id="19" name="Text 17"/>
          <p:cNvSpPr txBox="1"/>
          <p:nvPr/>
        </p:nvSpPr>
        <p:spPr>
          <a:xfrm>
            <a:off x="731520" y="425196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 MariaDB</a:t>
            </a:r>
            <a:endParaRPr lang="en-US" sz="1250" dirty="0"/>
          </a:p>
        </p:txBody>
      </p:sp>
      <p:sp>
        <p:nvSpPr>
          <p:cNvPr id="20" name="Shape 18"/>
          <p:cNvSpPr/>
          <p:nvPr/>
        </p:nvSpPr>
        <p:spPr>
          <a:xfrm>
            <a:off x="548640" y="4700016"/>
            <a:ext cx="5303520" cy="384048"/>
          </a:xfrm>
          <a:prstGeom prst="rect">
            <a:avLst/>
          </a:prstGeom>
          <a:solidFill>
            <a:srgbClr val="F3F5F9"/>
          </a:solidFill>
          <a:ln w="12700">
            <a:solidFill>
              <a:srgbClr val="F3F5F9"/>
            </a:solidFill>
            <a:prstDash val="solid"/>
          </a:ln>
        </p:spPr>
      </p:sp>
      <p:sp>
        <p:nvSpPr>
          <p:cNvPr id="21" name="Text 19"/>
          <p:cNvSpPr txBox="1"/>
          <p:nvPr/>
        </p:nvSpPr>
        <p:spPr>
          <a:xfrm>
            <a:off x="731520" y="470001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22" name="Shape 20"/>
          <p:cNvSpPr/>
          <p:nvPr/>
        </p:nvSpPr>
        <p:spPr>
          <a:xfrm>
            <a:off x="548640" y="5148072"/>
            <a:ext cx="5303520" cy="384048"/>
          </a:xfrm>
          <a:prstGeom prst="rect">
            <a:avLst/>
          </a:prstGeom>
          <a:solidFill>
            <a:srgbClr val="F3F5F9"/>
          </a:solidFill>
          <a:ln w="12700">
            <a:solidFill>
              <a:srgbClr val="F3F5F9"/>
            </a:solidFill>
            <a:prstDash val="solid"/>
          </a:ln>
        </p:spPr>
      </p:sp>
      <p:sp>
        <p:nvSpPr>
          <p:cNvPr id="23" name="Text 21"/>
          <p:cNvSpPr txBox="1"/>
          <p:nvPr/>
        </p:nvSpPr>
        <p:spPr>
          <a:xfrm>
            <a:off x="731520" y="5148072"/>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OpenSearch als Suchindex</a:t>
            </a:r>
            <a:endParaRPr lang="en-US" sz="1250" dirty="0"/>
          </a:p>
        </p:txBody>
      </p:sp>
      <p:sp>
        <p:nvSpPr>
          <p:cNvPr id="24" name="Text 22"/>
          <p:cNvSpPr txBox="1"/>
          <p:nvPr/>
        </p:nvSpPr>
        <p:spPr>
          <a:xfrm>
            <a:off x="4160520" y="5148072"/>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eigener Cluster-Dienst</a:t>
            </a:r>
            <a:endParaRPr lang="en-US" sz="1000" dirty="0"/>
          </a:p>
        </p:txBody>
      </p:sp>
      <p:sp>
        <p:nvSpPr>
          <p:cNvPr id="25" name="Text 23"/>
          <p:cNvSpPr txBox="1"/>
          <p:nvPr/>
        </p:nvSpPr>
        <p:spPr>
          <a:xfrm>
            <a:off x="548640"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Bei jedem Release: Core, Bundles, Container-Images und Suchindex aktualisieren, Eigenentwicklungen prüfen.</a:t>
            </a:r>
            <a:endParaRPr lang="en-US" sz="1200" dirty="0"/>
          </a:p>
        </p:txBody>
      </p:sp>
      <p:sp>
        <p:nvSpPr>
          <p:cNvPr id="26" name="Text 24"/>
          <p:cNvSpPr txBox="1"/>
          <p:nvPr/>
        </p:nvSpPr>
        <p:spPr>
          <a:xfrm>
            <a:off x="6336792" y="1554480"/>
            <a:ext cx="530352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anyPIM – Betrieb</a:t>
            </a:r>
            <a:endParaRPr lang="en-US" sz="1700" dirty="0"/>
          </a:p>
        </p:txBody>
      </p:sp>
      <p:sp>
        <p:nvSpPr>
          <p:cNvPr id="27" name="Shape 25"/>
          <p:cNvSpPr/>
          <p:nvPr/>
        </p:nvSpPr>
        <p:spPr>
          <a:xfrm>
            <a:off x="6336792" y="2011680"/>
            <a:ext cx="5303520" cy="384048"/>
          </a:xfrm>
          <a:prstGeom prst="rect">
            <a:avLst/>
          </a:prstGeom>
          <a:solidFill>
            <a:srgbClr val="E4F3F1"/>
          </a:solidFill>
          <a:ln w="12700">
            <a:solidFill>
              <a:srgbClr val="E4F3F1"/>
            </a:solidFill>
            <a:prstDash val="solid"/>
          </a:ln>
        </p:spPr>
      </p:sp>
      <p:sp>
        <p:nvSpPr>
          <p:cNvPr id="28" name="Text 26"/>
          <p:cNvSpPr txBox="1"/>
          <p:nvPr/>
        </p:nvSpPr>
        <p:spPr>
          <a:xfrm>
            <a:off x="6519672" y="2011680"/>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Apache mit PHP 8.4</a:t>
            </a:r>
            <a:endParaRPr lang="en-US" sz="1250" dirty="0"/>
          </a:p>
        </p:txBody>
      </p:sp>
      <p:sp>
        <p:nvSpPr>
          <p:cNvPr id="29" name="Shape 27"/>
          <p:cNvSpPr/>
          <p:nvPr/>
        </p:nvSpPr>
        <p:spPr>
          <a:xfrm>
            <a:off x="6336792" y="2459736"/>
            <a:ext cx="5303520" cy="384048"/>
          </a:xfrm>
          <a:prstGeom prst="rect">
            <a:avLst/>
          </a:prstGeom>
          <a:solidFill>
            <a:srgbClr val="E4F3F1"/>
          </a:solidFill>
          <a:ln w="12700">
            <a:solidFill>
              <a:srgbClr val="E4F3F1"/>
            </a:solidFill>
            <a:prstDash val="solid"/>
          </a:ln>
        </p:spPr>
      </p:sp>
      <p:sp>
        <p:nvSpPr>
          <p:cNvPr id="30" name="Text 28"/>
          <p:cNvSpPr txBox="1"/>
          <p:nvPr/>
        </p:nvSpPr>
        <p:spPr>
          <a:xfrm>
            <a:off x="6519672" y="2459736"/>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anyPIM-Anwendung (Laravel, Oberfläche vorgebaut)</a:t>
            </a:r>
            <a:endParaRPr lang="en-US" sz="1250" dirty="0"/>
          </a:p>
        </p:txBody>
      </p:sp>
      <p:sp>
        <p:nvSpPr>
          <p:cNvPr id="31" name="Shape 29"/>
          <p:cNvSpPr/>
          <p:nvPr/>
        </p:nvSpPr>
        <p:spPr>
          <a:xfrm>
            <a:off x="6336792" y="2907792"/>
            <a:ext cx="5303520" cy="384048"/>
          </a:xfrm>
          <a:prstGeom prst="rect">
            <a:avLst/>
          </a:prstGeom>
          <a:solidFill>
            <a:srgbClr val="E4F3F1"/>
          </a:solidFill>
          <a:ln w="12700">
            <a:solidFill>
              <a:srgbClr val="E4F3F1"/>
            </a:solidFill>
            <a:prstDash val="solid"/>
          </a:ln>
        </p:spPr>
      </p:sp>
      <p:sp>
        <p:nvSpPr>
          <p:cNvPr id="32" name="Text 30"/>
          <p:cNvSpPr txBox="1"/>
          <p:nvPr/>
        </p:nvSpPr>
        <p:spPr>
          <a:xfrm>
            <a:off x="6519672" y="2907792"/>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Queue-Worker (Laravel Horizon)</a:t>
            </a:r>
            <a:endParaRPr lang="en-US" sz="1250" dirty="0"/>
          </a:p>
        </p:txBody>
      </p:sp>
      <p:sp>
        <p:nvSpPr>
          <p:cNvPr id="33" name="Shape 31"/>
          <p:cNvSpPr/>
          <p:nvPr/>
        </p:nvSpPr>
        <p:spPr>
          <a:xfrm>
            <a:off x="6336792" y="3355848"/>
            <a:ext cx="5303520" cy="384048"/>
          </a:xfrm>
          <a:prstGeom prst="rect">
            <a:avLst/>
          </a:prstGeom>
          <a:solidFill>
            <a:srgbClr val="E4F3F1"/>
          </a:solidFill>
          <a:ln w="12700">
            <a:solidFill>
              <a:srgbClr val="E4F3F1"/>
            </a:solidFill>
            <a:prstDash val="solid"/>
          </a:ln>
        </p:spPr>
      </p:sp>
      <p:sp>
        <p:nvSpPr>
          <p:cNvPr id="34" name="Text 32"/>
          <p:cNvSpPr txBox="1"/>
          <p:nvPr/>
        </p:nvSpPr>
        <p:spPr>
          <a:xfrm>
            <a:off x="6519672" y="3355848"/>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MySQL 8</a:t>
            </a:r>
            <a:endParaRPr lang="en-US" sz="1250" dirty="0"/>
          </a:p>
        </p:txBody>
      </p:sp>
      <p:sp>
        <p:nvSpPr>
          <p:cNvPr id="35" name="Shape 33"/>
          <p:cNvSpPr/>
          <p:nvPr/>
        </p:nvSpPr>
        <p:spPr>
          <a:xfrm>
            <a:off x="6336792" y="3803904"/>
            <a:ext cx="5303520" cy="384048"/>
          </a:xfrm>
          <a:prstGeom prst="rect">
            <a:avLst/>
          </a:prstGeom>
          <a:solidFill>
            <a:srgbClr val="E4F3F1"/>
          </a:solidFill>
          <a:ln w="12700">
            <a:solidFill>
              <a:srgbClr val="E4F3F1"/>
            </a:solidFill>
            <a:prstDash val="solid"/>
          </a:ln>
        </p:spPr>
      </p:sp>
      <p:sp>
        <p:nvSpPr>
          <p:cNvPr id="36" name="Text 34"/>
          <p:cNvSpPr txBox="1"/>
          <p:nvPr/>
        </p:nvSpPr>
        <p:spPr>
          <a:xfrm>
            <a:off x="6519672" y="3803904"/>
            <a:ext cx="493776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Redis</a:t>
            </a:r>
            <a:endParaRPr lang="en-US" sz="1250" dirty="0"/>
          </a:p>
        </p:txBody>
      </p:sp>
      <p:sp>
        <p:nvSpPr>
          <p:cNvPr id="37" name="Shape 35"/>
          <p:cNvSpPr/>
          <p:nvPr/>
        </p:nvSpPr>
        <p:spPr>
          <a:xfrm>
            <a:off x="6336792" y="4251960"/>
            <a:ext cx="5303520" cy="384048"/>
          </a:xfrm>
          <a:prstGeom prst="rect">
            <a:avLst/>
          </a:prstGeom>
          <a:solidFill>
            <a:srgbClr val="E4F3F1"/>
          </a:solidFill>
          <a:ln w="12700">
            <a:solidFill>
              <a:srgbClr val="E4F3F1"/>
            </a:solidFill>
            <a:prstDash val="solid"/>
          </a:ln>
        </p:spPr>
      </p:sp>
      <p:sp>
        <p:nvSpPr>
          <p:cNvPr id="38" name="Text 36"/>
          <p:cNvSpPr txBox="1"/>
          <p:nvPr/>
        </p:nvSpPr>
        <p:spPr>
          <a:xfrm>
            <a:off x="6519672" y="4251960"/>
            <a:ext cx="3429000" cy="384048"/>
          </a:xfrm>
          <a:prstGeom prst="rect">
            <a:avLst/>
          </a:prstGeom>
          <a:noFill/>
          <a:ln/>
        </p:spPr>
        <p:txBody>
          <a:bodyPr wrap="square" lIns="0" tIns="0" rIns="0" bIns="0" rtlCol="0" anchor="ctr"/>
          <a:lstStyle/>
          <a:p>
            <a:pPr indent="0" marL="0">
              <a:buNone/>
            </a:pPr>
            <a:r>
              <a:rPr lang="en-US" sz="1250" dirty="0">
                <a:solidFill>
                  <a:srgbClr val="16181D"/>
                </a:solidFill>
                <a:latin typeface="Arial" pitchFamily="34" charset="0"/>
                <a:ea typeface="Arial" pitchFamily="34" charset="-122"/>
                <a:cs typeface="Arial" pitchFamily="34" charset="-120"/>
              </a:rPr>
              <a:t>Typesense für PDF-Volltext</a:t>
            </a:r>
            <a:endParaRPr lang="en-US" sz="1250" dirty="0"/>
          </a:p>
        </p:txBody>
      </p:sp>
      <p:sp>
        <p:nvSpPr>
          <p:cNvPr id="39" name="Text 37"/>
          <p:cNvSpPr txBox="1"/>
          <p:nvPr/>
        </p:nvSpPr>
        <p:spPr>
          <a:xfrm>
            <a:off x="9948672" y="4251960"/>
            <a:ext cx="1554480" cy="384048"/>
          </a:xfrm>
          <a:prstGeom prst="rect">
            <a:avLst/>
          </a:prstGeom>
          <a:noFill/>
          <a:ln/>
        </p:spPr>
        <p:txBody>
          <a:bodyPr wrap="square" lIns="0" tIns="0" rIns="0" bIns="0" rtlCol="0" anchor="ctr"/>
          <a:lstStyle/>
          <a:p>
            <a:pPr algn="r" indent="0" marL="0">
              <a:buNone/>
            </a:pPr>
            <a:r>
              <a:rPr lang="en-US" sz="1000" i="1" dirty="0">
                <a:solidFill>
                  <a:srgbClr val="4B5563"/>
                </a:solidFill>
                <a:latin typeface="Arial" pitchFamily="34" charset="0"/>
                <a:ea typeface="Arial" pitchFamily="34" charset="-122"/>
                <a:cs typeface="Arial" pitchFamily="34" charset="-120"/>
              </a:rPr>
              <a:t>einzelner Dienst, per Setup installiert</a:t>
            </a:r>
            <a:endParaRPr lang="en-US" sz="1000" dirty="0"/>
          </a:p>
        </p:txBody>
      </p:sp>
      <p:sp>
        <p:nvSpPr>
          <p:cNvPr id="40" name="Text 38"/>
          <p:cNvSpPr txBox="1"/>
          <p:nvPr/>
        </p:nvSpPr>
        <p:spPr>
          <a:xfrm>
            <a:off x="6336792" y="5669280"/>
            <a:ext cx="5303520" cy="594360"/>
          </a:xfrm>
          <a:prstGeom prst="rect">
            <a:avLst/>
          </a:prstGeom>
          <a:noFill/>
          <a:ln/>
        </p:spPr>
        <p:txBody>
          <a:bodyPr wrap="square" lIns="0" tIns="0" rIns="0" bIns="0" rtlCol="0" anchor="t"/>
          <a:lstStyle/>
          <a:p>
            <a:pPr indent="0" marL="0">
              <a:buNone/>
            </a:pPr>
            <a:r>
              <a:rPr lang="en-US" sz="1200" b="1" dirty="0">
                <a:solidFill>
                  <a:srgbClr val="1B2D5C"/>
                </a:solidFill>
                <a:latin typeface="Arial" pitchFamily="34" charset="0"/>
                <a:ea typeface="Arial" pitchFamily="34" charset="-122"/>
                <a:cs typeface="Arial" pitchFamily="34" charset="-120"/>
              </a:rPr>
              <a:t>Updates: </a:t>
            </a:r>
            <a:pPr indent="0" marL="0">
              <a:buNone/>
            </a:pPr>
            <a:r>
              <a:rPr lang="en-US" sz="1200" dirty="0">
                <a:solidFill>
                  <a:srgbClr val="1B2D5C"/>
                </a:solidFill>
                <a:latin typeface="Arial" pitchFamily="34" charset="0"/>
                <a:ea typeface="Arial" pitchFamily="34" charset="-122"/>
                <a:cs typeface="Arial" pitchFamily="34" charset="-120"/>
              </a:rPr>
              <a:t>Update per Skript (update.sh): Wartungsmodus, Git Pull, Migrationen, Build, Neustart. Docker möglich, aber nicht nötig.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IHRE BEREICHE – WAS ANYPIM LIEFERT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Die Servicebereiche von kohlhammer.de, zugeordnet zu Funktionen, die heute im Produkt vorhanden sind.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8</a:t>
            </a:r>
            <a:endParaRPr lang="en-US" sz="900" dirty="0"/>
          </a:p>
        </p:txBody>
      </p:sp>
      <p:sp>
        <p:nvSpPr>
          <p:cNvPr id="6" name="Shape 4"/>
          <p:cNvSpPr/>
          <p:nvPr/>
        </p:nvSpPr>
        <p:spPr>
          <a:xfrm>
            <a:off x="548640" y="1600200"/>
            <a:ext cx="3520440" cy="502920"/>
          </a:xfrm>
          <a:prstGeom prst="rect">
            <a:avLst/>
          </a:prstGeom>
          <a:solidFill>
            <a:srgbClr val="000E2F"/>
          </a:solidFill>
          <a:ln w="12700">
            <a:solidFill>
              <a:srgbClr val="000E2F"/>
            </a:solidFill>
            <a:prstDash val="solid"/>
          </a:ln>
        </p:spPr>
      </p:sp>
      <p:sp>
        <p:nvSpPr>
          <p:cNvPr id="7" name="Text 5"/>
          <p:cNvSpPr txBox="1"/>
          <p:nvPr/>
        </p:nvSpPr>
        <p:spPr>
          <a:xfrm>
            <a:off x="731520"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Buchhandel</a:t>
            </a:r>
            <a:endParaRPr lang="en-US" sz="1400" dirty="0"/>
          </a:p>
        </p:txBody>
      </p:sp>
      <p:sp>
        <p:nvSpPr>
          <p:cNvPr id="8" name="Text 6"/>
          <p:cNvSpPr txBox="1"/>
          <p:nvPr/>
        </p:nvSpPr>
        <p:spPr>
          <a:xfrm>
            <a:off x="3566160"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Geplante Export-Jobs per SFTP/Webhook, Excel/CSV/BMEcat, Delta-Export nur geänderter Titel. ONIX: Projektanteil.</a:t>
            </a:r>
            <a:endParaRPr lang="en-US" sz="1150" dirty="0"/>
          </a:p>
        </p:txBody>
      </p:sp>
      <p:sp>
        <p:nvSpPr>
          <p:cNvPr id="10" name="Shape 8"/>
          <p:cNvSpPr/>
          <p:nvPr/>
        </p:nvSpPr>
        <p:spPr>
          <a:xfrm>
            <a:off x="4335628" y="1600200"/>
            <a:ext cx="3520440" cy="502920"/>
          </a:xfrm>
          <a:prstGeom prst="rect">
            <a:avLst/>
          </a:prstGeom>
          <a:solidFill>
            <a:srgbClr val="000E2F"/>
          </a:solidFill>
          <a:ln w="12700">
            <a:solidFill>
              <a:srgbClr val="000E2F"/>
            </a:solidFill>
            <a:prstDash val="solid"/>
          </a:ln>
        </p:spPr>
      </p:sp>
      <p:sp>
        <p:nvSpPr>
          <p:cNvPr id="11" name="Text 9"/>
          <p:cNvSpPr txBox="1"/>
          <p:nvPr/>
        </p:nvSpPr>
        <p:spPr>
          <a:xfrm>
            <a:off x="4518508"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Bibliotheken</a:t>
            </a:r>
            <a:endParaRPr lang="en-US" sz="1400" dirty="0"/>
          </a:p>
        </p:txBody>
      </p:sp>
      <p:sp>
        <p:nvSpPr>
          <p:cNvPr id="12" name="Text 10"/>
          <p:cNvSpPr txBox="1"/>
          <p:nvPr/>
        </p:nvSpPr>
        <p:spPr>
          <a:xfrm>
            <a:off x="7353148"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4335628"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Öffentlicher Katalog mit Facettensuche und Offline-Katalog (statisches HTML) für Erwerbungsabteilungen.</a:t>
            </a:r>
            <a:endParaRPr lang="en-US" sz="1150" dirty="0"/>
          </a:p>
        </p:txBody>
      </p:sp>
      <p:sp>
        <p:nvSpPr>
          <p:cNvPr id="14" name="Shape 12"/>
          <p:cNvSpPr/>
          <p:nvPr/>
        </p:nvSpPr>
        <p:spPr>
          <a:xfrm>
            <a:off x="8122615" y="1600200"/>
            <a:ext cx="3520440" cy="502920"/>
          </a:xfrm>
          <a:prstGeom prst="rect">
            <a:avLst/>
          </a:prstGeom>
          <a:solidFill>
            <a:srgbClr val="000E2F"/>
          </a:solidFill>
          <a:ln w="12700">
            <a:solidFill>
              <a:srgbClr val="000E2F"/>
            </a:solidFill>
            <a:prstDash val="solid"/>
          </a:ln>
        </p:spPr>
      </p:sp>
      <p:sp>
        <p:nvSpPr>
          <p:cNvPr id="15" name="Text 13"/>
          <p:cNvSpPr txBox="1"/>
          <p:nvPr/>
        </p:nvSpPr>
        <p:spPr>
          <a:xfrm>
            <a:off x="8305495" y="1600200"/>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AutorInnen</a:t>
            </a:r>
            <a:endParaRPr lang="en-US" sz="1400" dirty="0"/>
          </a:p>
        </p:txBody>
      </p:sp>
      <p:sp>
        <p:nvSpPr>
          <p:cNvPr id="16" name="Text 14"/>
          <p:cNvSpPr txBox="1"/>
          <p:nvPr/>
        </p:nvSpPr>
        <p:spPr>
          <a:xfrm>
            <a:off x="11140135" y="1600200"/>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8122615" y="2194560"/>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Zugangslinks ohne Benutzerkonto zur Ansicht und Freigabe von Titeldaten; Workflow-Aufgaben für die Rückläufe.</a:t>
            </a:r>
            <a:endParaRPr lang="en-US" sz="1150" dirty="0"/>
          </a:p>
        </p:txBody>
      </p:sp>
      <p:sp>
        <p:nvSpPr>
          <p:cNvPr id="18" name="Shape 16"/>
          <p:cNvSpPr/>
          <p:nvPr/>
        </p:nvSpPr>
        <p:spPr>
          <a:xfrm>
            <a:off x="548640" y="3172968"/>
            <a:ext cx="3520440" cy="502920"/>
          </a:xfrm>
          <a:prstGeom prst="rect">
            <a:avLst/>
          </a:prstGeom>
          <a:solidFill>
            <a:srgbClr val="000E2F"/>
          </a:solidFill>
          <a:ln w="12700">
            <a:solidFill>
              <a:srgbClr val="000E2F"/>
            </a:solidFill>
            <a:prstDash val="solid"/>
          </a:ln>
        </p:spPr>
      </p:sp>
      <p:sp>
        <p:nvSpPr>
          <p:cNvPr id="19" name="Text 17"/>
          <p:cNvSpPr txBox="1"/>
          <p:nvPr/>
        </p:nvSpPr>
        <p:spPr>
          <a:xfrm>
            <a:off x="731520"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Foreign Rights &amp; Licensing</a:t>
            </a:r>
            <a:endParaRPr lang="en-US" sz="1400" dirty="0"/>
          </a:p>
        </p:txBody>
      </p:sp>
      <p:sp>
        <p:nvSpPr>
          <p:cNvPr id="20" name="Text 18"/>
          <p:cNvSpPr txBox="1"/>
          <p:nvPr/>
        </p:nvSpPr>
        <p:spPr>
          <a:xfrm>
            <a:off x="3566160"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548640"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Unbegrenzte Inhaltssprachen, DeepL-Connector, XLIFF-Austausch, befristete Katalog-Links für Lizenzpartner.</a:t>
            </a:r>
            <a:endParaRPr lang="en-US" sz="1150" dirty="0"/>
          </a:p>
        </p:txBody>
      </p:sp>
      <p:sp>
        <p:nvSpPr>
          <p:cNvPr id="22" name="Shape 20"/>
          <p:cNvSpPr/>
          <p:nvPr/>
        </p:nvSpPr>
        <p:spPr>
          <a:xfrm>
            <a:off x="4335628" y="3172968"/>
            <a:ext cx="3520440" cy="502920"/>
          </a:xfrm>
          <a:prstGeom prst="rect">
            <a:avLst/>
          </a:prstGeom>
          <a:solidFill>
            <a:srgbClr val="000E2F"/>
          </a:solidFill>
          <a:ln w="12700">
            <a:solidFill>
              <a:srgbClr val="000E2F"/>
            </a:solidFill>
            <a:prstDash val="solid"/>
          </a:ln>
        </p:spPr>
      </p:sp>
      <p:sp>
        <p:nvSpPr>
          <p:cNvPr id="23" name="Text 21"/>
          <p:cNvSpPr txBox="1"/>
          <p:nvPr/>
        </p:nvSpPr>
        <p:spPr>
          <a:xfrm>
            <a:off x="4518508"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Presse</a:t>
            </a:r>
            <a:endParaRPr lang="en-US" sz="1400" dirty="0"/>
          </a:p>
        </p:txBody>
      </p:sp>
      <p:sp>
        <p:nvSpPr>
          <p:cNvPr id="24" name="Text 22"/>
          <p:cNvSpPr txBox="1"/>
          <p:nvPr/>
        </p:nvSpPr>
        <p:spPr>
          <a:xfrm>
            <a:off x="7353148"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4335628"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Asset-Katalog mit Ordnern, Tags und Download: Cover, AutorInnenfotos, Leseproben – ohne E-Mail-Pingpong.</a:t>
            </a:r>
            <a:endParaRPr lang="en-US" sz="1150" dirty="0"/>
          </a:p>
        </p:txBody>
      </p:sp>
      <p:sp>
        <p:nvSpPr>
          <p:cNvPr id="26" name="Shape 24"/>
          <p:cNvSpPr/>
          <p:nvPr/>
        </p:nvSpPr>
        <p:spPr>
          <a:xfrm>
            <a:off x="8122615" y="3172968"/>
            <a:ext cx="3520440" cy="502920"/>
          </a:xfrm>
          <a:prstGeom prst="rect">
            <a:avLst/>
          </a:prstGeom>
          <a:solidFill>
            <a:srgbClr val="000E2F"/>
          </a:solidFill>
          <a:ln w="12700">
            <a:solidFill>
              <a:srgbClr val="000E2F"/>
            </a:solidFill>
            <a:prstDash val="solid"/>
          </a:ln>
        </p:spPr>
      </p:sp>
      <p:sp>
        <p:nvSpPr>
          <p:cNvPr id="27" name="Text 25"/>
          <p:cNvSpPr txBox="1"/>
          <p:nvPr/>
        </p:nvSpPr>
        <p:spPr>
          <a:xfrm>
            <a:off x="8305495" y="3172968"/>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Mediadaten</a:t>
            </a:r>
            <a:endParaRPr lang="en-US" sz="1400" dirty="0"/>
          </a:p>
        </p:txBody>
      </p:sp>
      <p:sp>
        <p:nvSpPr>
          <p:cNvPr id="28" name="Text 26"/>
          <p:cNvSpPr txBox="1"/>
          <p:nvPr/>
        </p:nvSpPr>
        <p:spPr>
          <a:xfrm>
            <a:off x="11140135" y="3172968"/>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9" name="Text 27"/>
          <p:cNvSpPr txBox="1"/>
          <p:nvPr/>
        </p:nvSpPr>
        <p:spPr>
          <a:xfrm>
            <a:off x="8122615" y="3767328"/>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PDF-Vorlagen aus PIM-Daten: Datenblätter, Preislisten und Mediadaten ohne manuelles Layout.</a:t>
            </a:r>
            <a:endParaRPr lang="en-US" sz="1150" dirty="0"/>
          </a:p>
        </p:txBody>
      </p:sp>
      <p:sp>
        <p:nvSpPr>
          <p:cNvPr id="30" name="Shape 28"/>
          <p:cNvSpPr/>
          <p:nvPr/>
        </p:nvSpPr>
        <p:spPr>
          <a:xfrm>
            <a:off x="548640" y="4745736"/>
            <a:ext cx="3520440" cy="502920"/>
          </a:xfrm>
          <a:prstGeom prst="rect">
            <a:avLst/>
          </a:prstGeom>
          <a:solidFill>
            <a:srgbClr val="000E2F"/>
          </a:solidFill>
          <a:ln w="12700">
            <a:solidFill>
              <a:srgbClr val="000E2F"/>
            </a:solidFill>
            <a:prstDash val="solid"/>
          </a:ln>
        </p:spPr>
      </p:sp>
      <p:sp>
        <p:nvSpPr>
          <p:cNvPr id="31" name="Text 29"/>
          <p:cNvSpPr txBox="1"/>
          <p:nvPr/>
        </p:nvSpPr>
        <p:spPr>
          <a:xfrm>
            <a:off x="731520"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Zeitschriften</a:t>
            </a:r>
            <a:endParaRPr lang="en-US" sz="1400" dirty="0"/>
          </a:p>
        </p:txBody>
      </p:sp>
      <p:sp>
        <p:nvSpPr>
          <p:cNvPr id="32" name="Text 30"/>
          <p:cNvSpPr txBox="1"/>
          <p:nvPr/>
        </p:nvSpPr>
        <p:spPr>
          <a:xfrm>
            <a:off x="3566160"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3" name="Text 31"/>
          <p:cNvSpPr txBox="1"/>
          <p:nvPr/>
        </p:nvSpPr>
        <p:spPr>
          <a:xfrm>
            <a:off x="548640"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Eigener Produkttyp mit eigenen Pflichtfeldern: ISSN, Erscheinungsweise, Abo-Preisarten, Staffelpreise.</a:t>
            </a:r>
            <a:endParaRPr lang="en-US" sz="1150" dirty="0"/>
          </a:p>
        </p:txBody>
      </p:sp>
      <p:sp>
        <p:nvSpPr>
          <p:cNvPr id="34" name="Shape 32"/>
          <p:cNvSpPr/>
          <p:nvPr/>
        </p:nvSpPr>
        <p:spPr>
          <a:xfrm>
            <a:off x="4335628" y="4745736"/>
            <a:ext cx="3520440" cy="502920"/>
          </a:xfrm>
          <a:prstGeom prst="rect">
            <a:avLst/>
          </a:prstGeom>
          <a:solidFill>
            <a:srgbClr val="000E2F"/>
          </a:solidFill>
          <a:ln w="12700">
            <a:solidFill>
              <a:srgbClr val="000E2F"/>
            </a:solidFill>
            <a:prstDash val="solid"/>
          </a:ln>
        </p:spPr>
      </p:sp>
      <p:sp>
        <p:nvSpPr>
          <p:cNvPr id="35" name="Text 33"/>
          <p:cNvSpPr txBox="1"/>
          <p:nvPr/>
        </p:nvSpPr>
        <p:spPr>
          <a:xfrm>
            <a:off x="4518508"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Formulare</a:t>
            </a:r>
            <a:endParaRPr lang="en-US" sz="1400" dirty="0"/>
          </a:p>
        </p:txBody>
      </p:sp>
      <p:sp>
        <p:nvSpPr>
          <p:cNvPr id="36" name="Text 34"/>
          <p:cNvSpPr txBox="1"/>
          <p:nvPr/>
        </p:nvSpPr>
        <p:spPr>
          <a:xfrm>
            <a:off x="7353148"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37" name="Text 35"/>
          <p:cNvSpPr txBox="1"/>
          <p:nvPr/>
        </p:nvSpPr>
        <p:spPr>
          <a:xfrm>
            <a:off x="4335628"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Produkttypen für Formular und Software; Formularsätze als Bundle, Varianten für Ausführungen.</a:t>
            </a:r>
            <a:endParaRPr lang="en-US" sz="1150" dirty="0"/>
          </a:p>
        </p:txBody>
      </p:sp>
      <p:sp>
        <p:nvSpPr>
          <p:cNvPr id="38" name="Shape 36"/>
          <p:cNvSpPr/>
          <p:nvPr/>
        </p:nvSpPr>
        <p:spPr>
          <a:xfrm>
            <a:off x="8122615" y="4745736"/>
            <a:ext cx="3520440" cy="502920"/>
          </a:xfrm>
          <a:prstGeom prst="rect">
            <a:avLst/>
          </a:prstGeom>
          <a:solidFill>
            <a:srgbClr val="000E2F"/>
          </a:solidFill>
          <a:ln w="12700">
            <a:solidFill>
              <a:srgbClr val="000E2F"/>
            </a:solidFill>
            <a:prstDash val="solid"/>
          </a:ln>
        </p:spPr>
      </p:sp>
      <p:sp>
        <p:nvSpPr>
          <p:cNvPr id="39" name="Text 37"/>
          <p:cNvSpPr txBox="1"/>
          <p:nvPr/>
        </p:nvSpPr>
        <p:spPr>
          <a:xfrm>
            <a:off x="8305495" y="4745736"/>
            <a:ext cx="2834640" cy="50292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Seminare</a:t>
            </a:r>
            <a:endParaRPr lang="en-US" sz="1400" dirty="0"/>
          </a:p>
        </p:txBody>
      </p:sp>
      <p:sp>
        <p:nvSpPr>
          <p:cNvPr id="40" name="Text 38"/>
          <p:cNvSpPr txBox="1"/>
          <p:nvPr/>
        </p:nvSpPr>
        <p:spPr>
          <a:xfrm>
            <a:off x="11140135" y="4745736"/>
            <a:ext cx="365760" cy="502920"/>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41" name="Text 39"/>
          <p:cNvSpPr txBox="1"/>
          <p:nvPr/>
        </p:nvSpPr>
        <p:spPr>
          <a:xfrm>
            <a:off x="8122615" y="5340096"/>
            <a:ext cx="3520440" cy="868680"/>
          </a:xfrm>
          <a:prstGeom prst="rect">
            <a:avLst/>
          </a:prstGeom>
          <a:noFill/>
          <a:ln/>
        </p:spPr>
        <p:txBody>
          <a:bodyPr wrap="square" lIns="0" tIns="0" rIns="0" bIns="0" rtlCol="0" anchor="t"/>
          <a:lstStyle/>
          <a:p>
            <a:pPr indent="0" marL="0">
              <a:lnSpc>
                <a:spcPct val="105000"/>
              </a:lnSpc>
              <a:buNone/>
            </a:pPr>
            <a:r>
              <a:rPr lang="en-US" sz="1150" dirty="0">
                <a:solidFill>
                  <a:srgbClr val="16181D"/>
                </a:solidFill>
                <a:latin typeface="Arial" pitchFamily="34" charset="0"/>
                <a:ea typeface="Arial" pitchFamily="34" charset="-122"/>
                <a:cs typeface="Arial" pitchFamily="34" charset="-120"/>
              </a:rPr>
              <a:t>Produkttyp Schulung mit Terminen und Preisen – verknüpft mit der Begleitliteratur über Relationen.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ZEHN ARGUMENTE FÜR ANYPIM</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Jeweils mit dem Mechanismus dahinter – keine Versprechen, die das System heute nicht einlöst.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9</a:t>
            </a:r>
            <a:endParaRPr lang="en-US" sz="900" dirty="0"/>
          </a:p>
        </p:txBody>
      </p:sp>
      <p:sp>
        <p:nvSpPr>
          <p:cNvPr id="6" name="Text 4"/>
          <p:cNvSpPr txBox="1"/>
          <p:nvPr/>
        </p:nvSpPr>
        <p:spPr>
          <a:xfrm>
            <a:off x="548640"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01 · WERK UND AUSGABE</a:t>
            </a:r>
            <a:endParaRPr lang="en-US" sz="1000" dirty="0"/>
          </a:p>
        </p:txBody>
      </p:sp>
      <p:sp>
        <p:nvSpPr>
          <p:cNvPr id="7" name="Text 5"/>
          <p:cNvSpPr txBox="1"/>
          <p:nvPr/>
        </p:nvSpPr>
        <p:spPr>
          <a:xfrm>
            <a:off x="548640"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Pflege einmal, Abweichung nur dort, wo sie ist</a:t>
            </a:r>
            <a:endParaRPr lang="en-US" sz="1500" dirty="0"/>
          </a:p>
        </p:txBody>
      </p:sp>
      <p:sp>
        <p:nvSpPr>
          <p:cNvPr id="8" name="Text 6"/>
          <p:cNvSpPr txBox="1"/>
          <p:nvPr/>
        </p:nvSpPr>
        <p:spPr>
          <a:xfrm>
            <a:off x="548640"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Vererbung Hierarchie → Produkt → Variante, pro Attribut steuerbar.</a:t>
            </a:r>
            <a:endParaRPr lang="en-US" sz="1200" dirty="0"/>
          </a:p>
        </p:txBody>
      </p:sp>
      <p:sp>
        <p:nvSpPr>
          <p:cNvPr id="9" name="Text 7"/>
          <p:cNvSpPr txBox="1"/>
          <p:nvPr/>
        </p:nvSpPr>
        <p:spPr>
          <a:xfrm>
            <a:off x="6324448" y="1572768"/>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02 · KLASSIFIKATIONEN</a:t>
            </a:r>
            <a:endParaRPr lang="en-US" sz="1000" dirty="0"/>
          </a:p>
        </p:txBody>
      </p:sp>
      <p:sp>
        <p:nvSpPr>
          <p:cNvPr id="10" name="Text 8"/>
          <p:cNvSpPr txBox="1"/>
          <p:nvPr/>
        </p:nvSpPr>
        <p:spPr>
          <a:xfrm>
            <a:off x="6324448" y="1810512"/>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Mehrere Ordnungen ohne Dubletten</a:t>
            </a:r>
            <a:endParaRPr lang="en-US" sz="1500" dirty="0"/>
          </a:p>
        </p:txBody>
      </p:sp>
      <p:sp>
        <p:nvSpPr>
          <p:cNvPr id="11" name="Text 9"/>
          <p:cNvSpPr txBox="1"/>
          <p:nvPr/>
        </p:nvSpPr>
        <p:spPr>
          <a:xfrm>
            <a:off x="6324448" y="2121408"/>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Master- und Output-Hierarchien, Attribut-Mappings mit Umrechnung.</a:t>
            </a:r>
            <a:endParaRPr lang="en-US" sz="1200" dirty="0"/>
          </a:p>
        </p:txBody>
      </p:sp>
      <p:sp>
        <p:nvSpPr>
          <p:cNvPr id="12" name="Text 10"/>
          <p:cNvSpPr txBox="1"/>
          <p:nvPr/>
        </p:nvSpPr>
        <p:spPr>
          <a:xfrm>
            <a:off x="548640"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03 · DATENMODELL</a:t>
            </a:r>
            <a:endParaRPr lang="en-US" sz="1000" dirty="0"/>
          </a:p>
        </p:txBody>
      </p:sp>
      <p:sp>
        <p:nvSpPr>
          <p:cNvPr id="13" name="Text 11"/>
          <p:cNvSpPr txBox="1"/>
          <p:nvPr/>
        </p:nvSpPr>
        <p:spPr>
          <a:xfrm>
            <a:off x="548640"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Fachabteilung statt Entwicklerticket</a:t>
            </a:r>
            <a:endParaRPr lang="en-US" sz="1500" dirty="0"/>
          </a:p>
        </p:txBody>
      </p:sp>
      <p:sp>
        <p:nvSpPr>
          <p:cNvPr id="14" name="Text 12"/>
          <p:cNvSpPr txBox="1"/>
          <p:nvPr/>
        </p:nvSpPr>
        <p:spPr>
          <a:xfrm>
            <a:off x="548640"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21 Datentypen, neue Attribute über die Oberfläche – ohne Deployment.</a:t>
            </a:r>
            <a:endParaRPr lang="en-US" sz="1200" dirty="0"/>
          </a:p>
        </p:txBody>
      </p:sp>
      <p:sp>
        <p:nvSpPr>
          <p:cNvPr id="15" name="Text 13"/>
          <p:cNvSpPr txBox="1"/>
          <p:nvPr/>
        </p:nvSpPr>
        <p:spPr>
          <a:xfrm>
            <a:off x="6324448" y="2514600"/>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04 · PRINT</a:t>
            </a:r>
            <a:endParaRPr lang="en-US" sz="1000" dirty="0"/>
          </a:p>
        </p:txBody>
      </p:sp>
      <p:sp>
        <p:nvSpPr>
          <p:cNvPr id="16" name="Text 14"/>
          <p:cNvSpPr txBox="1"/>
          <p:nvPr/>
        </p:nvSpPr>
        <p:spPr>
          <a:xfrm>
            <a:off x="6324448" y="2752344"/>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Vorschau und Prospekt aus denselben Daten</a:t>
            </a:r>
            <a:endParaRPr lang="en-US" sz="1500" dirty="0"/>
          </a:p>
        </p:txBody>
      </p:sp>
      <p:sp>
        <p:nvSpPr>
          <p:cNvPr id="17" name="Text 15"/>
          <p:cNvSpPr txBox="1"/>
          <p:nvPr/>
        </p:nvSpPr>
        <p:spPr>
          <a:xfrm>
            <a:off x="6324448" y="3063240"/>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PDF-Vorlagen, InDesign-Skript-Export und Publixx-Anbindung.</a:t>
            </a:r>
            <a:endParaRPr lang="en-US" sz="1200" dirty="0"/>
          </a:p>
        </p:txBody>
      </p:sp>
      <p:sp>
        <p:nvSpPr>
          <p:cNvPr id="18" name="Text 16"/>
          <p:cNvSpPr txBox="1"/>
          <p:nvPr/>
        </p:nvSpPr>
        <p:spPr>
          <a:xfrm>
            <a:off x="548640"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05 · SHOP UND WEB</a:t>
            </a:r>
            <a:endParaRPr lang="en-US" sz="1000" dirty="0"/>
          </a:p>
        </p:txBody>
      </p:sp>
      <p:sp>
        <p:nvSpPr>
          <p:cNvPr id="19" name="Text 17"/>
          <p:cNvSpPr txBox="1"/>
          <p:nvPr/>
        </p:nvSpPr>
        <p:spPr>
          <a:xfrm>
            <a:off x="548640"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Anbinden statt ersetzen</a:t>
            </a:r>
            <a:endParaRPr lang="en-US" sz="1500" dirty="0"/>
          </a:p>
        </p:txBody>
      </p:sp>
      <p:sp>
        <p:nvSpPr>
          <p:cNvPr id="20" name="Text 18"/>
          <p:cNvSpPr txBox="1"/>
          <p:nvPr/>
        </p:nvSpPr>
        <p:spPr>
          <a:xfrm>
            <a:off x="548640"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Shopware 6, Shopify, Katalog-Widget für CMS, umfassende REST-API.</a:t>
            </a:r>
            <a:endParaRPr lang="en-US" sz="1200" dirty="0"/>
          </a:p>
        </p:txBody>
      </p:sp>
      <p:sp>
        <p:nvSpPr>
          <p:cNvPr id="21" name="Text 19"/>
          <p:cNvSpPr txBox="1"/>
          <p:nvPr/>
        </p:nvSpPr>
        <p:spPr>
          <a:xfrm>
            <a:off x="6324448" y="3456432"/>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06 · SUCHE</a:t>
            </a:r>
            <a:endParaRPr lang="en-US" sz="1000" dirty="0"/>
          </a:p>
        </p:txBody>
      </p:sp>
      <p:sp>
        <p:nvSpPr>
          <p:cNvPr id="22" name="Text 20"/>
          <p:cNvSpPr txBox="1"/>
          <p:nvPr/>
        </p:nvSpPr>
        <p:spPr>
          <a:xfrm>
            <a:off x="6324448" y="3694176"/>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Gebaut für deutsche Fachsprache</a:t>
            </a:r>
            <a:endParaRPr lang="en-US" sz="1500" dirty="0"/>
          </a:p>
        </p:txBody>
      </p:sp>
      <p:sp>
        <p:nvSpPr>
          <p:cNvPr id="23" name="Text 21"/>
          <p:cNvSpPr txBox="1"/>
          <p:nvPr/>
        </p:nvSpPr>
        <p:spPr>
          <a:xfrm>
            <a:off x="6324448" y="4005072"/>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Fuzzy-Suche und Kölner Phonetik: „Kirchner“ findet „Kircher“.</a:t>
            </a:r>
            <a:endParaRPr lang="en-US" sz="1200" dirty="0"/>
          </a:p>
        </p:txBody>
      </p:sp>
      <p:sp>
        <p:nvSpPr>
          <p:cNvPr id="24" name="Text 22"/>
          <p:cNvSpPr txBox="1"/>
          <p:nvPr/>
        </p:nvSpPr>
        <p:spPr>
          <a:xfrm>
            <a:off x="548640"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07 · PROGRAMMPLANUNG</a:t>
            </a:r>
            <a:endParaRPr lang="en-US" sz="1000" dirty="0"/>
          </a:p>
        </p:txBody>
      </p:sp>
      <p:sp>
        <p:nvSpPr>
          <p:cNvPr id="25" name="Text 23"/>
          <p:cNvSpPr txBox="1"/>
          <p:nvPr/>
        </p:nvSpPr>
        <p:spPr>
          <a:xfrm>
            <a:off x="548640"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Erscheinungstermine im System</a:t>
            </a:r>
            <a:endParaRPr lang="en-US" sz="1500" dirty="0"/>
          </a:p>
        </p:txBody>
      </p:sp>
      <p:sp>
        <p:nvSpPr>
          <p:cNvPr id="26" name="Text 24"/>
          <p:cNvSpPr txBox="1"/>
          <p:nvPr/>
        </p:nvSpPr>
        <p:spPr>
          <a:xfrm>
            <a:off x="548640"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Versionen mit Veröffentlichungsdatum und Rollback, Planungskalender.</a:t>
            </a:r>
            <a:endParaRPr lang="en-US" sz="1200" dirty="0"/>
          </a:p>
        </p:txBody>
      </p:sp>
      <p:sp>
        <p:nvSpPr>
          <p:cNvPr id="27" name="Text 25"/>
          <p:cNvSpPr txBox="1"/>
          <p:nvPr/>
        </p:nvSpPr>
        <p:spPr>
          <a:xfrm>
            <a:off x="6324448" y="4398264"/>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08 · DATENQUALITÄT</a:t>
            </a:r>
            <a:endParaRPr lang="en-US" sz="1000" dirty="0"/>
          </a:p>
        </p:txBody>
      </p:sp>
      <p:sp>
        <p:nvSpPr>
          <p:cNvPr id="28" name="Text 26"/>
          <p:cNvSpPr txBox="1"/>
          <p:nvPr/>
        </p:nvSpPr>
        <p:spPr>
          <a:xfrm>
            <a:off x="6324448" y="4636008"/>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Vollständigkeit wird messbar</a:t>
            </a:r>
            <a:endParaRPr lang="en-US" sz="1500" dirty="0"/>
          </a:p>
        </p:txBody>
      </p:sp>
      <p:sp>
        <p:nvSpPr>
          <p:cNvPr id="29" name="Text 27"/>
          <p:cNvSpPr txBox="1"/>
          <p:nvPr/>
        </p:nvSpPr>
        <p:spPr>
          <a:xfrm>
            <a:off x="6324448" y="4946904"/>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Konformitätsprofile je Kanal, Reports, Journal und Audit-Trail.</a:t>
            </a:r>
            <a:endParaRPr lang="en-US" sz="1200" dirty="0"/>
          </a:p>
        </p:txBody>
      </p:sp>
      <p:sp>
        <p:nvSpPr>
          <p:cNvPr id="30" name="Text 28"/>
          <p:cNvSpPr txBox="1"/>
          <p:nvPr/>
        </p:nvSpPr>
        <p:spPr>
          <a:xfrm>
            <a:off x="548640"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09 · IMPORT</a:t>
            </a:r>
            <a:endParaRPr lang="en-US" sz="1000" dirty="0"/>
          </a:p>
        </p:txBody>
      </p:sp>
      <p:sp>
        <p:nvSpPr>
          <p:cNvPr id="31" name="Text 29"/>
          <p:cNvSpPr txBox="1"/>
          <p:nvPr/>
        </p:nvSpPr>
        <p:spPr>
          <a:xfrm>
            <a:off x="548640"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Bestand schnell übernehmen</a:t>
            </a:r>
            <a:endParaRPr lang="en-US" sz="1500" dirty="0"/>
          </a:p>
        </p:txBody>
      </p:sp>
      <p:sp>
        <p:nvSpPr>
          <p:cNvPr id="32" name="Text 30"/>
          <p:cNvSpPr txBox="1"/>
          <p:nvPr/>
        </p:nvSpPr>
        <p:spPr>
          <a:xfrm>
            <a:off x="548640"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Excel-Import mit dreistufiger Validierung, JSON-Voll-Import, BMEcat.</a:t>
            </a:r>
            <a:endParaRPr lang="en-US" sz="1200" dirty="0"/>
          </a:p>
        </p:txBody>
      </p:sp>
      <p:sp>
        <p:nvSpPr>
          <p:cNvPr id="33" name="Text 31"/>
          <p:cNvSpPr txBox="1"/>
          <p:nvPr/>
        </p:nvSpPr>
        <p:spPr>
          <a:xfrm>
            <a:off x="6324448" y="5340096"/>
            <a:ext cx="5318608" cy="228600"/>
          </a:xfrm>
          <a:prstGeom prst="rect">
            <a:avLst/>
          </a:prstGeom>
          <a:noFill/>
          <a:ln/>
        </p:spPr>
        <p:txBody>
          <a:bodyPr wrap="square" lIns="0" tIns="0" rIns="0" bIns="0" rtlCol="0" anchor="t"/>
          <a:lstStyle/>
          <a:p>
            <a:pPr indent="0" marL="0">
              <a:buNone/>
            </a:pPr>
            <a:r>
              <a:rPr lang="en-US" sz="1000" b="1" spc="100" kern="0" dirty="0">
                <a:solidFill>
                  <a:srgbClr val="E2211C"/>
                </a:solidFill>
                <a:latin typeface="Arial" pitchFamily="34" charset="0"/>
                <a:ea typeface="Arial" pitchFamily="34" charset="-122"/>
                <a:cs typeface="Arial" pitchFamily="34" charset="-120"/>
              </a:rPr>
              <a:t>10 · BETRIEB UND LIZENZ</a:t>
            </a:r>
            <a:endParaRPr lang="en-US" sz="1000" dirty="0"/>
          </a:p>
        </p:txBody>
      </p:sp>
      <p:sp>
        <p:nvSpPr>
          <p:cNvPr id="34" name="Text 32"/>
          <p:cNvSpPr txBox="1"/>
          <p:nvPr/>
        </p:nvSpPr>
        <p:spPr>
          <a:xfrm>
            <a:off x="6324448" y="5577840"/>
            <a:ext cx="5318608" cy="292608"/>
          </a:xfrm>
          <a:prstGeom prst="rect">
            <a:avLst/>
          </a:prstGeom>
          <a:noFill/>
          <a:ln/>
        </p:spPr>
        <p:txBody>
          <a:bodyPr wrap="square" lIns="0" tIns="0" rIns="0" bIns="0" rtlCol="0" anchor="t"/>
          <a:lstStyle/>
          <a:p>
            <a:pPr indent="0" marL="0">
              <a:buNone/>
            </a:pPr>
            <a:r>
              <a:rPr lang="en-US" sz="1500" b="1" dirty="0">
                <a:solidFill>
                  <a:srgbClr val="16181D"/>
                </a:solidFill>
                <a:latin typeface="Arial" pitchFamily="34" charset="0"/>
                <a:ea typeface="Arial" pitchFamily="34" charset="-122"/>
                <a:cs typeface="Arial" pitchFamily="34" charset="-120"/>
              </a:rPr>
              <a:t>Schlanker Betrieb, Lizenz nach Nutzung</a:t>
            </a:r>
            <a:endParaRPr lang="en-US" sz="1500" dirty="0"/>
          </a:p>
        </p:txBody>
      </p:sp>
      <p:sp>
        <p:nvSpPr>
          <p:cNvPr id="35" name="Text 33"/>
          <p:cNvSpPr txBox="1"/>
          <p:nvPr/>
        </p:nvSpPr>
        <p:spPr>
          <a:xfrm>
            <a:off x="6324448" y="5888736"/>
            <a:ext cx="5318608" cy="274320"/>
          </a:xfrm>
          <a:prstGeom prst="rect">
            <a:avLst/>
          </a:prstGeom>
          <a:noFill/>
          <a:ln/>
        </p:spPr>
        <p:txBody>
          <a:bodyPr wrap="square" lIns="0" tIns="0" rIns="0" bIns="0" rtlCol="0" anchor="t"/>
          <a:lstStyle/>
          <a:p>
            <a:pPr indent="0" marL="0">
              <a:buNone/>
            </a:pPr>
            <a:r>
              <a:rPr lang="en-US" sz="1200" dirty="0">
                <a:solidFill>
                  <a:srgbClr val="4B5563"/>
                </a:solidFill>
                <a:latin typeface="Arial" pitchFamily="34" charset="0"/>
                <a:ea typeface="Arial" pitchFamily="34" charset="-122"/>
                <a:cs typeface="Arial" pitchFamily="34" charset="-120"/>
              </a:rPr>
              <a:t>Nativ ohne Docker und OpenSearch; GPL-Kern, Enterprise-Module einzeln.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AUCH MIT ANYPIM GIBT ES EIN PROJEKT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Ehrlich gesagt: die Kohlhammer-Funktionsliste, grob eingeordnet – nicht alles ist heute Standard.</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10</a:t>
            </a:r>
            <a:endParaRPr lang="en-US" sz="900" dirty="0"/>
          </a:p>
        </p:txBody>
      </p:sp>
      <p:sp>
        <p:nvSpPr>
          <p:cNvPr id="6" name="Shape 4"/>
          <p:cNvSpPr/>
          <p:nvPr/>
        </p:nvSpPr>
        <p:spPr>
          <a:xfrm>
            <a:off x="548640" y="1645920"/>
            <a:ext cx="3520440" cy="3246120"/>
          </a:xfrm>
          <a:prstGeom prst="rect">
            <a:avLst/>
          </a:prstGeom>
          <a:solidFill>
            <a:srgbClr val="FFFFFF"/>
          </a:solidFill>
          <a:ln w="12700">
            <a:solidFill>
              <a:srgbClr val="D6DDE3"/>
            </a:solidFill>
            <a:prstDash val="solid"/>
          </a:ln>
        </p:spPr>
      </p:sp>
      <p:sp>
        <p:nvSpPr>
          <p:cNvPr id="7" name="Shape 5"/>
          <p:cNvSpPr/>
          <p:nvPr/>
        </p:nvSpPr>
        <p:spPr>
          <a:xfrm>
            <a:off x="777240" y="1874520"/>
            <a:ext cx="1737360" cy="365760"/>
          </a:xfrm>
          <a:prstGeom prst="roundRect">
            <a:avLst>
              <a:gd name="adj" fmla="val 50000"/>
            </a:avLst>
          </a:prstGeom>
          <a:solidFill>
            <a:srgbClr val="DFF3EA"/>
          </a:solidFill>
          <a:ln w="12700">
            <a:solidFill>
              <a:srgbClr val="DFF3EA"/>
            </a:solidFill>
            <a:prstDash val="solid"/>
          </a:ln>
        </p:spPr>
      </p:sp>
      <p:sp>
        <p:nvSpPr>
          <p:cNvPr id="8" name="Text 6"/>
          <p:cNvSpPr txBox="1"/>
          <p:nvPr/>
        </p:nvSpPr>
        <p:spPr>
          <a:xfrm>
            <a:off x="777240" y="1874520"/>
            <a:ext cx="1737360" cy="365760"/>
          </a:xfrm>
          <a:prstGeom prst="rect">
            <a:avLst/>
          </a:prstGeom>
          <a:noFill/>
          <a:ln/>
        </p:spPr>
        <p:txBody>
          <a:bodyPr wrap="square" lIns="0" tIns="0" rIns="0" bIns="0" rtlCol="0" anchor="ctr"/>
          <a:lstStyle/>
          <a:p>
            <a:pPr algn="ctr" indent="0" marL="0">
              <a:buNone/>
            </a:pPr>
            <a:r>
              <a:rPr lang="en-US" sz="1200" b="1" dirty="0">
                <a:solidFill>
                  <a:srgbClr val="0F7A4D"/>
                </a:solidFill>
                <a:latin typeface="Arial" pitchFamily="34" charset="0"/>
                <a:ea typeface="Arial" pitchFamily="34" charset="-122"/>
                <a:cs typeface="Arial" pitchFamily="34" charset="-120"/>
              </a:rPr>
              <a:t>Heute Standard</a:t>
            </a:r>
            <a:endParaRPr lang="en-US" sz="1200" dirty="0"/>
          </a:p>
        </p:txBody>
      </p:sp>
      <p:sp>
        <p:nvSpPr>
          <p:cNvPr id="9" name="Text 7"/>
          <p:cNvSpPr txBox="1"/>
          <p:nvPr/>
        </p:nvSpPr>
        <p:spPr>
          <a:xfrm>
            <a:off x="777240"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Berechtigungen über Rollen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Import von Assets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Downloads</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Buchshop</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Titeldaten, Varianten, Hierarchien</a:t>
            </a:r>
            <a:endParaRPr lang="en-US" sz="1400" dirty="0"/>
          </a:p>
        </p:txBody>
      </p:sp>
      <p:sp>
        <p:nvSpPr>
          <p:cNvPr id="10" name="Shape 8"/>
          <p:cNvSpPr/>
          <p:nvPr/>
        </p:nvSpPr>
        <p:spPr>
          <a:xfrm>
            <a:off x="4335628" y="1645920"/>
            <a:ext cx="3520440" cy="3246120"/>
          </a:xfrm>
          <a:prstGeom prst="rect">
            <a:avLst/>
          </a:prstGeom>
          <a:solidFill>
            <a:srgbClr val="FFFFFF"/>
          </a:solidFill>
          <a:ln w="12700">
            <a:solidFill>
              <a:srgbClr val="D6DDE3"/>
            </a:solidFill>
            <a:prstDash val="solid"/>
          </a:ln>
        </p:spPr>
      </p:sp>
      <p:sp>
        <p:nvSpPr>
          <p:cNvPr id="11" name="Shape 9"/>
          <p:cNvSpPr/>
          <p:nvPr/>
        </p:nvSpPr>
        <p:spPr>
          <a:xfrm>
            <a:off x="4564228" y="1874520"/>
            <a:ext cx="1737360" cy="365760"/>
          </a:xfrm>
          <a:prstGeom prst="roundRect">
            <a:avLst>
              <a:gd name="adj" fmla="val 50000"/>
            </a:avLst>
          </a:prstGeom>
          <a:solidFill>
            <a:srgbClr val="EEF0F2"/>
          </a:solidFill>
          <a:ln w="12700">
            <a:solidFill>
              <a:srgbClr val="EEF0F2"/>
            </a:solidFill>
            <a:prstDash val="solid"/>
          </a:ln>
        </p:spPr>
      </p:sp>
      <p:sp>
        <p:nvSpPr>
          <p:cNvPr id="12" name="Text 10"/>
          <p:cNvSpPr txBox="1"/>
          <p:nvPr/>
        </p:nvSpPr>
        <p:spPr>
          <a:xfrm>
            <a:off x="4564228" y="1874520"/>
            <a:ext cx="1737360" cy="365760"/>
          </a:xfrm>
          <a:prstGeom prst="rect">
            <a:avLst/>
          </a:prstGeom>
          <a:noFill/>
          <a:ln/>
        </p:spPr>
        <p:txBody>
          <a:bodyPr wrap="square" lIns="0" tIns="0" rIns="0" bIns="0" rtlCol="0" anchor="ctr"/>
          <a:lstStyle/>
          <a:p>
            <a:pPr algn="ctr" indent="0" marL="0">
              <a:buNone/>
            </a:pPr>
            <a:r>
              <a:rPr lang="en-US" sz="1200" b="1" dirty="0">
                <a:solidFill>
                  <a:srgbClr val="1B2D5C"/>
                </a:solidFill>
                <a:latin typeface="Arial" pitchFamily="34" charset="0"/>
                <a:ea typeface="Arial" pitchFamily="34" charset="-122"/>
                <a:cs typeface="Arial" pitchFamily="34" charset="-120"/>
              </a:rPr>
              <a:t>Einrichtung</a:t>
            </a:r>
            <a:endParaRPr lang="en-US" sz="1200" dirty="0"/>
          </a:p>
        </p:txBody>
      </p:sp>
      <p:sp>
        <p:nvSpPr>
          <p:cNvPr id="13" name="Text 11"/>
          <p:cNvSpPr txBox="1"/>
          <p:nvPr/>
        </p:nvSpPr>
        <p:spPr>
          <a:xfrm>
            <a:off x="4564228"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Export zum Onlinekatalog</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Bestellblöcke und Flyer (PDF-Vorlagen)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Titelübersicht</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Textprüfungen (Prüfregeln)</a:t>
            </a:r>
            <a:endParaRPr lang="en-US" sz="1400" dirty="0"/>
          </a:p>
          <a:p>
            <a:pPr marL="342900" indent="-342900">
              <a:lnSpc>
                <a:spcPct val="105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Schnittstelle zum Formularserver</a:t>
            </a:r>
            <a:endParaRPr lang="en-US" sz="1400" dirty="0"/>
          </a:p>
        </p:txBody>
      </p:sp>
      <p:sp>
        <p:nvSpPr>
          <p:cNvPr id="14" name="Shape 12"/>
          <p:cNvSpPr/>
          <p:nvPr/>
        </p:nvSpPr>
        <p:spPr>
          <a:xfrm>
            <a:off x="8122615" y="1645920"/>
            <a:ext cx="3520440" cy="3246120"/>
          </a:xfrm>
          <a:prstGeom prst="rect">
            <a:avLst/>
          </a:prstGeom>
          <a:solidFill>
            <a:srgbClr val="000E2F"/>
          </a:solidFill>
          <a:ln w="12700">
            <a:solidFill>
              <a:srgbClr val="000E2F"/>
            </a:solidFill>
            <a:prstDash val="solid"/>
          </a:ln>
        </p:spPr>
      </p:sp>
      <p:sp>
        <p:nvSpPr>
          <p:cNvPr id="15" name="Shape 13"/>
          <p:cNvSpPr/>
          <p:nvPr/>
        </p:nvSpPr>
        <p:spPr>
          <a:xfrm>
            <a:off x="8351215" y="1874520"/>
            <a:ext cx="2377440" cy="365760"/>
          </a:xfrm>
          <a:prstGeom prst="roundRect">
            <a:avLst>
              <a:gd name="adj" fmla="val 50000"/>
            </a:avLst>
          </a:prstGeom>
          <a:solidFill>
            <a:srgbClr val="FFFFFF"/>
          </a:solidFill>
          <a:ln w="12700">
            <a:solidFill>
              <a:srgbClr val="FFFFFF"/>
            </a:solidFill>
            <a:prstDash val="solid"/>
          </a:ln>
        </p:spPr>
      </p:sp>
      <p:sp>
        <p:nvSpPr>
          <p:cNvPr id="16" name="Text 14"/>
          <p:cNvSpPr txBox="1"/>
          <p:nvPr/>
        </p:nvSpPr>
        <p:spPr>
          <a:xfrm>
            <a:off x="8351215" y="1874520"/>
            <a:ext cx="2377440" cy="365760"/>
          </a:xfrm>
          <a:prstGeom prst="rect">
            <a:avLst/>
          </a:prstGeom>
          <a:noFill/>
          <a:ln/>
        </p:spPr>
        <p:txBody>
          <a:bodyPr wrap="square" lIns="0" tIns="0" rIns="0" bIns="0" rtlCol="0" anchor="ctr"/>
          <a:lstStyle/>
          <a:p>
            <a:pPr algn="ctr" indent="0" marL="0">
              <a:buNone/>
            </a:pPr>
            <a:r>
              <a:rPr lang="en-US" sz="1200" b="1" dirty="0">
                <a:solidFill>
                  <a:srgbClr val="000E2F"/>
                </a:solidFill>
                <a:latin typeface="Arial" pitchFamily="34" charset="0"/>
                <a:ea typeface="Arial" pitchFamily="34" charset="-122"/>
                <a:cs typeface="Arial" pitchFamily="34" charset="-120"/>
              </a:rPr>
              <a:t>Projekt → wird Standard</a:t>
            </a:r>
            <a:endParaRPr lang="en-US" sz="1200" dirty="0"/>
          </a:p>
        </p:txBody>
      </p:sp>
      <p:sp>
        <p:nvSpPr>
          <p:cNvPr id="17" name="Text 15"/>
          <p:cNvSpPr txBox="1"/>
          <p:nvPr/>
        </p:nvSpPr>
        <p:spPr>
          <a:xfrm>
            <a:off x="8351215" y="2423160"/>
            <a:ext cx="3108960" cy="23317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Übernahme Metadaten aus Cover</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Exporte nach EasyCatalog: Vorschau, Vorschau RS, Buchinfo, Foreign Rights</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Export Thieme</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XML-Metadaten / ONIX</a:t>
            </a:r>
            <a:endParaRPr lang="en-US" sz="1400" dirty="0"/>
          </a:p>
          <a:p>
            <a:pPr marL="342900" indent="-342900">
              <a:lnSpc>
                <a:spcPct val="105000"/>
              </a:lnSpc>
              <a:spcAft>
                <a:spcPts val="600"/>
              </a:spcAft>
              <a:buSzPct val="100000"/>
              <a:buChar char="•"/>
            </a:pPr>
            <a:r>
              <a:rPr lang="en-US" sz="1400" dirty="0">
                <a:solidFill>
                  <a:srgbClr val="FFFFFF"/>
                </a:solidFill>
                <a:latin typeface="Arial" pitchFamily="34" charset="0"/>
                <a:ea typeface="Arial" pitchFamily="34" charset="-122"/>
                <a:cs typeface="Arial" pitchFamily="34" charset="-120"/>
              </a:rPr>
              <a:t>Uploads im Onlinekatalog</a:t>
            </a:r>
            <a:endParaRPr lang="en-US" sz="1400" dirty="0"/>
          </a:p>
        </p:txBody>
      </p:sp>
      <p:sp>
        <p:nvSpPr>
          <p:cNvPr id="18" name="Text 16"/>
          <p:cNvSpPr txBox="1"/>
          <p:nvPr/>
        </p:nvSpPr>
        <p:spPr>
          <a:xfrm>
            <a:off x="548640" y="5029200"/>
            <a:ext cx="11094415" cy="320040"/>
          </a:xfrm>
          <a:prstGeom prst="rect">
            <a:avLst/>
          </a:prstGeom>
          <a:noFill/>
          <a:ln/>
        </p:spPr>
        <p:txBody>
          <a:bodyPr wrap="square" lIns="0" tIns="0" rIns="0" bIns="0" rtlCol="0" anchor="t"/>
          <a:lstStyle/>
          <a:p>
            <a:pPr indent="0" marL="0">
              <a:buNone/>
            </a:pPr>
            <a:r>
              <a:rPr lang="en-US" sz="1200" b="1" dirty="0">
                <a:solidFill>
                  <a:srgbClr val="4B5563"/>
                </a:solidFill>
                <a:latin typeface="Arial" pitchFamily="34" charset="0"/>
                <a:ea typeface="Arial" pitchFamily="34" charset="-122"/>
                <a:cs typeface="Arial" pitchFamily="34" charset="-120"/>
              </a:rPr>
              <a:t>Zu klären: </a:t>
            </a:r>
            <a:pPr indent="0" marL="0">
              <a:buNone/>
            </a:pPr>
            <a:r>
              <a:rPr lang="en-US" sz="1200" dirty="0">
                <a:solidFill>
                  <a:srgbClr val="4B5563"/>
                </a:solidFill>
                <a:latin typeface="Arial" pitchFamily="34" charset="0"/>
                <a:ea typeface="Arial" pitchFamily="34" charset="-122"/>
                <a:cs typeface="Arial" pitchFamily="34" charset="-120"/>
              </a:rPr>
              <a:t>Pimcore für den Ärzteshop (eigene Instanz oder eigener Bereich?)  ·  Cloud-Anwendung für Compu</a:t>
            </a:r>
            <a:endParaRPr lang="en-US" sz="1200" dirty="0"/>
          </a:p>
        </p:txBody>
      </p:sp>
      <p:sp>
        <p:nvSpPr>
          <p:cNvPr id="19" name="Shape 17"/>
          <p:cNvSpPr/>
          <p:nvPr/>
        </p:nvSpPr>
        <p:spPr>
          <a:xfrm>
            <a:off x="548640" y="5440680"/>
            <a:ext cx="11094415" cy="777240"/>
          </a:xfrm>
          <a:prstGeom prst="rect">
            <a:avLst/>
          </a:prstGeom>
          <a:solidFill>
            <a:srgbClr val="C6E6E3"/>
          </a:solidFill>
          <a:ln w="12700">
            <a:solidFill>
              <a:srgbClr val="C6E6E3"/>
            </a:solidFill>
            <a:prstDash val="solid"/>
          </a:ln>
        </p:spPr>
      </p:sp>
      <p:sp>
        <p:nvSpPr>
          <p:cNvPr id="20" name="Text 18"/>
          <p:cNvSpPr txBox="1"/>
          <p:nvPr/>
        </p:nvSpPr>
        <p:spPr>
          <a:xfrm>
            <a:off x="777240" y="5440680"/>
            <a:ext cx="10637215" cy="777240"/>
          </a:xfrm>
          <a:prstGeom prst="rect">
            <a:avLst/>
          </a:prstGeom>
          <a:noFill/>
          <a:ln/>
        </p:spPr>
        <p:txBody>
          <a:bodyPr wrap="square" lIns="0" tIns="0" rIns="0" bIns="0" rtlCol="0" anchor="ctr"/>
          <a:lstStyle/>
          <a:p>
            <a:pPr indent="0" marL="0">
              <a:buNone/>
            </a:pPr>
            <a:r>
              <a:rPr lang="en-US" sz="1350" b="1" dirty="0">
                <a:solidFill>
                  <a:srgbClr val="E2211C"/>
                </a:solidFill>
                <a:latin typeface="Arial" pitchFamily="34" charset="0"/>
                <a:ea typeface="Arial" pitchFamily="34" charset="-122"/>
                <a:cs typeface="Arial" pitchFamily="34" charset="-120"/>
              </a:rPr>
              <a:t>→  </a:t>
            </a:r>
            <a:pPr indent="0" marL="0">
              <a:buNone/>
            </a:pPr>
            <a:r>
              <a:rPr lang="en-US" sz="1350" b="1" dirty="0">
                <a:solidFill>
                  <a:srgbClr val="000E2F"/>
                </a:solidFill>
                <a:latin typeface="Arial" pitchFamily="34" charset="0"/>
                <a:ea typeface="Arial" pitchFamily="34" charset="-122"/>
                <a:cs typeface="Arial" pitchFamily="34" charset="-120"/>
              </a:rPr>
              <a:t>Der Unterschied: </a:t>
            </a:r>
            <a:pPr indent="0" marL="0">
              <a:buNone/>
            </a:pPr>
            <a:r>
              <a:rPr lang="en-US" sz="1350" dirty="0">
                <a:solidFill>
                  <a:srgbClr val="000E2F"/>
                </a:solidFill>
                <a:latin typeface="Arial" pitchFamily="34" charset="0"/>
                <a:ea typeface="Arial" pitchFamily="34" charset="-122"/>
                <a:cs typeface="Arial" pitchFamily="34" charset="-120"/>
              </a:rPr>
              <a:t>Beim Pimcore-Upgrade werden diese Funktionen erneut als Eigenentwicklung portiert und bei jedem Release wieder angefasst. Bei anyPIM bauen wir sie einmal als Standardfunktion – Kohlhammer erhält sie danach mit jedem Update.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 WEG, KOSTEN, BETRIEB</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anyPIM gegenüber dem aktuellen Pimcore (2026.x) nach einem Upgrade von Pimcore 6.</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Weg von Pimcore 6</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plus Projekt; Kohlhammer-Funktionen werden Standard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Upgrade über 10 und 11 bis 2026.x; Eigenentwicklungen je Stufe portieren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Eigenanteil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Datenkontinuität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Datenübernahme nötig – mit dem Wissen aus 25 Jahren Betreuung gut planbar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 bleiben in der Datenbank und werden je Version migriert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Laufende Updates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Update per Skript: Migrationen, Build, Neustart – im eigenen Takt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Jedes Release nachziehen (2026.3 folgt): Core, Bundles, Studio, Container, Suchindex</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Betriebskomplexität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Apache/PHP, MySQL, Redis, Queue-Worker, Typesense – ohne Docker und OpenSearch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Container-Stack mit OpenSearch, Messenger-Workern und Enterprise-Bundles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Lizenzmodell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GPL-Kern; Enterprise-Module einzeln lizenzierbar – nur, was genutzt wird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POCL: kommerziell über 5 Mio. € Umsatz; Erweiterungen wie Datahub, Portale mit wenig Nutzen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Datenmodell ändern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Attribute zur Laufzeit über die Oberfläche, ohne Migration oder Deployment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Klassen-Editor erzeugt PHP-Klassen; Änderungen werden versioniert und ausgerollt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Abhängigkeit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Quellcode beim Kunden; Hersteller ist der langjährige Betreuer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Roadmap und Lizenzmodell beim Hersteller; 2025 bereits einmal geändert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Ausrichtung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Spezialisiertes PIM mit Katalog-, Print- und Kanal-Ausgabe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Plattform aus PIM, MDM, DAM, CMS und Commerce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je nach Ziel</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VERGLEICH II: FUNKTIONEN FÜR VERLAGSDATEN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Bewertet nach dem, was ein Fachverlag für Titeldaten braucht – nicht nach Funktionsbreite allgemein.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3886200"/>
                <a:gridCol w="3886200"/>
                <a:gridCol w="1307592"/>
              </a:tblGrid>
              <a:tr h="384048">
                <a:tc>
                  <a:txBody>
                    <a:bodyPr/>
                    <a:lstStyle/>
                    <a:p>
                      <a:pPr indent="0" marL="0">
                        <a:buNone/>
                      </a:pPr>
                      <a:r>
                        <a:rPr lang="en-US" sz="1300" dirty="0">
                          <a:solidFill>
                            <a:srgbClr val="FFFFFF"/>
                          </a:solidFill>
                          <a:latin typeface="Arial" pitchFamily="34" charset="0"/>
                          <a:ea typeface="Arial" pitchFamily="34" charset="-122"/>
                          <a:cs typeface="Arial" pitchFamily="34" charset="-120"/>
                        </a:rPr>
                        <a:t>Kriterium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anyPIM</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Pimcore (aktuelle Version)</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300" dirty="0">
                          <a:solidFill>
                            <a:srgbClr val="FFFFFF"/>
                          </a:solidFill>
                          <a:latin typeface="Arial" pitchFamily="34" charset="0"/>
                          <a:ea typeface="Arial" pitchFamily="34" charset="-122"/>
                          <a:cs typeface="Arial" pitchFamily="34" charset="-120"/>
                        </a:rPr>
                        <a:t>Vorteil</a:t>
                      </a:r>
                      <a:endParaRPr lang="en-US" sz="13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Werk / Ausgabe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Vererbung Hierarchie → Produkt → Variante, pro Attribut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Objekt-Vererbung Eltern → Kind, Varianten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Parallele Klassifikationen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Master- und Output-Hierarchien plus Attribut-Mapping im Standard</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Kategorien als Objekte, Classification Store – modellierbar, aber Projektarbeit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Print / Vorschau</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PDF-Vorlagen, InDesign-Skript-Export, Publixx im Produkt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Web-to-Print-Bundle, Ausprägung meist projektspezifisch</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F7A4D"/>
                          </a:solidFill>
                          <a:latin typeface="Arial" pitchFamily="34" charset="0"/>
                          <a:ea typeface="Arial" pitchFamily="34" charset="-122"/>
                          <a:cs typeface="Arial" pitchFamily="34" charset="-120"/>
                        </a:rPr>
                        <a:t>anyPIM</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PQL, Fuzzy, Kölner Phonetik, semantische Hybrid-Suche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Datenindex auf OpenSearch/Elasticsearch, sehr leistungsfähig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Asset-Management</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Medien mit Verwendungstypen, Renditions, Tags, Asset-Katalog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Vollwertiges DAM mit umfangreichem Metadatenmodell</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Website-CMS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Kein eigenes CMS; Katalog-Widget für bestehende CMS</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Integriertes CMS / DXP</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ONIX 3.0</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als Exportformat über die Mapping-Engine</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Nicht im Standard, Partnerlösung oder Eigenentwicklung</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6B7280"/>
                          </a:solidFill>
                          <a:latin typeface="Arial" pitchFamily="34" charset="0"/>
                          <a:ea typeface="Arial" pitchFamily="34" charset="-122"/>
                          <a:cs typeface="Arial" pitchFamily="34" charset="-120"/>
                        </a:rPr>
                        <a:t>gleichauf</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EF0F2"/>
                    </a:solidFill>
                  </a:tcPr>
                </a:tc>
              </a:tr>
              <a:tr h="512064">
                <a:tc>
                  <a:txBody>
                    <a:bodyPr/>
                    <a:lstStyle/>
                    <a:p>
                      <a:pPr indent="0" marL="0">
                        <a:buNone/>
                      </a:pPr>
                      <a:r>
                        <a:rPr lang="en-US" sz="1100" b="1" dirty="0">
                          <a:solidFill>
                            <a:srgbClr val="16181D"/>
                          </a:solidFill>
                          <a:latin typeface="Arial" pitchFamily="34" charset="0"/>
                          <a:ea typeface="Arial" pitchFamily="34" charset="-122"/>
                          <a:cs typeface="Arial" pitchFamily="34" charset="-120"/>
                        </a:rPr>
                        <a:t>Ökosystem</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Kleiner, direkter Draht zum Hersteller</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00" dirty="0">
                          <a:solidFill>
                            <a:srgbClr val="16181D"/>
                          </a:solidFill>
                          <a:latin typeface="Arial" pitchFamily="34" charset="0"/>
                          <a:ea typeface="Arial" pitchFamily="34" charset="-122"/>
                          <a:cs typeface="Arial" pitchFamily="34" charset="-120"/>
                        </a:rPr>
                        <a:t>Große internationale Community, viele Partner und Erweiterungen</a:t>
                      </a:r>
                      <a:endParaRPr lang="en-US" sz="110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050" b="1" dirty="0">
                          <a:solidFill>
                            <a:srgbClr val="1B2D5C"/>
                          </a:solidFill>
                          <a:latin typeface="Arial" pitchFamily="34" charset="0"/>
                          <a:ea typeface="Arial" pitchFamily="34" charset="-122"/>
                          <a:cs typeface="Arial" pitchFamily="34" charset="-120"/>
                        </a:rPr>
                        <a:t>Pimcore</a:t>
                      </a:r>
                      <a:endParaRPr lang="en-US" sz="10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BILANZ: WAS FÜR KOHLHAMMER DEN AUSSCHLAG GIBT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Nicht die Zahl der Kriterien entscheidet, sondern ob ein Vorteil einmal oder dauerhaft wirkt.</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406640" cy="914400"/>
        </p:xfrm>
        <a:graphic>
          <a:graphicData uri="http://schemas.openxmlformats.org/drawingml/2006/table">
            <a:tbl>
              <a:tblPr/>
              <a:tblGrid>
                <a:gridCol w="1737360"/>
                <a:gridCol w="3611880"/>
                <a:gridCol w="1005840"/>
                <a:gridCol w="1051560"/>
              </a:tblGrid>
              <a:tr h="384048">
                <a:tc>
                  <a:txBody>
                    <a:bodyPr/>
                    <a:lstStyle/>
                    <a:p>
                      <a:pPr indent="0" marL="0">
                        <a:buNone/>
                      </a:pPr>
                      <a:r>
                        <a:rPr lang="en-US" sz="1250" dirty="0">
                          <a:solidFill>
                            <a:srgbClr val="FFFFFF"/>
                          </a:solidFill>
                          <a:latin typeface="Arial" pitchFamily="34" charset="0"/>
                          <a:ea typeface="Arial" pitchFamily="34" charset="-122"/>
                          <a:cs typeface="Arial" pitchFamily="34" charset="-120"/>
                        </a:rPr>
                        <a:t>Kriterium</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Worum es geht</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Wirkung</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Vorteil</a:t>
                      </a:r>
                      <a:endParaRPr lang="en-US" sz="12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000E2F"/>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Laufende Updates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Update per Skript statt Nachziehen jedes Pimcore-Releases</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Betrieb</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Nativer Betrieb ohne Docker und OpenSearch</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Lizenz</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Nur genutzte Module statt Erweiterungen mit wenig Nutzen (Datahub, Portale)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Kohlhammer-Funktionen</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Projekt in beiden Fällen – bei anyPIM danach Standard, bei Pimcore Eigenentwicklung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b="1" dirty="0">
                          <a:solidFill>
                            <a:srgbClr val="000E2F"/>
                          </a:solidFill>
                          <a:latin typeface="Arial" pitchFamily="34" charset="0"/>
                          <a:ea typeface="Arial" pitchFamily="34" charset="-122"/>
                          <a:cs typeface="Arial" pitchFamily="34" charset="-120"/>
                        </a:rPr>
                        <a:t>dauerhaft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0F7A4D"/>
                          </a:solidFill>
                          <a:latin typeface="Arial" pitchFamily="34" charset="0"/>
                          <a:ea typeface="Arial" pitchFamily="34" charset="-122"/>
                          <a:cs typeface="Arial" pitchFamily="34" charset="-120"/>
                        </a:rPr>
                        <a:t>anyPIM</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DFF3EA"/>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Umstellung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Daten bleiben in Pimcore und werden je Version migriert</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einmalig</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r h="603504">
                <a:tc>
                  <a:txBody>
                    <a:bodyPr/>
                    <a:lstStyle/>
                    <a:p>
                      <a:pPr indent="0" marL="0">
                        <a:buNone/>
                      </a:pPr>
                      <a:r>
                        <a:rPr lang="en-US" sz="1150" b="1" dirty="0">
                          <a:solidFill>
                            <a:srgbClr val="16181D"/>
                          </a:solidFill>
                          <a:latin typeface="Arial" pitchFamily="34" charset="0"/>
                          <a:ea typeface="Arial" pitchFamily="34" charset="-122"/>
                          <a:cs typeface="Arial" pitchFamily="34" charset="-120"/>
                        </a:rPr>
                        <a:t>Plattformbreite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16181D"/>
                          </a:solidFill>
                          <a:latin typeface="Arial" pitchFamily="34" charset="0"/>
                          <a:ea typeface="Arial" pitchFamily="34" charset="-122"/>
                          <a:cs typeface="Arial" pitchFamily="34" charset="-120"/>
                        </a:rPr>
                        <a:t>DAM, CMS und Ökosystem – relevant, wenn Kohlhammer diese konsolidieren will</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indent="0" marL="0">
                        <a:buNone/>
                      </a:pPr>
                      <a:r>
                        <a:rPr lang="en-US" sz="1150" dirty="0">
                          <a:solidFill>
                            <a:srgbClr val="4B5563"/>
                          </a:solidFill>
                          <a:latin typeface="Arial" pitchFamily="34" charset="0"/>
                          <a:ea typeface="Arial" pitchFamily="34" charset="-122"/>
                          <a:cs typeface="Arial" pitchFamily="34" charset="-120"/>
                        </a:rPr>
                        <a:t>nur bei Bedarf</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F7F9FA"/>
                    </a:solidFill>
                  </a:tcPr>
                </a:tc>
                <a:tc>
                  <a:txBody>
                    <a:bodyPr/>
                    <a:lstStyle/>
                    <a:p>
                      <a:pPr algn="ctr" indent="0" marL="0">
                        <a:buNone/>
                      </a:pPr>
                      <a:r>
                        <a:rPr lang="en-US" sz="1150" b="1" dirty="0">
                          <a:solidFill>
                            <a:srgbClr val="1B2D5C"/>
                          </a:solidFill>
                          <a:latin typeface="Arial" pitchFamily="34" charset="0"/>
                          <a:ea typeface="Arial" pitchFamily="34" charset="-122"/>
                          <a:cs typeface="Arial" pitchFamily="34" charset="-120"/>
                        </a:rPr>
                        <a:t>Pimcore</a:t>
                      </a:r>
                      <a:endParaRPr lang="en-US" sz="1150" dirty="0">
                        <a:latin typeface="Arial" charset="0"/>
                        <a:ea typeface="Arial" charset="0"/>
                        <a:cs typeface="Arial" charset="0"/>
                      </a:endParaRPr>
                    </a:p>
                  </a:txBody>
                  <a:tcPr marL="91440" marR="91440" marT="64008" marB="64008" anchor="ctr">
                    <a:lnL w="9525" cap="flat" cmpd="sng" algn="ctr">
                      <a:solidFill>
                        <a:srgbClr val="D6DDE3"/>
                      </a:solidFill>
                      <a:prstDash val="solid"/>
                      <a:round/>
                      <a:headEnd type="none" w="med" len="med"/>
                      <a:tailEnd type="none" w="med" len="med"/>
                    </a:lnL>
                    <a:lnR w="9525" cap="flat" cmpd="sng" algn="ctr">
                      <a:solidFill>
                        <a:srgbClr val="D6DDE3"/>
                      </a:solidFill>
                      <a:prstDash val="solid"/>
                      <a:round/>
                      <a:headEnd type="none" w="med" len="med"/>
                      <a:tailEnd type="none" w="med" len="med"/>
                    </a:lnR>
                    <a:lnT w="9525" cap="flat" cmpd="sng" algn="ctr">
                      <a:solidFill>
                        <a:srgbClr val="D6DDE3"/>
                      </a:solidFill>
                      <a:prstDash val="solid"/>
                      <a:round/>
                      <a:headEnd type="none" w="med" len="med"/>
                      <a:tailEnd type="none" w="med" len="med"/>
                    </a:lnT>
                    <a:lnB w="9525" cap="flat" cmpd="sng" algn="ctr">
                      <a:solidFill>
                        <a:srgbClr val="D6DDE3"/>
                      </a:solidFill>
                      <a:prstDash val="solid"/>
                      <a:round/>
                      <a:headEnd type="none" w="med" len="med"/>
                      <a:tailEnd type="none" w="med" len="med"/>
                    </a:lnB>
                    <a:solidFill>
                      <a:srgbClr val="E3E8F4"/>
                    </a:solidFill>
                  </a:tcPr>
                </a:tc>
              </a:tr>
            </a:tbl>
          </a:graphicData>
        </a:graphic>
      </p:graphicFrame>
      <p:sp>
        <p:nvSpPr>
          <p:cNvPr id="7" name="Shape 4"/>
          <p:cNvSpPr/>
          <p:nvPr/>
        </p:nvSpPr>
        <p:spPr>
          <a:xfrm>
            <a:off x="8275320" y="1600200"/>
            <a:ext cx="3367735" cy="4023360"/>
          </a:xfrm>
          <a:prstGeom prst="rect">
            <a:avLst/>
          </a:prstGeom>
          <a:solidFill>
            <a:srgbClr val="000E2F"/>
          </a:solidFill>
          <a:ln w="12700">
            <a:solidFill>
              <a:srgbClr val="000E2F"/>
            </a:solidFill>
            <a:prstDash val="solid"/>
          </a:ln>
        </p:spPr>
      </p:sp>
      <p:sp>
        <p:nvSpPr>
          <p:cNvPr id="8" name="Text 5"/>
          <p:cNvSpPr txBox="1"/>
          <p:nvPr/>
        </p:nvSpPr>
        <p:spPr>
          <a:xfrm>
            <a:off x="8549640" y="1828800"/>
            <a:ext cx="2819095" cy="274320"/>
          </a:xfrm>
          <a:prstGeom prst="rect">
            <a:avLst/>
          </a:prstGeom>
          <a:noFill/>
          <a:ln/>
        </p:spPr>
        <p:txBody>
          <a:bodyPr wrap="square" lIns="0" tIns="0" rIns="0" bIns="0" rtlCol="0" anchor="t"/>
          <a:lstStyle/>
          <a:p>
            <a:pPr indent="0" marL="0">
              <a:buNone/>
            </a:pPr>
            <a:r>
              <a:rPr lang="en-US" sz="1100" b="1" spc="100" kern="0" dirty="0">
                <a:solidFill>
                  <a:srgbClr val="C6E6E3"/>
                </a:solidFill>
                <a:latin typeface="Arial" pitchFamily="34" charset="0"/>
                <a:ea typeface="Arial" pitchFamily="34" charset="-122"/>
                <a:cs typeface="Arial" pitchFamily="34" charset="-120"/>
              </a:rPr>
              <a:t>ERGEBNIS</a:t>
            </a:r>
            <a:endParaRPr lang="en-US" sz="1100" dirty="0"/>
          </a:p>
        </p:txBody>
      </p:sp>
      <p:sp>
        <p:nvSpPr>
          <p:cNvPr id="9" name="Text 6"/>
          <p:cNvSpPr txBox="1"/>
          <p:nvPr/>
        </p:nvSpPr>
        <p:spPr>
          <a:xfrm>
            <a:off x="8549640" y="2194560"/>
            <a:ext cx="2819095" cy="73152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Pimcore punktet einmalig beim Umstieg.</a:t>
            </a:r>
            <a:endParaRPr lang="en-US" sz="1600" dirty="0"/>
          </a:p>
        </p:txBody>
      </p:sp>
      <p:sp>
        <p:nvSpPr>
          <p:cNvPr id="10" name="Text 7"/>
          <p:cNvSpPr txBox="1"/>
          <p:nvPr/>
        </p:nvSpPr>
        <p:spPr>
          <a:xfrm>
            <a:off x="8549640" y="2971800"/>
            <a:ext cx="2819095" cy="11887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anyPIM punktet dauerhaft – bei jedem Release, jedem Betriebstag und jeder Lizenzrechnung.</a:t>
            </a:r>
            <a:endParaRPr lang="en-US" sz="1600" dirty="0"/>
          </a:p>
        </p:txBody>
      </p:sp>
      <p:sp>
        <p:nvSpPr>
          <p:cNvPr id="11" name="Text 8"/>
          <p:cNvSpPr txBox="1"/>
          <p:nvPr/>
        </p:nvSpPr>
        <p:spPr>
          <a:xfrm>
            <a:off x="8549640" y="4846320"/>
            <a:ext cx="2819095" cy="548640"/>
          </a:xfrm>
          <a:prstGeom prst="rect">
            <a:avLst/>
          </a:prstGeom>
          <a:noFill/>
          <a:ln/>
        </p:spPr>
        <p:txBody>
          <a:bodyPr wrap="square" lIns="0" tIns="0" rIns="0" bIns="0" rtlCol="0" anchor="t"/>
          <a:lstStyle/>
          <a:p>
            <a:pPr indent="0" marL="0">
              <a:buNone/>
            </a:pPr>
            <a:r>
              <a:rPr lang="en-US" sz="1500" b="1" dirty="0">
                <a:solidFill>
                  <a:srgbClr val="C6E6E3"/>
                </a:solidFill>
                <a:latin typeface="Arial" pitchFamily="34" charset="0"/>
                <a:ea typeface="Arial" pitchFamily="34" charset="-122"/>
                <a:cs typeface="Arial" pitchFamily="34" charset="-120"/>
              </a:rPr>
              <a:t>Empfehlung: Wechsel zu anyPIM</a:t>
            </a:r>
            <a:endParaRPr lang="en-US" sz="1500" dirty="0"/>
          </a:p>
        </p:txBody>
      </p:sp>
      <p:sp>
        <p:nvSpPr>
          <p:cNvPr id="12" name="Text 9"/>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300" b="1" dirty="0">
                <a:solidFill>
                  <a:srgbClr val="E2211C"/>
                </a:solidFill>
                <a:latin typeface="Arial" pitchFamily="34" charset="0"/>
                <a:ea typeface="Arial" pitchFamily="34" charset="-122"/>
                <a:cs typeface="Arial" pitchFamily="34" charset="-120"/>
              </a:rPr>
              <a:t>→  </a:t>
            </a:r>
            <a:pPr indent="0" marL="0">
              <a:buNone/>
            </a:pPr>
            <a:r>
              <a:rPr lang="en-US" sz="1300" dirty="0">
                <a:solidFill>
                  <a:srgbClr val="1B2D5C"/>
                </a:solidFill>
                <a:latin typeface="Arial" pitchFamily="34" charset="0"/>
                <a:ea typeface="Arial" pitchFamily="34" charset="-122"/>
                <a:cs typeface="Arial" pitchFamily="34" charset="-120"/>
              </a:rPr>
              <a:t>Ergebnisoffen bleibt nur die Plattformfrage: Soll Kohlhammer Website, DAM und PIM auf einem System zusammenführen? Dann spricht mehr für Pimcore.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BEI ANYPIM GESTALTET KOHLHAMMER MIT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Offen, KI-ready, erweiterbar und dokumentiert – und die Roadmap entsteht mit den Kunden.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14</a:t>
            </a:r>
            <a:endParaRPr lang="en-US" sz="900" dirty="0"/>
          </a:p>
        </p:txBody>
      </p:sp>
      <p:sp>
        <p:nvSpPr>
          <p:cNvPr id="6" name="Shape 4"/>
          <p:cNvSpPr/>
          <p:nvPr/>
        </p:nvSpPr>
        <p:spPr>
          <a:xfrm>
            <a:off x="548640" y="1645920"/>
            <a:ext cx="2567864" cy="566928"/>
          </a:xfrm>
          <a:prstGeom prst="rect">
            <a:avLst/>
          </a:prstGeom>
          <a:solidFill>
            <a:srgbClr val="000E2F"/>
          </a:solidFill>
          <a:ln w="12700">
            <a:solidFill>
              <a:srgbClr val="000E2F"/>
            </a:solidFill>
            <a:prstDash val="solid"/>
          </a:ln>
        </p:spPr>
      </p:sp>
      <p:sp>
        <p:nvSpPr>
          <p:cNvPr id="7" name="Text 5"/>
          <p:cNvSpPr txBox="1"/>
          <p:nvPr/>
        </p:nvSpPr>
        <p:spPr>
          <a:xfrm>
            <a:off x="731520"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Open Source</a:t>
            </a:r>
            <a:endParaRPr lang="en-US" sz="1500" dirty="0"/>
          </a:p>
        </p:txBody>
      </p:sp>
      <p:sp>
        <p:nvSpPr>
          <p:cNvPr id="8" name="Text 6"/>
          <p:cNvSpPr txBox="1"/>
          <p:nvPr/>
        </p:nvSpPr>
        <p:spPr>
          <a:xfrm>
            <a:off x="2613584"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9" name="Text 7"/>
          <p:cNvSpPr txBox="1"/>
          <p:nvPr/>
        </p:nvSpPr>
        <p:spPr>
          <a:xfrm>
            <a:off x="548640"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GPL-Kern, Quellcode vollständig einsehbar. Keine Blackbox, kein Lock-in – Kohlhammer kann jederzeit nachvollziehen, was das System tut.</a:t>
            </a:r>
            <a:endParaRPr lang="en-US" sz="1300" dirty="0"/>
          </a:p>
        </p:txBody>
      </p:sp>
      <p:sp>
        <p:nvSpPr>
          <p:cNvPr id="10" name="Shape 8"/>
          <p:cNvSpPr/>
          <p:nvPr/>
        </p:nvSpPr>
        <p:spPr>
          <a:xfrm>
            <a:off x="3390824" y="1645920"/>
            <a:ext cx="2567864" cy="566928"/>
          </a:xfrm>
          <a:prstGeom prst="rect">
            <a:avLst/>
          </a:prstGeom>
          <a:solidFill>
            <a:srgbClr val="000E2F"/>
          </a:solidFill>
          <a:ln w="12700">
            <a:solidFill>
              <a:srgbClr val="000E2F"/>
            </a:solidFill>
            <a:prstDash val="solid"/>
          </a:ln>
        </p:spPr>
      </p:sp>
      <p:sp>
        <p:nvSpPr>
          <p:cNvPr id="11" name="Text 9"/>
          <p:cNvSpPr txBox="1"/>
          <p:nvPr/>
        </p:nvSpPr>
        <p:spPr>
          <a:xfrm>
            <a:off x="3573704"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KI-ready</a:t>
            </a:r>
            <a:endParaRPr lang="en-US" sz="1500" dirty="0"/>
          </a:p>
        </p:txBody>
      </p:sp>
      <p:sp>
        <p:nvSpPr>
          <p:cNvPr id="12" name="Text 10"/>
          <p:cNvSpPr txBox="1"/>
          <p:nvPr/>
        </p:nvSpPr>
        <p:spPr>
          <a:xfrm>
            <a:off x="5455768"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3" name="Text 11"/>
          <p:cNvSpPr txBox="1"/>
          <p:nvPr/>
        </p:nvSpPr>
        <p:spPr>
          <a:xfrm>
            <a:off x="3390824"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MCP-Schnittstelle für KI-Agenten wie Claude, KI-gestützte Texterstellung, semantische Suche mit lokalen Embeddings, DeepL-Übersetzung.</a:t>
            </a:r>
            <a:endParaRPr lang="en-US" sz="1300" dirty="0"/>
          </a:p>
        </p:txBody>
      </p:sp>
      <p:sp>
        <p:nvSpPr>
          <p:cNvPr id="14" name="Shape 12"/>
          <p:cNvSpPr/>
          <p:nvPr/>
        </p:nvSpPr>
        <p:spPr>
          <a:xfrm>
            <a:off x="6233008" y="1645920"/>
            <a:ext cx="2567864" cy="566928"/>
          </a:xfrm>
          <a:prstGeom prst="rect">
            <a:avLst/>
          </a:prstGeom>
          <a:solidFill>
            <a:srgbClr val="000E2F"/>
          </a:solidFill>
          <a:ln w="12700">
            <a:solidFill>
              <a:srgbClr val="000E2F"/>
            </a:solidFill>
            <a:prstDash val="solid"/>
          </a:ln>
        </p:spPr>
      </p:sp>
      <p:sp>
        <p:nvSpPr>
          <p:cNvPr id="15" name="Text 13"/>
          <p:cNvSpPr txBox="1"/>
          <p:nvPr/>
        </p:nvSpPr>
        <p:spPr>
          <a:xfrm>
            <a:off x="6415888"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Erweiterbar</a:t>
            </a:r>
            <a:endParaRPr lang="en-US" sz="1500" dirty="0"/>
          </a:p>
        </p:txBody>
      </p:sp>
      <p:sp>
        <p:nvSpPr>
          <p:cNvPr id="16" name="Text 14"/>
          <p:cNvSpPr txBox="1"/>
          <p:nvPr/>
        </p:nvSpPr>
        <p:spPr>
          <a:xfrm>
            <a:off x="8297951"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17" name="Text 15"/>
          <p:cNvSpPr txBox="1"/>
          <p:nvPr/>
        </p:nvSpPr>
        <p:spPr>
          <a:xfrm>
            <a:off x="6233008"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REST-API, API-Designer, Connector-Schnittstelle und feste Konventionen für neue Exportformate – etwa EasyCatalog oder ONIX.</a:t>
            </a:r>
            <a:endParaRPr lang="en-US" sz="1300" dirty="0"/>
          </a:p>
        </p:txBody>
      </p:sp>
      <p:sp>
        <p:nvSpPr>
          <p:cNvPr id="18" name="Shape 16"/>
          <p:cNvSpPr/>
          <p:nvPr/>
        </p:nvSpPr>
        <p:spPr>
          <a:xfrm>
            <a:off x="9075191" y="1645920"/>
            <a:ext cx="2567864" cy="566928"/>
          </a:xfrm>
          <a:prstGeom prst="rect">
            <a:avLst/>
          </a:prstGeom>
          <a:solidFill>
            <a:srgbClr val="000E2F"/>
          </a:solidFill>
          <a:ln w="12700">
            <a:solidFill>
              <a:srgbClr val="000E2F"/>
            </a:solidFill>
            <a:prstDash val="solid"/>
          </a:ln>
        </p:spPr>
      </p:sp>
      <p:sp>
        <p:nvSpPr>
          <p:cNvPr id="19" name="Text 17"/>
          <p:cNvSpPr txBox="1"/>
          <p:nvPr/>
        </p:nvSpPr>
        <p:spPr>
          <a:xfrm>
            <a:off x="9258071" y="1645920"/>
            <a:ext cx="1882064" cy="56692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Dokumentation</a:t>
            </a:r>
            <a:endParaRPr lang="en-US" sz="1500" dirty="0"/>
          </a:p>
        </p:txBody>
      </p:sp>
      <p:sp>
        <p:nvSpPr>
          <p:cNvPr id="20" name="Text 18"/>
          <p:cNvSpPr txBox="1"/>
          <p:nvPr/>
        </p:nvSpPr>
        <p:spPr>
          <a:xfrm>
            <a:off x="11140135" y="1645920"/>
            <a:ext cx="365760" cy="566928"/>
          </a:xfrm>
          <a:prstGeom prst="rect">
            <a:avLst/>
          </a:prstGeom>
          <a:noFill/>
          <a:ln/>
        </p:spPr>
        <p:txBody>
          <a:bodyPr wrap="square" lIns="0" tIns="0" rIns="0" bIns="0" rtlCol="0" anchor="ctr"/>
          <a:lstStyle/>
          <a:p>
            <a:pPr algn="r" indent="0" marL="0">
              <a:buNone/>
            </a:pPr>
            <a:r>
              <a:rPr lang="en-US" sz="1800" dirty="0">
                <a:solidFill>
                  <a:srgbClr val="FFFFFF"/>
                </a:solidFill>
                <a:latin typeface="Arial" pitchFamily="34" charset="0"/>
                <a:ea typeface="Arial" pitchFamily="34" charset="-122"/>
                <a:cs typeface="Arial" pitchFamily="34" charset="-120"/>
              </a:rPr>
              <a:t>→</a:t>
            </a:r>
            <a:endParaRPr lang="en-US" sz="1800" dirty="0"/>
          </a:p>
        </p:txBody>
      </p:sp>
      <p:sp>
        <p:nvSpPr>
          <p:cNvPr id="21" name="Text 19"/>
          <p:cNvSpPr txBox="1"/>
          <p:nvPr/>
        </p:nvSpPr>
        <p:spPr>
          <a:xfrm>
            <a:off x="9075191" y="2377440"/>
            <a:ext cx="2567864" cy="1828800"/>
          </a:xfrm>
          <a:prstGeom prst="rect">
            <a:avLst/>
          </a:prstGeom>
          <a:noFill/>
          <a:ln/>
        </p:spPr>
        <p:txBody>
          <a:bodyPr wrap="square" lIns="0" tIns="0" rIns="0" bIns="0" rtlCol="0" anchor="t"/>
          <a:lstStyle/>
          <a:p>
            <a:pPr indent="0" marL="0">
              <a:lnSpc>
                <a:spcPct val="112000"/>
              </a:lnSpc>
              <a:buNone/>
            </a:pPr>
            <a:r>
              <a:rPr lang="en-US" sz="1300" dirty="0">
                <a:solidFill>
                  <a:srgbClr val="16181D"/>
                </a:solidFill>
                <a:latin typeface="Arial" pitchFamily="34" charset="0"/>
                <a:ea typeface="Arial" pitchFamily="34" charset="-122"/>
                <a:cs typeface="Arial" pitchFamily="34" charset="-120"/>
              </a:rPr>
              <a:t>Hilfe-Portal auf Deutsch und Englisch, 25 Architektur-Spezifikationen, API-Referenz – plus Leitfäden, nach denen auch KI-Agenten regelkonform erweitern.</a:t>
            </a:r>
            <a:endParaRPr lang="en-US" sz="1300" dirty="0"/>
          </a:p>
        </p:txBody>
      </p:sp>
      <p:sp>
        <p:nvSpPr>
          <p:cNvPr id="22" name="Shape 20"/>
          <p:cNvSpPr/>
          <p:nvPr/>
        </p:nvSpPr>
        <p:spPr>
          <a:xfrm>
            <a:off x="548640" y="4343400"/>
            <a:ext cx="11094415" cy="1783080"/>
          </a:xfrm>
          <a:prstGeom prst="rect">
            <a:avLst/>
          </a:prstGeom>
          <a:solidFill>
            <a:srgbClr val="C6E6E3"/>
          </a:solidFill>
          <a:ln w="12700">
            <a:solidFill>
              <a:srgbClr val="C6E6E3"/>
            </a:solidFill>
            <a:prstDash val="solid"/>
          </a:ln>
        </p:spPr>
      </p:sp>
      <p:sp>
        <p:nvSpPr>
          <p:cNvPr id="23" name="Text 21"/>
          <p:cNvSpPr txBox="1"/>
          <p:nvPr/>
        </p:nvSpPr>
        <p:spPr>
          <a:xfrm>
            <a:off x="868680" y="4572000"/>
            <a:ext cx="3108960" cy="457200"/>
          </a:xfrm>
          <a:prstGeom prst="rect">
            <a:avLst/>
          </a:prstGeom>
          <a:noFill/>
          <a:ln/>
        </p:spPr>
        <p:txBody>
          <a:bodyPr wrap="square" lIns="0" tIns="0" rIns="0" bIns="0" rtlCol="0" anchor="t"/>
          <a:lstStyle/>
          <a:p>
            <a:pPr indent="0" marL="0">
              <a:buNone/>
            </a:pPr>
            <a:r>
              <a:rPr lang="en-US" sz="2000" b="1" dirty="0">
                <a:solidFill>
                  <a:srgbClr val="000E2F"/>
                </a:solidFill>
                <a:latin typeface="Arial" pitchFamily="34" charset="0"/>
                <a:ea typeface="Arial" pitchFamily="34" charset="-122"/>
                <a:cs typeface="Arial" pitchFamily="34" charset="-120"/>
              </a:rPr>
              <a:t>Mitgestalten heißt:</a:t>
            </a:r>
            <a:endParaRPr lang="en-US" sz="2000" dirty="0"/>
          </a:p>
        </p:txBody>
      </p:sp>
      <p:sp>
        <p:nvSpPr>
          <p:cNvPr id="24" name="Text 22"/>
          <p:cNvSpPr txBox="1"/>
          <p:nvPr/>
        </p:nvSpPr>
        <p:spPr>
          <a:xfrm>
            <a:off x="4114800" y="4572000"/>
            <a:ext cx="7208215" cy="137160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Anforderungen aus der Kohlhammer-Funktionsliste fließen direkt in die Produkt-Roadmap.</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Was für Kohlhammer gebaut wird, wird Standard – und kommt mit jedem Update mit.</a:t>
            </a:r>
            <a:endParaRPr lang="en-US" sz="1400" dirty="0"/>
          </a:p>
          <a:p>
            <a:pPr marL="342900" indent="-342900">
              <a:lnSpc>
                <a:spcPct val="110000"/>
              </a:lnSpc>
              <a:spcAft>
                <a:spcPts val="600"/>
              </a:spcAft>
              <a:buSzPct val="100000"/>
              <a:buChar char="•"/>
            </a:pPr>
            <a:r>
              <a:rPr lang="en-US" sz="1400" dirty="0">
                <a:solidFill>
                  <a:srgbClr val="16181D"/>
                </a:solidFill>
                <a:latin typeface="Arial" pitchFamily="34" charset="0"/>
                <a:ea typeface="Arial" pitchFamily="34" charset="-122"/>
                <a:cs typeface="Arial" pitchFamily="34" charset="-120"/>
              </a:rPr>
              <a:t>Kurzer Weg zum Hersteller, gemeinsame Priorisierung, transparente Umsetzung im offenen Code.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WIR ENTWICKELN MIT KI</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Kohlhammer muss den Code nicht kennen – wir befähigen das Team, mitzureden, mitzuprüfen und nachzuvollziehen.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15</a:t>
            </a:r>
            <a:endParaRPr lang="en-US" sz="900" dirty="0"/>
          </a:p>
        </p:txBody>
      </p:sp>
      <p:sp>
        <p:nvSpPr>
          <p:cNvPr id="6" name="Shape 4"/>
          <p:cNvSpPr/>
          <p:nvPr/>
        </p:nvSpPr>
        <p:spPr>
          <a:xfrm>
            <a:off x="548640" y="1645920"/>
            <a:ext cx="777240" cy="777240"/>
          </a:xfrm>
          <a:prstGeom prst="ellipse">
            <a:avLst/>
          </a:prstGeom>
          <a:solidFill>
            <a:srgbClr val="FFFFFF"/>
          </a:solidFill>
          <a:ln w="25400">
            <a:solidFill>
              <a:srgbClr val="1B2D5C"/>
            </a:solidFill>
            <a:prstDash val="solid"/>
          </a:ln>
        </p:spPr>
      </p:sp>
      <p:sp>
        <p:nvSpPr>
          <p:cNvPr id="7" name="Text 5"/>
          <p:cNvSpPr txBox="1"/>
          <p:nvPr/>
        </p:nvSpPr>
        <p:spPr>
          <a:xfrm>
            <a:off x="548640"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1417320"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9" name="Text 7"/>
          <p:cNvSpPr txBox="1"/>
          <p:nvPr/>
        </p:nvSpPr>
        <p:spPr>
          <a:xfrm>
            <a:off x="548640"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Wunsch in Fachsprache</a:t>
            </a:r>
            <a:endParaRPr lang="en-US" sz="1400" dirty="0"/>
          </a:p>
        </p:txBody>
      </p:sp>
      <p:sp>
        <p:nvSpPr>
          <p:cNvPr id="10" name="Text 8"/>
          <p:cNvSpPr txBox="1"/>
          <p:nvPr/>
        </p:nvSpPr>
        <p:spPr>
          <a:xfrm>
            <a:off x="548640"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Kohlhammer beschreibt, was gebraucht wird – im Gespräch oder als GitHub-Issue.</a:t>
            </a:r>
            <a:endParaRPr lang="en-US" sz="1200" dirty="0"/>
          </a:p>
        </p:txBody>
      </p:sp>
      <p:sp>
        <p:nvSpPr>
          <p:cNvPr id="11" name="Shape 9"/>
          <p:cNvSpPr/>
          <p:nvPr/>
        </p:nvSpPr>
        <p:spPr>
          <a:xfrm>
            <a:off x="3390824" y="1645920"/>
            <a:ext cx="777240" cy="777240"/>
          </a:xfrm>
          <a:prstGeom prst="ellipse">
            <a:avLst/>
          </a:prstGeom>
          <a:solidFill>
            <a:srgbClr val="FFFFFF"/>
          </a:solidFill>
          <a:ln w="25400">
            <a:solidFill>
              <a:srgbClr val="1B2D5C"/>
            </a:solidFill>
            <a:prstDash val="solid"/>
          </a:ln>
        </p:spPr>
      </p:sp>
      <p:sp>
        <p:nvSpPr>
          <p:cNvPr id="12" name="Text 10"/>
          <p:cNvSpPr txBox="1"/>
          <p:nvPr/>
        </p:nvSpPr>
        <p:spPr>
          <a:xfrm>
            <a:off x="3390824"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2</a:t>
            </a:r>
            <a:endParaRPr lang="en-US" sz="2600" dirty="0"/>
          </a:p>
        </p:txBody>
      </p:sp>
      <p:sp>
        <p:nvSpPr>
          <p:cNvPr id="13" name="Text 11"/>
          <p:cNvSpPr txBox="1"/>
          <p:nvPr/>
        </p:nvSpPr>
        <p:spPr>
          <a:xfrm>
            <a:off x="4259504"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4" name="Text 12"/>
          <p:cNvSpPr txBox="1"/>
          <p:nvPr/>
        </p:nvSpPr>
        <p:spPr>
          <a:xfrm>
            <a:off x="3390824"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KI entwickelt nach Regeln</a:t>
            </a:r>
            <a:endParaRPr lang="en-US" sz="1400" dirty="0"/>
          </a:p>
        </p:txBody>
      </p:sp>
      <p:sp>
        <p:nvSpPr>
          <p:cNvPr id="15" name="Text 13"/>
          <p:cNvSpPr txBox="1"/>
          <p:nvPr/>
        </p:nvSpPr>
        <p:spPr>
          <a:xfrm>
            <a:off x="3390824"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Claude setzt um, nach festen Projektregeln und mit automatischen Tests.</a:t>
            </a:r>
            <a:endParaRPr lang="en-US" sz="1200" dirty="0"/>
          </a:p>
        </p:txBody>
      </p:sp>
      <p:sp>
        <p:nvSpPr>
          <p:cNvPr id="16" name="Shape 14"/>
          <p:cNvSpPr/>
          <p:nvPr/>
        </p:nvSpPr>
        <p:spPr>
          <a:xfrm>
            <a:off x="6233008" y="1645920"/>
            <a:ext cx="777240" cy="777240"/>
          </a:xfrm>
          <a:prstGeom prst="ellipse">
            <a:avLst/>
          </a:prstGeom>
          <a:solidFill>
            <a:srgbClr val="FFFFFF"/>
          </a:solidFill>
          <a:ln w="25400">
            <a:solidFill>
              <a:srgbClr val="1B2D5C"/>
            </a:solidFill>
            <a:prstDash val="solid"/>
          </a:ln>
        </p:spPr>
      </p:sp>
      <p:sp>
        <p:nvSpPr>
          <p:cNvPr id="17" name="Text 15"/>
          <p:cNvSpPr txBox="1"/>
          <p:nvPr/>
        </p:nvSpPr>
        <p:spPr>
          <a:xfrm>
            <a:off x="6233008" y="1645920"/>
            <a:ext cx="777240" cy="777240"/>
          </a:xfrm>
          <a:prstGeom prst="rect">
            <a:avLst/>
          </a:prstGeom>
          <a:noFill/>
          <a:ln/>
        </p:spPr>
        <p:txBody>
          <a:bodyPr wrap="square" lIns="0" tIns="0" rIns="0" bIns="0" rtlCol="0" anchor="ctr"/>
          <a:lstStyle/>
          <a:p>
            <a:pPr algn="ctr" indent="0" marL="0">
              <a:buNone/>
            </a:pPr>
            <a:r>
              <a:rPr lang="en-US" sz="2600" dirty="0">
                <a:solidFill>
                  <a:srgbClr val="1B2D5C"/>
                </a:solidFill>
                <a:latin typeface="Arial" pitchFamily="34" charset="0"/>
                <a:ea typeface="Arial" pitchFamily="34" charset="-122"/>
                <a:cs typeface="Arial" pitchFamily="34" charset="-120"/>
              </a:rPr>
              <a:t>3</a:t>
            </a:r>
            <a:endParaRPr lang="en-US" sz="2600" dirty="0"/>
          </a:p>
        </p:txBody>
      </p:sp>
      <p:sp>
        <p:nvSpPr>
          <p:cNvPr id="18" name="Text 16"/>
          <p:cNvSpPr txBox="1"/>
          <p:nvPr/>
        </p:nvSpPr>
        <p:spPr>
          <a:xfrm>
            <a:off x="7101688" y="1645920"/>
            <a:ext cx="1699184" cy="777240"/>
          </a:xfrm>
          <a:prstGeom prst="rect">
            <a:avLst/>
          </a:prstGeom>
          <a:noFill/>
          <a:ln/>
        </p:spPr>
        <p:txBody>
          <a:bodyPr wrap="square" lIns="0" tIns="0" rIns="0" bIns="0" rtlCol="0" anchor="ctr"/>
          <a:lstStyle/>
          <a:p>
            <a:pPr algn="ctr" indent="0" marL="0">
              <a:buNone/>
            </a:pPr>
            <a:r>
              <a:rPr lang="en-US" sz="2400" dirty="0">
                <a:solidFill>
                  <a:srgbClr val="1B2D5C"/>
                </a:solidFill>
                <a:latin typeface="Arial" pitchFamily="34" charset="0"/>
                <a:ea typeface="Arial" pitchFamily="34" charset="-122"/>
                <a:cs typeface="Arial" pitchFamily="34" charset="-120"/>
              </a:rPr>
              <a:t>→</a:t>
            </a:r>
            <a:endParaRPr lang="en-US" sz="2400" dirty="0"/>
          </a:p>
        </p:txBody>
      </p:sp>
      <p:sp>
        <p:nvSpPr>
          <p:cNvPr id="19" name="Text 17"/>
          <p:cNvSpPr txBox="1"/>
          <p:nvPr/>
        </p:nvSpPr>
        <p:spPr>
          <a:xfrm>
            <a:off x="6233008"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Mensch prüft und gibt frei</a:t>
            </a:r>
            <a:endParaRPr lang="en-US" sz="1400" dirty="0"/>
          </a:p>
        </p:txBody>
      </p:sp>
      <p:sp>
        <p:nvSpPr>
          <p:cNvPr id="20" name="Text 18"/>
          <p:cNvSpPr txBox="1"/>
          <p:nvPr/>
        </p:nvSpPr>
        <p:spPr>
          <a:xfrm>
            <a:off x="6233008"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incoxx prüft jede Änderung im Vier-Augen-Prinzip, bevor sie live geht.</a:t>
            </a:r>
            <a:endParaRPr lang="en-US" sz="1200" dirty="0"/>
          </a:p>
        </p:txBody>
      </p:sp>
      <p:sp>
        <p:nvSpPr>
          <p:cNvPr id="21" name="Shape 19"/>
          <p:cNvSpPr/>
          <p:nvPr/>
        </p:nvSpPr>
        <p:spPr>
          <a:xfrm>
            <a:off x="9075191" y="1645920"/>
            <a:ext cx="777240" cy="777240"/>
          </a:xfrm>
          <a:prstGeom prst="ellipse">
            <a:avLst/>
          </a:prstGeom>
          <a:solidFill>
            <a:srgbClr val="1B2D5C"/>
          </a:solidFill>
          <a:ln w="25400">
            <a:solidFill>
              <a:srgbClr val="1B2D5C"/>
            </a:solidFill>
            <a:prstDash val="solid"/>
          </a:ln>
        </p:spPr>
      </p:sp>
      <p:sp>
        <p:nvSpPr>
          <p:cNvPr id="22" name="Text 20"/>
          <p:cNvSpPr txBox="1"/>
          <p:nvPr/>
        </p:nvSpPr>
        <p:spPr>
          <a:xfrm>
            <a:off x="9075191" y="1645920"/>
            <a:ext cx="777240" cy="77724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4</a:t>
            </a:r>
            <a:endParaRPr lang="en-US" sz="2600" dirty="0"/>
          </a:p>
        </p:txBody>
      </p:sp>
      <p:sp>
        <p:nvSpPr>
          <p:cNvPr id="23" name="Text 21"/>
          <p:cNvSpPr txBox="1"/>
          <p:nvPr/>
        </p:nvSpPr>
        <p:spPr>
          <a:xfrm>
            <a:off x="9075191" y="2560320"/>
            <a:ext cx="2567864" cy="320040"/>
          </a:xfrm>
          <a:prstGeom prst="rect">
            <a:avLst/>
          </a:prstGeom>
          <a:noFill/>
          <a:ln/>
        </p:spPr>
        <p:txBody>
          <a:bodyPr wrap="square" lIns="0" tIns="0" rIns="0" bIns="0" rtlCol="0" anchor="t"/>
          <a:lstStyle/>
          <a:p>
            <a:pPr indent="0" marL="0">
              <a:buNone/>
            </a:pPr>
            <a:r>
              <a:rPr lang="en-US" sz="1400" b="1" dirty="0">
                <a:solidFill>
                  <a:srgbClr val="16181D"/>
                </a:solidFill>
                <a:latin typeface="Arial" pitchFamily="34" charset="0"/>
                <a:ea typeface="Arial" pitchFamily="34" charset="-122"/>
                <a:cs typeface="Arial" pitchFamily="34" charset="-120"/>
              </a:rPr>
              <a:t>Nachvollziehbar dokumentiert</a:t>
            </a:r>
            <a:endParaRPr lang="en-US" sz="1400" dirty="0"/>
          </a:p>
        </p:txBody>
      </p:sp>
      <p:sp>
        <p:nvSpPr>
          <p:cNvPr id="24" name="Text 22"/>
          <p:cNvSpPr txBox="1"/>
          <p:nvPr/>
        </p:nvSpPr>
        <p:spPr>
          <a:xfrm>
            <a:off x="9075191" y="2898648"/>
            <a:ext cx="2567864" cy="822960"/>
          </a:xfrm>
          <a:prstGeom prst="rect">
            <a:avLst/>
          </a:prstGeom>
          <a:noFill/>
          <a:ln/>
        </p:spPr>
        <p:txBody>
          <a:bodyPr wrap="square" lIns="0" tIns="0" rIns="0" bIns="0" rtlCol="0" anchor="t"/>
          <a:lstStyle/>
          <a:p>
            <a:pPr indent="0" marL="0">
              <a:lnSpc>
                <a:spcPct val="108000"/>
              </a:lnSpc>
              <a:buNone/>
            </a:pPr>
            <a:r>
              <a:rPr lang="en-US" sz="1200" dirty="0">
                <a:solidFill>
                  <a:srgbClr val="4B5563"/>
                </a:solidFill>
                <a:latin typeface="Arial" pitchFamily="34" charset="0"/>
                <a:ea typeface="Arial" pitchFamily="34" charset="-122"/>
                <a:cs typeface="Arial" pitchFamily="34" charset="-120"/>
              </a:rPr>
              <a:t>Jede Änderung als Pull Request mit Beschreibung, Dokumentation wächst mit.</a:t>
            </a:r>
            <a:endParaRPr lang="en-US" sz="1200" dirty="0"/>
          </a:p>
        </p:txBody>
      </p:sp>
      <p:sp>
        <p:nvSpPr>
          <p:cNvPr id="25" name="Shape 23"/>
          <p:cNvSpPr/>
          <p:nvPr/>
        </p:nvSpPr>
        <p:spPr>
          <a:xfrm>
            <a:off x="548640" y="3931920"/>
            <a:ext cx="5364328" cy="2240280"/>
          </a:xfrm>
          <a:prstGeom prst="rect">
            <a:avLst/>
          </a:prstGeom>
          <a:solidFill>
            <a:srgbClr val="C6E6E3"/>
          </a:solidFill>
          <a:ln w="12700">
            <a:solidFill>
              <a:srgbClr val="C6E6E3"/>
            </a:solidFill>
            <a:prstDash val="solid"/>
          </a:ln>
        </p:spPr>
      </p:sp>
      <p:sp>
        <p:nvSpPr>
          <p:cNvPr id="26" name="Text 24"/>
          <p:cNvSpPr txBox="1"/>
          <p:nvPr/>
        </p:nvSpPr>
        <p:spPr>
          <a:xfrm>
            <a:off x="822960" y="4114800"/>
            <a:ext cx="4815688"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Wir befähigen Kohlhammer</a:t>
            </a:r>
            <a:endParaRPr lang="en-US" sz="1700" dirty="0"/>
          </a:p>
        </p:txBody>
      </p:sp>
      <p:sp>
        <p:nvSpPr>
          <p:cNvPr id="27" name="Text 25"/>
          <p:cNvSpPr txBox="1"/>
          <p:nvPr/>
        </p:nvSpPr>
        <p:spPr>
          <a:xfrm>
            <a:off x="822960"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Claude mit Projektwissen: Fragen zum System in normaler Sprache stellen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GitHub: Wünsche als Issue einbringen, jede Änderung einsehen</a:t>
            </a:r>
            <a:endParaRPr lang="en-US" sz="1300" dirty="0"/>
          </a:p>
          <a:p>
            <a:pPr marL="342900" indent="-342900">
              <a:lnSpc>
                <a:spcPct val="105000"/>
              </a:lnSpc>
              <a:spcAft>
                <a:spcPts val="600"/>
              </a:spcAft>
              <a:buSzPct val="100000"/>
              <a:buChar char="•"/>
            </a:pPr>
            <a:r>
              <a:rPr lang="en-US" sz="1300" dirty="0">
                <a:solidFill>
                  <a:srgbClr val="16181D"/>
                </a:solidFill>
                <a:latin typeface="Arial" pitchFamily="34" charset="0"/>
                <a:ea typeface="Arial" pitchFamily="34" charset="-122"/>
                <a:cs typeface="Arial" pitchFamily="34" charset="-120"/>
              </a:rPr>
              <a:t>Einführung und Begleitung durch incoxx – ohne Programmierkenntnisse</a:t>
            </a:r>
            <a:endParaRPr lang="en-US" sz="1300" dirty="0"/>
          </a:p>
        </p:txBody>
      </p:sp>
      <p:sp>
        <p:nvSpPr>
          <p:cNvPr id="28" name="Shape 26"/>
          <p:cNvSpPr/>
          <p:nvPr/>
        </p:nvSpPr>
        <p:spPr>
          <a:xfrm>
            <a:off x="6278728" y="3931920"/>
            <a:ext cx="5364328" cy="2240280"/>
          </a:xfrm>
          <a:prstGeom prst="rect">
            <a:avLst/>
          </a:prstGeom>
          <a:solidFill>
            <a:srgbClr val="000E2F"/>
          </a:solidFill>
          <a:ln w="12700">
            <a:solidFill>
              <a:srgbClr val="000E2F"/>
            </a:solidFill>
            <a:prstDash val="solid"/>
          </a:ln>
        </p:spPr>
      </p:sp>
      <p:sp>
        <p:nvSpPr>
          <p:cNvPr id="29" name="Text 27"/>
          <p:cNvSpPr txBox="1"/>
          <p:nvPr/>
        </p:nvSpPr>
        <p:spPr>
          <a:xfrm>
            <a:off x="6553048" y="4114800"/>
            <a:ext cx="4815688"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Risiko minimiert</a:t>
            </a:r>
            <a:endParaRPr lang="en-US" sz="1700" dirty="0"/>
          </a:p>
        </p:txBody>
      </p:sp>
      <p:sp>
        <p:nvSpPr>
          <p:cNvPr id="30" name="Text 28"/>
          <p:cNvSpPr txBox="1"/>
          <p:nvPr/>
        </p:nvSpPr>
        <p:spPr>
          <a:xfrm>
            <a:off x="6553048" y="4572000"/>
            <a:ext cx="4815688"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Wissen steckt im Repository, nicht in einzelnen Köpfen</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Jede Änderung geprüft, getestet und jederzeit rückverfolgbar</a:t>
            </a:r>
            <a:endParaRPr lang="en-US" sz="1300" dirty="0"/>
          </a:p>
          <a:p>
            <a:pPr marL="342900" indent="-342900">
              <a:lnSpc>
                <a:spcPct val="105000"/>
              </a:lnSpc>
              <a:spcAft>
                <a:spcPts val="600"/>
              </a:spcAft>
              <a:buSzPct val="100000"/>
              <a:buChar char="•"/>
            </a:pPr>
            <a:r>
              <a:rPr lang="en-US" sz="1300" dirty="0">
                <a:solidFill>
                  <a:srgbClr val="FFFFFF"/>
                </a:solidFill>
                <a:latin typeface="Arial" pitchFamily="34" charset="0"/>
                <a:ea typeface="Arial" pitchFamily="34" charset="-122"/>
                <a:cs typeface="Arial" pitchFamily="34" charset="-120"/>
              </a:rPr>
              <a:t>Offener Code – keine Abhängigkeit, auch nicht von incoxx</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VORGESCHLAGENER FAHRPLAN</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Richtwerte. Pimcore 6 bleibt bis zur Abnahme führend – keine Doppelpflege. Details im Dokument „Projektablauf“.</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16</a:t>
            </a:r>
            <a:endParaRPr lang="en-US" sz="900" dirty="0"/>
          </a:p>
        </p:txBody>
      </p:sp>
      <p:sp>
        <p:nvSpPr>
          <p:cNvPr id="6" name="Shape 4"/>
          <p:cNvSpPr/>
          <p:nvPr/>
        </p:nvSpPr>
        <p:spPr>
          <a:xfrm>
            <a:off x="640080" y="2011680"/>
            <a:ext cx="10911535" cy="0"/>
          </a:xfrm>
          <a:prstGeom prst="line">
            <a:avLst/>
          </a:prstGeom>
          <a:noFill/>
          <a:ln w="19050">
            <a:solidFill>
              <a:srgbClr val="1B2D5C"/>
            </a:solidFill>
            <a:prstDash val="solid"/>
          </a:ln>
        </p:spPr>
      </p:sp>
      <p:sp>
        <p:nvSpPr>
          <p:cNvPr id="7" name="Shape 5"/>
          <p:cNvSpPr/>
          <p:nvPr/>
        </p:nvSpPr>
        <p:spPr>
          <a:xfrm>
            <a:off x="548640" y="1874520"/>
            <a:ext cx="274320" cy="274320"/>
          </a:xfrm>
          <a:prstGeom prst="rect">
            <a:avLst/>
          </a:prstGeom>
          <a:solidFill>
            <a:srgbClr val="000E2F"/>
          </a:solidFill>
          <a:ln w="12700">
            <a:solidFill>
              <a:srgbClr val="000E2F"/>
            </a:solidFill>
            <a:prstDash val="solid"/>
          </a:ln>
        </p:spPr>
      </p:sp>
      <p:sp>
        <p:nvSpPr>
          <p:cNvPr id="8" name="Text 6"/>
          <p:cNvSpPr txBox="1"/>
          <p:nvPr/>
        </p:nvSpPr>
        <p:spPr>
          <a:xfrm>
            <a:off x="548640" y="2377440"/>
            <a:ext cx="2036003" cy="68580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01</a:t>
            </a:r>
            <a:endParaRPr lang="en-US" sz="3600" dirty="0"/>
          </a:p>
        </p:txBody>
      </p:sp>
      <p:sp>
        <p:nvSpPr>
          <p:cNvPr id="9" name="Text 7"/>
          <p:cNvSpPr txBox="1"/>
          <p:nvPr/>
        </p:nvSpPr>
        <p:spPr>
          <a:xfrm>
            <a:off x="548640" y="3108960"/>
            <a:ext cx="2036003"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2 WOCHEN</a:t>
            </a:r>
            <a:endParaRPr lang="en-US" sz="1000" dirty="0"/>
          </a:p>
        </p:txBody>
      </p:sp>
      <p:sp>
        <p:nvSpPr>
          <p:cNvPr id="10" name="Text 8"/>
          <p:cNvSpPr txBox="1"/>
          <p:nvPr/>
        </p:nvSpPr>
        <p:spPr>
          <a:xfrm>
            <a:off x="548640" y="3401568"/>
            <a:ext cx="2036003" cy="64008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Auftakt und Bestandsaufnahme</a:t>
            </a:r>
            <a:endParaRPr lang="en-US" sz="1600" dirty="0"/>
          </a:p>
        </p:txBody>
      </p:sp>
      <p:sp>
        <p:nvSpPr>
          <p:cNvPr id="11" name="Text 9"/>
          <p:cNvSpPr txBox="1"/>
          <p:nvPr/>
        </p:nvSpPr>
        <p:spPr>
          <a:xfrm>
            <a:off x="548640" y="4069080"/>
            <a:ext cx="2036003" cy="1920240"/>
          </a:xfrm>
          <a:prstGeom prst="rect">
            <a:avLst/>
          </a:prstGeom>
          <a:noFill/>
          <a:ln/>
        </p:spPr>
        <p:txBody>
          <a:bodyPr wrap="square" lIns="0" tIns="0" rIns="0" bIns="0" rtlCol="0" anchor="t"/>
          <a:lstStyle/>
          <a:p>
            <a:pPr indent="0" marL="0">
              <a:lnSpc>
                <a:spcPct val="112000"/>
              </a:lnSpc>
              <a:buNone/>
            </a:pPr>
            <a:r>
              <a:rPr lang="en-US" sz="1250" dirty="0">
                <a:solidFill>
                  <a:srgbClr val="16181D"/>
                </a:solidFill>
                <a:latin typeface="Arial" pitchFamily="34" charset="0"/>
                <a:ea typeface="Arial" pitchFamily="34" charset="-122"/>
                <a:cs typeface="Arial" pitchFamily="34" charset="-120"/>
              </a:rPr>
              <a:t>Workshop, Gespräche mit allen Abteilungen, Funktionsliste bestätigen, Zeitplan festlegen.</a:t>
            </a:r>
            <a:endParaRPr lang="en-US" sz="1250" dirty="0"/>
          </a:p>
        </p:txBody>
      </p:sp>
      <p:sp>
        <p:nvSpPr>
          <p:cNvPr id="12" name="Shape 10"/>
          <p:cNvSpPr/>
          <p:nvPr/>
        </p:nvSpPr>
        <p:spPr>
          <a:xfrm>
            <a:off x="2813243" y="1874520"/>
            <a:ext cx="274320" cy="274320"/>
          </a:xfrm>
          <a:prstGeom prst="rect">
            <a:avLst/>
          </a:prstGeom>
          <a:solidFill>
            <a:srgbClr val="000E2F"/>
          </a:solidFill>
          <a:ln w="12700">
            <a:solidFill>
              <a:srgbClr val="000E2F"/>
            </a:solidFill>
            <a:prstDash val="solid"/>
          </a:ln>
        </p:spPr>
      </p:sp>
      <p:sp>
        <p:nvSpPr>
          <p:cNvPr id="13" name="Text 11"/>
          <p:cNvSpPr txBox="1"/>
          <p:nvPr/>
        </p:nvSpPr>
        <p:spPr>
          <a:xfrm>
            <a:off x="2813243" y="2377440"/>
            <a:ext cx="2036003" cy="68580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02</a:t>
            </a:r>
            <a:endParaRPr lang="en-US" sz="3600" dirty="0"/>
          </a:p>
        </p:txBody>
      </p:sp>
      <p:sp>
        <p:nvSpPr>
          <p:cNvPr id="14" name="Text 12"/>
          <p:cNvSpPr txBox="1"/>
          <p:nvPr/>
        </p:nvSpPr>
        <p:spPr>
          <a:xfrm>
            <a:off x="2813243" y="3108960"/>
            <a:ext cx="2036003"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 WOCHEN</a:t>
            </a:r>
            <a:endParaRPr lang="en-US" sz="1000" dirty="0"/>
          </a:p>
        </p:txBody>
      </p:sp>
      <p:sp>
        <p:nvSpPr>
          <p:cNvPr id="15" name="Text 13"/>
          <p:cNvSpPr txBox="1"/>
          <p:nvPr/>
        </p:nvSpPr>
        <p:spPr>
          <a:xfrm>
            <a:off x="2813243" y="3401568"/>
            <a:ext cx="2036003" cy="64008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Pilot Brandschutz</a:t>
            </a:r>
            <a:endParaRPr lang="en-US" sz="1600" dirty="0"/>
          </a:p>
        </p:txBody>
      </p:sp>
      <p:sp>
        <p:nvSpPr>
          <p:cNvPr id="16" name="Text 14"/>
          <p:cNvSpPr txBox="1"/>
          <p:nvPr/>
        </p:nvSpPr>
        <p:spPr>
          <a:xfrm>
            <a:off x="2813243" y="4069080"/>
            <a:ext cx="2036003" cy="1920240"/>
          </a:xfrm>
          <a:prstGeom prst="rect">
            <a:avLst/>
          </a:prstGeom>
          <a:noFill/>
          <a:ln/>
        </p:spPr>
        <p:txBody>
          <a:bodyPr wrap="square" lIns="0" tIns="0" rIns="0" bIns="0" rtlCol="0" anchor="t"/>
          <a:lstStyle/>
          <a:p>
            <a:pPr indent="0" marL="0">
              <a:lnSpc>
                <a:spcPct val="112000"/>
              </a:lnSpc>
              <a:buNone/>
            </a:pPr>
            <a:r>
              <a:rPr lang="en-US" sz="1250" dirty="0">
                <a:solidFill>
                  <a:srgbClr val="16181D"/>
                </a:solidFill>
                <a:latin typeface="Arial" pitchFamily="34" charset="0"/>
                <a:ea typeface="Arial" pitchFamily="34" charset="-122"/>
                <a:cs typeface="Arial" pitchFamily="34" charset="-120"/>
              </a:rPr>
              <a:t>Titel des Fachbereichs übernehmen; Key-User prüfen mit echten Daten.</a:t>
            </a:r>
            <a:endParaRPr lang="en-US" sz="1250" dirty="0"/>
          </a:p>
        </p:txBody>
      </p:sp>
      <p:sp>
        <p:nvSpPr>
          <p:cNvPr id="17" name="Shape 15"/>
          <p:cNvSpPr/>
          <p:nvPr/>
        </p:nvSpPr>
        <p:spPr>
          <a:xfrm>
            <a:off x="5077846" y="1874520"/>
            <a:ext cx="274320" cy="274320"/>
          </a:xfrm>
          <a:prstGeom prst="rect">
            <a:avLst/>
          </a:prstGeom>
          <a:solidFill>
            <a:srgbClr val="000E2F"/>
          </a:solidFill>
          <a:ln w="12700">
            <a:solidFill>
              <a:srgbClr val="000E2F"/>
            </a:solidFill>
            <a:prstDash val="solid"/>
          </a:ln>
        </p:spPr>
      </p:sp>
      <p:sp>
        <p:nvSpPr>
          <p:cNvPr id="18" name="Text 16"/>
          <p:cNvSpPr txBox="1"/>
          <p:nvPr/>
        </p:nvSpPr>
        <p:spPr>
          <a:xfrm>
            <a:off x="5077846" y="2377440"/>
            <a:ext cx="2036003" cy="68580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03</a:t>
            </a:r>
            <a:endParaRPr lang="en-US" sz="3600" dirty="0"/>
          </a:p>
        </p:txBody>
      </p:sp>
      <p:sp>
        <p:nvSpPr>
          <p:cNvPr id="19" name="Text 17"/>
          <p:cNvSpPr txBox="1"/>
          <p:nvPr/>
        </p:nvSpPr>
        <p:spPr>
          <a:xfrm>
            <a:off x="5077846" y="3108960"/>
            <a:ext cx="2036003"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JE NACH UMFANG</a:t>
            </a:r>
            <a:endParaRPr lang="en-US" sz="1000" dirty="0"/>
          </a:p>
        </p:txBody>
      </p:sp>
      <p:sp>
        <p:nvSpPr>
          <p:cNvPr id="20" name="Text 18"/>
          <p:cNvSpPr txBox="1"/>
          <p:nvPr/>
        </p:nvSpPr>
        <p:spPr>
          <a:xfrm>
            <a:off x="5077846" y="3401568"/>
            <a:ext cx="2036003" cy="64008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Projektfunktionen</a:t>
            </a:r>
            <a:endParaRPr lang="en-US" sz="1600" dirty="0"/>
          </a:p>
        </p:txBody>
      </p:sp>
      <p:sp>
        <p:nvSpPr>
          <p:cNvPr id="21" name="Text 19"/>
          <p:cNvSpPr txBox="1"/>
          <p:nvPr/>
        </p:nvSpPr>
        <p:spPr>
          <a:xfrm>
            <a:off x="5077846" y="4069080"/>
            <a:ext cx="2036003" cy="1920240"/>
          </a:xfrm>
          <a:prstGeom prst="rect">
            <a:avLst/>
          </a:prstGeom>
          <a:noFill/>
          <a:ln/>
        </p:spPr>
        <p:txBody>
          <a:bodyPr wrap="square" lIns="0" tIns="0" rIns="0" bIns="0" rtlCol="0" anchor="t"/>
          <a:lstStyle/>
          <a:p>
            <a:pPr indent="0" marL="0">
              <a:lnSpc>
                <a:spcPct val="112000"/>
              </a:lnSpc>
              <a:buNone/>
            </a:pPr>
            <a:r>
              <a:rPr lang="en-US" sz="1250" dirty="0">
                <a:solidFill>
                  <a:srgbClr val="16181D"/>
                </a:solidFill>
                <a:latin typeface="Arial" pitchFamily="34" charset="0"/>
                <a:ea typeface="Arial" pitchFamily="34" charset="-122"/>
                <a:cs typeface="Arial" pitchFamily="34" charset="-120"/>
              </a:rPr>
              <a:t>EasyCatalog-, Thieme- und ONIX-Export, Cover-Metadaten, Uploads – als Standard gebaut und abgenommen.</a:t>
            </a:r>
            <a:endParaRPr lang="en-US" sz="1250" dirty="0"/>
          </a:p>
        </p:txBody>
      </p:sp>
      <p:sp>
        <p:nvSpPr>
          <p:cNvPr id="22" name="Shape 20"/>
          <p:cNvSpPr/>
          <p:nvPr/>
        </p:nvSpPr>
        <p:spPr>
          <a:xfrm>
            <a:off x="7342449" y="1874520"/>
            <a:ext cx="274320" cy="274320"/>
          </a:xfrm>
          <a:prstGeom prst="rect">
            <a:avLst/>
          </a:prstGeom>
          <a:solidFill>
            <a:srgbClr val="000E2F"/>
          </a:solidFill>
          <a:ln w="12700">
            <a:solidFill>
              <a:srgbClr val="000E2F"/>
            </a:solidFill>
            <a:prstDash val="solid"/>
          </a:ln>
        </p:spPr>
      </p:sp>
      <p:sp>
        <p:nvSpPr>
          <p:cNvPr id="23" name="Text 21"/>
          <p:cNvSpPr txBox="1"/>
          <p:nvPr/>
        </p:nvSpPr>
        <p:spPr>
          <a:xfrm>
            <a:off x="7342449" y="2377440"/>
            <a:ext cx="2036003" cy="68580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04</a:t>
            </a:r>
            <a:endParaRPr lang="en-US" sz="3600" dirty="0"/>
          </a:p>
        </p:txBody>
      </p:sp>
      <p:sp>
        <p:nvSpPr>
          <p:cNvPr id="24" name="Text 22"/>
          <p:cNvSpPr txBox="1"/>
          <p:nvPr/>
        </p:nvSpPr>
        <p:spPr>
          <a:xfrm>
            <a:off x="7342449" y="3108960"/>
            <a:ext cx="2036003"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CA. 4–6 WOCHEN</a:t>
            </a:r>
            <a:endParaRPr lang="en-US" sz="1000" dirty="0"/>
          </a:p>
        </p:txBody>
      </p:sp>
      <p:sp>
        <p:nvSpPr>
          <p:cNvPr id="25" name="Text 23"/>
          <p:cNvSpPr txBox="1"/>
          <p:nvPr/>
        </p:nvSpPr>
        <p:spPr>
          <a:xfrm>
            <a:off x="7342449" y="3401568"/>
            <a:ext cx="2036003" cy="64008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Parallelbetrieb</a:t>
            </a:r>
            <a:endParaRPr lang="en-US" sz="1600" dirty="0"/>
          </a:p>
        </p:txBody>
      </p:sp>
      <p:sp>
        <p:nvSpPr>
          <p:cNvPr id="26" name="Text 24"/>
          <p:cNvSpPr txBox="1"/>
          <p:nvPr/>
        </p:nvSpPr>
        <p:spPr>
          <a:xfrm>
            <a:off x="7342449" y="4069080"/>
            <a:ext cx="2036003" cy="1920240"/>
          </a:xfrm>
          <a:prstGeom prst="rect">
            <a:avLst/>
          </a:prstGeom>
          <a:noFill/>
          <a:ln/>
        </p:spPr>
        <p:txBody>
          <a:bodyPr wrap="square" lIns="0" tIns="0" rIns="0" bIns="0" rtlCol="0" anchor="t"/>
          <a:lstStyle/>
          <a:p>
            <a:pPr indent="0" marL="0">
              <a:lnSpc>
                <a:spcPct val="112000"/>
              </a:lnSpc>
              <a:buNone/>
            </a:pPr>
            <a:r>
              <a:rPr lang="en-US" sz="1250" dirty="0">
                <a:solidFill>
                  <a:srgbClr val="16181D"/>
                </a:solidFill>
                <a:latin typeface="Arial" pitchFamily="34" charset="0"/>
                <a:ea typeface="Arial" pitchFamily="34" charset="-122"/>
                <a:cs typeface="Arial" pitchFamily="34" charset="-120"/>
              </a:rPr>
              <a:t>Gesamtübernahme, beide Systeme parallel, Ergebnisse vergleichen, Schulungen.</a:t>
            </a:r>
            <a:endParaRPr lang="en-US" sz="1250" dirty="0"/>
          </a:p>
        </p:txBody>
      </p:sp>
      <p:sp>
        <p:nvSpPr>
          <p:cNvPr id="27" name="Shape 25"/>
          <p:cNvSpPr/>
          <p:nvPr/>
        </p:nvSpPr>
        <p:spPr>
          <a:xfrm>
            <a:off x="9607052" y="1874520"/>
            <a:ext cx="274320" cy="274320"/>
          </a:xfrm>
          <a:prstGeom prst="rect">
            <a:avLst/>
          </a:prstGeom>
          <a:solidFill>
            <a:srgbClr val="E2211C"/>
          </a:solidFill>
          <a:ln w="12700">
            <a:solidFill>
              <a:srgbClr val="E2211C"/>
            </a:solidFill>
            <a:prstDash val="solid"/>
          </a:ln>
        </p:spPr>
      </p:sp>
      <p:sp>
        <p:nvSpPr>
          <p:cNvPr id="28" name="Text 26"/>
          <p:cNvSpPr txBox="1"/>
          <p:nvPr/>
        </p:nvSpPr>
        <p:spPr>
          <a:xfrm>
            <a:off x="9607052" y="2377440"/>
            <a:ext cx="2036003" cy="685800"/>
          </a:xfrm>
          <a:prstGeom prst="rect">
            <a:avLst/>
          </a:prstGeom>
          <a:noFill/>
          <a:ln/>
        </p:spPr>
        <p:txBody>
          <a:bodyPr wrap="square" lIns="0" tIns="0" rIns="0" bIns="0" rtlCol="0" anchor="t"/>
          <a:lstStyle/>
          <a:p>
            <a:pPr indent="0" marL="0">
              <a:buNone/>
            </a:pPr>
            <a:r>
              <a:rPr lang="en-US" sz="3600" dirty="0">
                <a:solidFill>
                  <a:srgbClr val="1B2D5C"/>
                </a:solidFill>
                <a:latin typeface="Arial" pitchFamily="34" charset="0"/>
                <a:ea typeface="Arial" pitchFamily="34" charset="-122"/>
                <a:cs typeface="Arial" pitchFamily="34" charset="-120"/>
              </a:rPr>
              <a:t>05</a:t>
            </a:r>
            <a:endParaRPr lang="en-US" sz="3600" dirty="0"/>
          </a:p>
        </p:txBody>
      </p:sp>
      <p:sp>
        <p:nvSpPr>
          <p:cNvPr id="29" name="Text 27"/>
          <p:cNvSpPr txBox="1"/>
          <p:nvPr/>
        </p:nvSpPr>
        <p:spPr>
          <a:xfrm>
            <a:off x="9607052" y="3108960"/>
            <a:ext cx="2036003" cy="256032"/>
          </a:xfrm>
          <a:prstGeom prst="rect">
            <a:avLst/>
          </a:prstGeom>
          <a:noFill/>
          <a:ln/>
        </p:spPr>
        <p:txBody>
          <a:bodyPr wrap="square" lIns="0" tIns="0" rIns="0" bIns="0" rtlCol="0" anchor="t"/>
          <a:lstStyle/>
          <a:p>
            <a:pPr indent="0" marL="0">
              <a:buNone/>
            </a:pPr>
            <a:r>
              <a:rPr lang="en-US" sz="1000" b="1" spc="100" kern="0" dirty="0">
                <a:solidFill>
                  <a:srgbClr val="4B5563"/>
                </a:solidFill>
                <a:latin typeface="Arial" pitchFamily="34" charset="0"/>
                <a:ea typeface="Arial" pitchFamily="34" charset="-122"/>
                <a:cs typeface="Arial" pitchFamily="34" charset="-120"/>
              </a:rPr>
              <a:t>STICHTAG</a:t>
            </a:r>
            <a:endParaRPr lang="en-US" sz="1000" dirty="0"/>
          </a:p>
        </p:txBody>
      </p:sp>
      <p:sp>
        <p:nvSpPr>
          <p:cNvPr id="30" name="Text 28"/>
          <p:cNvSpPr txBox="1"/>
          <p:nvPr/>
        </p:nvSpPr>
        <p:spPr>
          <a:xfrm>
            <a:off x="9607052" y="3401568"/>
            <a:ext cx="2036003" cy="64008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Umstellung</a:t>
            </a:r>
            <a:endParaRPr lang="en-US" sz="1600" dirty="0"/>
          </a:p>
        </p:txBody>
      </p:sp>
      <p:sp>
        <p:nvSpPr>
          <p:cNvPr id="31" name="Text 29"/>
          <p:cNvSpPr txBox="1"/>
          <p:nvPr/>
        </p:nvSpPr>
        <p:spPr>
          <a:xfrm>
            <a:off x="9607052" y="4069080"/>
            <a:ext cx="2036003" cy="1920240"/>
          </a:xfrm>
          <a:prstGeom prst="rect">
            <a:avLst/>
          </a:prstGeom>
          <a:noFill/>
          <a:ln/>
        </p:spPr>
        <p:txBody>
          <a:bodyPr wrap="square" lIns="0" tIns="0" rIns="0" bIns="0" rtlCol="0" anchor="t"/>
          <a:lstStyle/>
          <a:p>
            <a:pPr indent="0" marL="0">
              <a:lnSpc>
                <a:spcPct val="112000"/>
              </a:lnSpc>
              <a:buNone/>
            </a:pPr>
            <a:r>
              <a:rPr lang="en-US" sz="1250" dirty="0">
                <a:solidFill>
                  <a:srgbClr val="16181D"/>
                </a:solidFill>
                <a:latin typeface="Arial" pitchFamily="34" charset="0"/>
                <a:ea typeface="Arial" pitchFamily="34" charset="-122"/>
                <a:cs typeface="Arial" pitchFamily="34" charset="-120"/>
              </a:rPr>
              <a:t>Kanäle umschalten, Pimcore 6 abschalten – außerhalb von Vorschau-Produktion und Buchmesse.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594360"/>
          </a:xfrm>
          <a:prstGeom prst="rect">
            <a:avLst/>
          </a:prstGeom>
          <a:noFill/>
          <a:ln/>
        </p:spPr>
        <p:txBody>
          <a:bodyPr wrap="square" lIns="0" tIns="0" rIns="0" bIns="0" rtlCol="0" anchor="b"/>
          <a:lstStyle/>
          <a:p>
            <a:pPr indent="0" marL="0">
              <a:buNone/>
            </a:pPr>
            <a:r>
              <a:rPr lang="en-US" sz="3000" dirty="0">
                <a:solidFill>
                  <a:srgbClr val="16181D"/>
                </a:solidFill>
                <a:latin typeface="Arial" pitchFamily="34" charset="0"/>
                <a:ea typeface="Arial" pitchFamily="34" charset="-122"/>
                <a:cs typeface="Arial" pitchFamily="34" charset="-120"/>
              </a:rPr>
              <a:t>NÄCHSTER SCHRITT</a:t>
            </a:r>
            <a:endParaRPr lang="en-US" sz="3000" dirty="0"/>
          </a:p>
        </p:txBody>
      </p:sp>
      <p:sp>
        <p:nvSpPr>
          <p:cNvPr id="3" name="Text 1"/>
          <p:cNvSpPr txBox="1"/>
          <p:nvPr/>
        </p:nvSpPr>
        <p:spPr>
          <a:xfrm>
            <a:off x="548640" y="1033272"/>
            <a:ext cx="11094415" cy="365760"/>
          </a:xfrm>
          <a:prstGeom prst="rect">
            <a:avLst/>
          </a:prstGeom>
          <a:noFill/>
          <a:ln/>
        </p:spPr>
        <p:txBody>
          <a:bodyPr wrap="square" lIns="0" tIns="0" rIns="0" bIns="0" rtlCol="0" anchor="t"/>
          <a:lstStyle/>
          <a:p>
            <a:pPr indent="0" marL="0">
              <a:buNone/>
            </a:pPr>
            <a:r>
              <a:rPr lang="en-US" sz="1400" dirty="0">
                <a:solidFill>
                  <a:srgbClr val="4B5563"/>
                </a:solidFill>
                <a:latin typeface="Arial" pitchFamily="34" charset="0"/>
                <a:ea typeface="Arial" pitchFamily="34" charset="-122"/>
                <a:cs typeface="Arial" pitchFamily="34" charset="-120"/>
              </a:rPr>
              <a:t>Drei Schritte bis zu einer Entscheidung auf Basis echter Kohlhammer-Daten.</a:t>
            </a:r>
            <a:endParaRPr lang="en-US" sz="1400" dirty="0"/>
          </a:p>
        </p:txBody>
      </p:sp>
      <p:sp>
        <p:nvSpPr>
          <p:cNvPr id="4" name="Text 2"/>
          <p:cNvSpPr txBox="1"/>
          <p:nvPr/>
        </p:nvSpPr>
        <p:spPr>
          <a:xfrm>
            <a:off x="548640" y="6400800"/>
            <a:ext cx="7315200" cy="228600"/>
          </a:xfrm>
          <a:prstGeom prst="rect">
            <a:avLst/>
          </a:prstGeom>
          <a:noFill/>
          <a:ln/>
        </p:spPr>
        <p:txBody>
          <a:bodyPr wrap="square" lIns="0" tIns="0" rIns="0" bIns="0" rtlCol="0" anchor="t"/>
          <a:lstStyle/>
          <a:p>
            <a:pPr indent="0" marL="0">
              <a:buNone/>
            </a:pPr>
            <a:r>
              <a:rPr lang="en-US" sz="900" dirty="0">
                <a:solidFill>
                  <a:srgbClr val="4B5563"/>
                </a:solidFill>
                <a:latin typeface="Arial" pitchFamily="34" charset="0"/>
                <a:ea typeface="Arial" pitchFamily="34" charset="-122"/>
                <a:cs typeface="Arial" pitchFamily="34" charset="-120"/>
              </a:rPr>
              <a:t>anyPIM für Kohlhammer  ·  Entscheidungsvorlage  ·  September 2026</a:t>
            </a:r>
            <a:endParaRPr lang="en-US" sz="900" dirty="0"/>
          </a:p>
        </p:txBody>
      </p:sp>
      <p:sp>
        <p:nvSpPr>
          <p:cNvPr id="5" name="Text 3"/>
          <p:cNvSpPr txBox="1"/>
          <p:nvPr/>
        </p:nvSpPr>
        <p:spPr>
          <a:xfrm>
            <a:off x="10728655" y="6400800"/>
            <a:ext cx="914400" cy="228600"/>
          </a:xfrm>
          <a:prstGeom prst="rect">
            <a:avLst/>
          </a:prstGeom>
          <a:noFill/>
          <a:ln/>
        </p:spPr>
        <p:txBody>
          <a:bodyPr wrap="square" lIns="0" tIns="0" rIns="0" bIns="0" rtlCol="0" anchor="t"/>
          <a:lstStyle/>
          <a:p>
            <a:pPr algn="r" indent="0" marL="0">
              <a:buNone/>
            </a:pPr>
            <a:r>
              <a:rPr lang="en-US" sz="900" dirty="0">
                <a:solidFill>
                  <a:srgbClr val="4B5563"/>
                </a:solidFill>
                <a:latin typeface="Arial" pitchFamily="34" charset="0"/>
                <a:ea typeface="Arial" pitchFamily="34" charset="-122"/>
                <a:cs typeface="Arial" pitchFamily="34" charset="-120"/>
              </a:rPr>
              <a:t>17</a:t>
            </a:r>
            <a:endParaRPr lang="en-US" sz="900" dirty="0"/>
          </a:p>
        </p:txBody>
      </p:sp>
      <p:sp>
        <p:nvSpPr>
          <p:cNvPr id="6" name="Shape 4"/>
          <p:cNvSpPr/>
          <p:nvPr/>
        </p:nvSpPr>
        <p:spPr>
          <a:xfrm>
            <a:off x="548640" y="1691640"/>
            <a:ext cx="3520440" cy="2331720"/>
          </a:xfrm>
          <a:prstGeom prst="rect">
            <a:avLst/>
          </a:prstGeom>
          <a:solidFill>
            <a:srgbClr val="E4F3F1"/>
          </a:solidFill>
          <a:ln w="12700">
            <a:solidFill>
              <a:srgbClr val="E4F3F1"/>
            </a:solidFill>
            <a:prstDash val="solid"/>
          </a:ln>
        </p:spPr>
      </p:sp>
      <p:sp>
        <p:nvSpPr>
          <p:cNvPr id="7" name="Text 5"/>
          <p:cNvSpPr txBox="1"/>
          <p:nvPr/>
        </p:nvSpPr>
        <p:spPr>
          <a:xfrm>
            <a:off x="822960" y="1828800"/>
            <a:ext cx="914400" cy="68580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1</a:t>
            </a:r>
            <a:endParaRPr lang="en-US" sz="4000" dirty="0"/>
          </a:p>
        </p:txBody>
      </p:sp>
      <p:sp>
        <p:nvSpPr>
          <p:cNvPr id="8" name="Text 6"/>
          <p:cNvSpPr txBox="1"/>
          <p:nvPr/>
        </p:nvSpPr>
        <p:spPr>
          <a:xfrm>
            <a:off x="822960" y="2560320"/>
            <a:ext cx="2971800" cy="365760"/>
          </a:xfrm>
          <a:prstGeom prst="rect">
            <a:avLst/>
          </a:prstGeom>
          <a:noFill/>
          <a:ln/>
        </p:spPr>
        <p:txBody>
          <a:bodyPr wrap="square" lIns="0" tIns="0" rIns="0" bIns="0" rtlCol="0" anchor="t"/>
          <a:lstStyle/>
          <a:p>
            <a:pPr indent="0" marL="0">
              <a:buNone/>
            </a:pPr>
            <a:r>
              <a:rPr lang="en-US" sz="1800" b="1" dirty="0">
                <a:solidFill>
                  <a:srgbClr val="000E2F"/>
                </a:solidFill>
                <a:latin typeface="Arial" pitchFamily="34" charset="0"/>
                <a:ea typeface="Arial" pitchFamily="34" charset="-122"/>
                <a:cs typeface="Arial" pitchFamily="34" charset="-120"/>
              </a:rPr>
              <a:t>Auftakt-Workshop</a:t>
            </a:r>
            <a:endParaRPr lang="en-US" sz="1800" dirty="0"/>
          </a:p>
        </p:txBody>
      </p:sp>
      <p:sp>
        <p:nvSpPr>
          <p:cNvPr id="9" name="Text 7"/>
          <p:cNvSpPr txBox="1"/>
          <p:nvPr/>
        </p:nvSpPr>
        <p:spPr>
          <a:xfrm>
            <a:off x="822960" y="2971800"/>
            <a:ext cx="2971800" cy="100584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Ein halber Tag mit Marketing, Vertrieb, Herstellung und IT – gern direkt nach der Frankfurter Buchmesse.</a:t>
            </a:r>
            <a:endParaRPr lang="en-US" sz="1300" dirty="0"/>
          </a:p>
        </p:txBody>
      </p:sp>
      <p:sp>
        <p:nvSpPr>
          <p:cNvPr id="10" name="Shape 8"/>
          <p:cNvSpPr/>
          <p:nvPr/>
        </p:nvSpPr>
        <p:spPr>
          <a:xfrm>
            <a:off x="4335628" y="1691640"/>
            <a:ext cx="3520440" cy="2331720"/>
          </a:xfrm>
          <a:prstGeom prst="rect">
            <a:avLst/>
          </a:prstGeom>
          <a:solidFill>
            <a:srgbClr val="E4F3F1"/>
          </a:solidFill>
          <a:ln w="12700">
            <a:solidFill>
              <a:srgbClr val="E4F3F1"/>
            </a:solidFill>
            <a:prstDash val="solid"/>
          </a:ln>
        </p:spPr>
      </p:sp>
      <p:sp>
        <p:nvSpPr>
          <p:cNvPr id="11" name="Text 9"/>
          <p:cNvSpPr txBox="1"/>
          <p:nvPr/>
        </p:nvSpPr>
        <p:spPr>
          <a:xfrm>
            <a:off x="4609948" y="1828800"/>
            <a:ext cx="914400" cy="68580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2</a:t>
            </a:r>
            <a:endParaRPr lang="en-US" sz="4000" dirty="0"/>
          </a:p>
        </p:txBody>
      </p:sp>
      <p:sp>
        <p:nvSpPr>
          <p:cNvPr id="12" name="Text 10"/>
          <p:cNvSpPr txBox="1"/>
          <p:nvPr/>
        </p:nvSpPr>
        <p:spPr>
          <a:xfrm>
            <a:off x="4609948" y="2560320"/>
            <a:ext cx="2971800" cy="365760"/>
          </a:xfrm>
          <a:prstGeom prst="rect">
            <a:avLst/>
          </a:prstGeom>
          <a:noFill/>
          <a:ln/>
        </p:spPr>
        <p:txBody>
          <a:bodyPr wrap="square" lIns="0" tIns="0" rIns="0" bIns="0" rtlCol="0" anchor="t"/>
          <a:lstStyle/>
          <a:p>
            <a:pPr indent="0" marL="0">
              <a:buNone/>
            </a:pPr>
            <a:r>
              <a:rPr lang="en-US" sz="1800" b="1" dirty="0">
                <a:solidFill>
                  <a:srgbClr val="000E2F"/>
                </a:solidFill>
                <a:latin typeface="Arial" pitchFamily="34" charset="0"/>
                <a:ea typeface="Arial" pitchFamily="34" charset="-122"/>
                <a:cs typeface="Arial" pitchFamily="34" charset="-120"/>
              </a:rPr>
              <a:t>Pilot Brandschutz</a:t>
            </a:r>
            <a:endParaRPr lang="en-US" sz="1800" dirty="0"/>
          </a:p>
        </p:txBody>
      </p:sp>
      <p:sp>
        <p:nvSpPr>
          <p:cNvPr id="13" name="Text 11"/>
          <p:cNvSpPr txBox="1"/>
          <p:nvPr/>
        </p:nvSpPr>
        <p:spPr>
          <a:xfrm>
            <a:off x="4609948" y="2971800"/>
            <a:ext cx="2971800" cy="100584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Echte Titeldaten aus Pimcore 6 in anyPIM, geprüft von Ihren Key-Usern.</a:t>
            </a:r>
            <a:endParaRPr lang="en-US" sz="1300" dirty="0"/>
          </a:p>
        </p:txBody>
      </p:sp>
      <p:sp>
        <p:nvSpPr>
          <p:cNvPr id="14" name="Shape 12"/>
          <p:cNvSpPr/>
          <p:nvPr/>
        </p:nvSpPr>
        <p:spPr>
          <a:xfrm>
            <a:off x="8122615" y="1691640"/>
            <a:ext cx="3520440" cy="2331720"/>
          </a:xfrm>
          <a:prstGeom prst="rect">
            <a:avLst/>
          </a:prstGeom>
          <a:solidFill>
            <a:srgbClr val="C6E6E3"/>
          </a:solidFill>
          <a:ln w="12700">
            <a:solidFill>
              <a:srgbClr val="C6E6E3"/>
            </a:solidFill>
            <a:prstDash val="solid"/>
          </a:ln>
        </p:spPr>
      </p:sp>
      <p:sp>
        <p:nvSpPr>
          <p:cNvPr id="15" name="Text 13"/>
          <p:cNvSpPr txBox="1"/>
          <p:nvPr/>
        </p:nvSpPr>
        <p:spPr>
          <a:xfrm>
            <a:off x="8396935" y="1828800"/>
            <a:ext cx="914400" cy="685800"/>
          </a:xfrm>
          <a:prstGeom prst="rect">
            <a:avLst/>
          </a:prstGeom>
          <a:noFill/>
          <a:ln/>
        </p:spPr>
        <p:txBody>
          <a:bodyPr wrap="square" lIns="0" tIns="0" rIns="0" bIns="0" rtlCol="0" anchor="t"/>
          <a:lstStyle/>
          <a:p>
            <a:pPr indent="0" marL="0">
              <a:buNone/>
            </a:pPr>
            <a:r>
              <a:rPr lang="en-US" sz="4000" dirty="0">
                <a:solidFill>
                  <a:srgbClr val="1B2D5C"/>
                </a:solidFill>
                <a:latin typeface="Arial" pitchFamily="34" charset="0"/>
                <a:ea typeface="Arial" pitchFamily="34" charset="-122"/>
                <a:cs typeface="Arial" pitchFamily="34" charset="-120"/>
              </a:rPr>
              <a:t>3</a:t>
            </a:r>
            <a:endParaRPr lang="en-US" sz="4000" dirty="0"/>
          </a:p>
        </p:txBody>
      </p:sp>
      <p:sp>
        <p:nvSpPr>
          <p:cNvPr id="16" name="Text 14"/>
          <p:cNvSpPr txBox="1"/>
          <p:nvPr/>
        </p:nvSpPr>
        <p:spPr>
          <a:xfrm>
            <a:off x="8396935" y="2560320"/>
            <a:ext cx="2971800" cy="365760"/>
          </a:xfrm>
          <a:prstGeom prst="rect">
            <a:avLst/>
          </a:prstGeom>
          <a:noFill/>
          <a:ln/>
        </p:spPr>
        <p:txBody>
          <a:bodyPr wrap="square" lIns="0" tIns="0" rIns="0" bIns="0" rtlCol="0" anchor="t"/>
          <a:lstStyle/>
          <a:p>
            <a:pPr indent="0" marL="0">
              <a:buNone/>
            </a:pPr>
            <a:r>
              <a:rPr lang="en-US" sz="1800" b="1" dirty="0">
                <a:solidFill>
                  <a:srgbClr val="000E2F"/>
                </a:solidFill>
                <a:latin typeface="Arial" pitchFamily="34" charset="0"/>
                <a:ea typeface="Arial" pitchFamily="34" charset="-122"/>
                <a:cs typeface="Arial" pitchFamily="34" charset="-120"/>
              </a:rPr>
              <a:t>Entscheidung</a:t>
            </a:r>
            <a:endParaRPr lang="en-US" sz="1800" dirty="0"/>
          </a:p>
        </p:txBody>
      </p:sp>
      <p:sp>
        <p:nvSpPr>
          <p:cNvPr id="17" name="Text 15"/>
          <p:cNvSpPr txBox="1"/>
          <p:nvPr/>
        </p:nvSpPr>
        <p:spPr>
          <a:xfrm>
            <a:off x="8396935" y="2971800"/>
            <a:ext cx="2971800" cy="1005840"/>
          </a:xfrm>
          <a:prstGeom prst="rect">
            <a:avLst/>
          </a:prstGeom>
          <a:noFill/>
          <a:ln/>
        </p:spPr>
        <p:txBody>
          <a:bodyPr wrap="square" lIns="0" tIns="0" rIns="0" bIns="0" rtlCol="0" anchor="t"/>
          <a:lstStyle/>
          <a:p>
            <a:pPr indent="0" marL="0">
              <a:lnSpc>
                <a:spcPct val="110000"/>
              </a:lnSpc>
              <a:buNone/>
            </a:pPr>
            <a:r>
              <a:rPr lang="en-US" sz="1300" dirty="0">
                <a:solidFill>
                  <a:srgbClr val="16181D"/>
                </a:solidFill>
                <a:latin typeface="Arial" pitchFamily="34" charset="0"/>
                <a:ea typeface="Arial" pitchFamily="34" charset="-122"/>
                <a:cs typeface="Arial" pitchFamily="34" charset="-120"/>
              </a:rPr>
              <a:t>Auf Basis des Pilots – mit Aufwandsschätzung und Angebot für das Gesamtprojekt.</a:t>
            </a:r>
            <a:endParaRPr lang="en-US" sz="1300" dirty="0"/>
          </a:p>
        </p:txBody>
      </p:sp>
      <p:sp>
        <p:nvSpPr>
          <p:cNvPr id="18" name="Shape 16"/>
          <p:cNvSpPr/>
          <p:nvPr/>
        </p:nvSpPr>
        <p:spPr>
          <a:xfrm>
            <a:off x="3992728" y="4343400"/>
            <a:ext cx="4206240" cy="731520"/>
          </a:xfrm>
          <a:prstGeom prst="rect">
            <a:avLst/>
          </a:prstGeom>
          <a:solidFill>
            <a:srgbClr val="1B2D5C"/>
          </a:solidFill>
          <a:ln w="12700">
            <a:solidFill>
              <a:srgbClr val="1B2D5C"/>
            </a:solidFill>
            <a:prstDash val="solid"/>
          </a:ln>
        </p:spPr>
      </p:sp>
      <p:sp>
        <p:nvSpPr>
          <p:cNvPr id="19" name="Text 17"/>
          <p:cNvSpPr txBox="1"/>
          <p:nvPr/>
        </p:nvSpPr>
        <p:spPr>
          <a:xfrm>
            <a:off x="3992728" y="4343400"/>
            <a:ext cx="4206240" cy="731520"/>
          </a:xfrm>
          <a:prstGeom prst="rect">
            <a:avLst/>
          </a:prstGeom>
          <a:noFill/>
          <a:ln/>
        </p:spPr>
        <p:txBody>
          <a:bodyPr wrap="square" lIns="0" tIns="0" rIns="0" bIns="0" rtlCol="0" anchor="ctr"/>
          <a:lstStyle/>
          <a:p>
            <a:pPr algn="ctr" indent="0" marL="0">
              <a:buNone/>
            </a:pPr>
            <a:r>
              <a:rPr lang="en-US" sz="1800" dirty="0">
                <a:solidFill>
                  <a:srgbClr val="FFFFFF"/>
                </a:solidFill>
                <a:latin typeface="Arial" pitchFamily="34" charset="0"/>
                <a:ea typeface="Arial" pitchFamily="34" charset="-122"/>
                <a:cs typeface="Arial" pitchFamily="34" charset="-120"/>
              </a:rPr>
              <a:t>Termin für den Auftakt vereinbaren   →</a:t>
            </a:r>
            <a:endParaRPr lang="en-US" sz="1800" dirty="0"/>
          </a:p>
        </p:txBody>
      </p:sp>
      <p:sp>
        <p:nvSpPr>
          <p:cNvPr id="20" name="Text 18"/>
          <p:cNvSpPr txBox="1"/>
          <p:nvPr/>
        </p:nvSpPr>
        <p:spPr>
          <a:xfrm>
            <a:off x="548640" y="5486400"/>
            <a:ext cx="11094415" cy="731520"/>
          </a:xfrm>
          <a:prstGeom prst="rect">
            <a:avLst/>
          </a:prstGeom>
          <a:noFill/>
          <a:ln/>
        </p:spPr>
        <p:txBody>
          <a:bodyPr wrap="square" lIns="0" tIns="0" rIns="0" bIns="0" rtlCol="0" anchor="t"/>
          <a:lstStyle/>
          <a:p>
            <a:pPr algn="ctr" indent="0" marL="0">
              <a:buNone/>
            </a:pPr>
            <a:r>
              <a:rPr lang="en-US" sz="900" dirty="0">
                <a:solidFill>
                  <a:srgbClr val="4B5563"/>
                </a:solidFill>
                <a:latin typeface="Arial" pitchFamily="34" charset="0"/>
                <a:ea typeface="Arial" pitchFamily="34" charset="-122"/>
                <a:cs typeface="Arial" pitchFamily="34" charset="-120"/>
              </a:rPr>
              <a:t>Entscheidungsvorlage der incoxx GmbH, Stand September 2026. Keine Veröffentlichung der W. Kohlhammer GmbH; „Kohlhammer“ ist eine Marke der W. Kohlhammer GmbH. Titelbeispiel nach den im Kohlhammer-Shop angezeigten Angaben. Angaben zu Pimcore nach öffentlich verfügbaren Informationen (pimcore.com: Blog „Pimcore says goodbye to GPL … POCL“, Community Edition, Enterprise Open Core); aktuelle Lizenzkonditionen vor einer Entscheidung beim Hersteller prüfen.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C6E6E3"/>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0E2F"/>
          </a:solidFill>
          <a:ln w="12700">
            <a:solidFill>
              <a:srgbClr val="000E2F"/>
            </a:solidFill>
            <a:prstDash val="solid"/>
          </a:ln>
        </p:spPr>
      </p:sp>
      <p:sp>
        <p:nvSpPr>
          <p:cNvPr id="3" name="Text 1"/>
          <p:cNvSpPr txBox="1"/>
          <p:nvPr/>
        </p:nvSpPr>
        <p:spPr>
          <a:xfrm>
            <a:off x="548640" y="0"/>
            <a:ext cx="7315200" cy="8686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anyPIM</a:t>
            </a:r>
            <a:pPr indent="0" marL="0">
              <a:buNone/>
            </a:pPr>
            <a:r>
              <a:rPr lang="en-US" sz="2400" dirty="0">
                <a:solidFill>
                  <a:srgbClr val="FFFFFF"/>
                </a:solidFill>
                <a:latin typeface="Arial" pitchFamily="34" charset="0"/>
                <a:ea typeface="Arial" pitchFamily="34" charset="-122"/>
                <a:cs typeface="Arial" pitchFamily="34" charset="-120"/>
              </a:rPr>
              <a:t>  für Kohlhammer</a:t>
            </a:r>
            <a:endParaRPr lang="en-US" sz="2400" dirty="0"/>
          </a:p>
        </p:txBody>
      </p:sp>
      <p:sp>
        <p:nvSpPr>
          <p:cNvPr id="4" name="Text 2"/>
          <p:cNvSpPr txBox="1"/>
          <p:nvPr/>
        </p:nvSpPr>
        <p:spPr>
          <a:xfrm>
            <a:off x="2834640" y="1325880"/>
            <a:ext cx="7315200" cy="914400"/>
          </a:xfrm>
          <a:prstGeom prst="rect">
            <a:avLst/>
          </a:prstGeom>
          <a:noFill/>
          <a:ln/>
        </p:spPr>
        <p:txBody>
          <a:bodyPr wrap="square" lIns="0" tIns="0" rIns="0" bIns="0" rtlCol="0" anchor="t"/>
          <a:lstStyle/>
          <a:p>
            <a:pPr indent="0" marL="0">
              <a:buNone/>
            </a:pPr>
            <a:r>
              <a:rPr lang="en-US" sz="5800" dirty="0">
                <a:solidFill>
                  <a:srgbClr val="2B3050"/>
                </a:solidFill>
                <a:latin typeface="Arial" pitchFamily="34" charset="0"/>
                <a:ea typeface="Arial" pitchFamily="34" charset="-122"/>
                <a:cs typeface="Arial" pitchFamily="34" charset="-120"/>
              </a:rPr>
              <a:t>Befähigung ist</a:t>
            </a:r>
            <a:endParaRPr lang="en-US" sz="5800" dirty="0"/>
          </a:p>
        </p:txBody>
      </p:sp>
      <p:sp>
        <p:nvSpPr>
          <p:cNvPr id="5" name="Text 3"/>
          <p:cNvSpPr txBox="1"/>
          <p:nvPr/>
        </p:nvSpPr>
        <p:spPr>
          <a:xfrm>
            <a:off x="2286000" y="1965960"/>
            <a:ext cx="7315200" cy="2103120"/>
          </a:xfrm>
          <a:prstGeom prst="rect">
            <a:avLst/>
          </a:prstGeom>
          <a:noFill/>
          <a:ln/>
        </p:spPr>
        <p:txBody>
          <a:bodyPr wrap="square" lIns="0" tIns="0" rIns="0" bIns="0" rtlCol="0" anchor="t"/>
          <a:lstStyle/>
          <a:p>
            <a:pPr indent="0" marL="0">
              <a:buNone/>
            </a:pPr>
            <a:r>
              <a:rPr lang="en-US" sz="15000" dirty="0">
                <a:solidFill>
                  <a:srgbClr val="2B3050"/>
                </a:solidFill>
                <a:latin typeface="Arial" pitchFamily="34" charset="0"/>
                <a:ea typeface="Arial" pitchFamily="34" charset="-122"/>
                <a:cs typeface="Arial" pitchFamily="34" charset="-120"/>
              </a:rPr>
              <a:t>sexy!</a:t>
            </a:r>
            <a:endParaRPr lang="en-US" sz="15000" dirty="0"/>
          </a:p>
        </p:txBody>
      </p:sp>
      <p:sp>
        <p:nvSpPr>
          <p:cNvPr id="6" name="Shape 4"/>
          <p:cNvSpPr/>
          <p:nvPr/>
        </p:nvSpPr>
        <p:spPr>
          <a:xfrm>
            <a:off x="548640" y="5056632"/>
            <a:ext cx="182880" cy="182880"/>
          </a:xfrm>
          <a:prstGeom prst="rect">
            <a:avLst/>
          </a:prstGeom>
          <a:solidFill>
            <a:srgbClr val="000E2F"/>
          </a:solidFill>
          <a:ln w="12700">
            <a:solidFill>
              <a:srgbClr val="000E2F"/>
            </a:solidFill>
            <a:prstDash val="solid"/>
          </a:ln>
        </p:spPr>
      </p:sp>
      <p:sp>
        <p:nvSpPr>
          <p:cNvPr id="7" name="Text 5"/>
          <p:cNvSpPr txBox="1"/>
          <p:nvPr/>
        </p:nvSpPr>
        <p:spPr>
          <a:xfrm>
            <a:off x="914400"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Mitgestalten</a:t>
            </a:r>
            <a:endParaRPr lang="en-US" sz="1700" dirty="0"/>
          </a:p>
        </p:txBody>
      </p:sp>
      <p:sp>
        <p:nvSpPr>
          <p:cNvPr id="8" name="Text 6"/>
          <p:cNvSpPr txBox="1"/>
          <p:nvPr/>
        </p:nvSpPr>
        <p:spPr>
          <a:xfrm>
            <a:off x="914400"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Kohlhammer bringt Anforderungen ein – sie werden Standard im Produkt.</a:t>
            </a:r>
            <a:endParaRPr lang="en-US" sz="1300" dirty="0"/>
          </a:p>
        </p:txBody>
      </p:sp>
      <p:sp>
        <p:nvSpPr>
          <p:cNvPr id="9" name="Shape 7"/>
          <p:cNvSpPr/>
          <p:nvPr/>
        </p:nvSpPr>
        <p:spPr>
          <a:xfrm>
            <a:off x="4335628" y="5056632"/>
            <a:ext cx="182880" cy="182880"/>
          </a:xfrm>
          <a:prstGeom prst="rect">
            <a:avLst/>
          </a:prstGeom>
          <a:solidFill>
            <a:srgbClr val="000E2F"/>
          </a:solidFill>
          <a:ln w="12700">
            <a:solidFill>
              <a:srgbClr val="000E2F"/>
            </a:solidFill>
            <a:prstDash val="solid"/>
          </a:ln>
        </p:spPr>
      </p:sp>
      <p:sp>
        <p:nvSpPr>
          <p:cNvPr id="10" name="Text 8"/>
          <p:cNvSpPr txBox="1"/>
          <p:nvPr/>
        </p:nvSpPr>
        <p:spPr>
          <a:xfrm>
            <a:off x="4701388"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Verstehen</a:t>
            </a:r>
            <a:endParaRPr lang="en-US" sz="1700" dirty="0"/>
          </a:p>
        </p:txBody>
      </p:sp>
      <p:sp>
        <p:nvSpPr>
          <p:cNvPr id="11" name="Text 9"/>
          <p:cNvSpPr txBox="1"/>
          <p:nvPr/>
        </p:nvSpPr>
        <p:spPr>
          <a:xfrm>
            <a:off x="4701388"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Mit Claude und GitHub bleibt nachvollziehbar, was das System tut – ohne Code zu lesen.</a:t>
            </a:r>
            <a:endParaRPr lang="en-US" sz="1300" dirty="0"/>
          </a:p>
        </p:txBody>
      </p:sp>
      <p:sp>
        <p:nvSpPr>
          <p:cNvPr id="12" name="Shape 10"/>
          <p:cNvSpPr/>
          <p:nvPr/>
        </p:nvSpPr>
        <p:spPr>
          <a:xfrm>
            <a:off x="8122615" y="5056632"/>
            <a:ext cx="182880" cy="182880"/>
          </a:xfrm>
          <a:prstGeom prst="rect">
            <a:avLst/>
          </a:prstGeom>
          <a:solidFill>
            <a:srgbClr val="000E2F"/>
          </a:solidFill>
          <a:ln w="12700">
            <a:solidFill>
              <a:srgbClr val="000E2F"/>
            </a:solidFill>
            <a:prstDash val="solid"/>
          </a:ln>
        </p:spPr>
      </p:sp>
      <p:sp>
        <p:nvSpPr>
          <p:cNvPr id="13" name="Text 11"/>
          <p:cNvSpPr txBox="1"/>
          <p:nvPr/>
        </p:nvSpPr>
        <p:spPr>
          <a:xfrm>
            <a:off x="8488375" y="4983480"/>
            <a:ext cx="3154680" cy="365760"/>
          </a:xfrm>
          <a:prstGeom prst="rect">
            <a:avLst/>
          </a:prstGeom>
          <a:noFill/>
          <a:ln/>
        </p:spPr>
        <p:txBody>
          <a:bodyPr wrap="square" lIns="0" tIns="0" rIns="0" bIns="0" rtlCol="0" anchor="t"/>
          <a:lstStyle/>
          <a:p>
            <a:pPr indent="0" marL="0">
              <a:buNone/>
            </a:pPr>
            <a:r>
              <a:rPr lang="en-US" sz="1700" b="1" dirty="0">
                <a:solidFill>
                  <a:srgbClr val="000E2F"/>
                </a:solidFill>
                <a:latin typeface="Arial" pitchFamily="34" charset="0"/>
                <a:ea typeface="Arial" pitchFamily="34" charset="-122"/>
                <a:cs typeface="Arial" pitchFamily="34" charset="-120"/>
              </a:rPr>
              <a:t>Unabhängig bleiben</a:t>
            </a:r>
            <a:endParaRPr lang="en-US" sz="1700" dirty="0"/>
          </a:p>
        </p:txBody>
      </p:sp>
      <p:sp>
        <p:nvSpPr>
          <p:cNvPr id="14" name="Text 12"/>
          <p:cNvSpPr txBox="1"/>
          <p:nvPr/>
        </p:nvSpPr>
        <p:spPr>
          <a:xfrm>
            <a:off x="8488375" y="5394960"/>
            <a:ext cx="3154680" cy="822960"/>
          </a:xfrm>
          <a:prstGeom prst="rect">
            <a:avLst/>
          </a:prstGeom>
          <a:noFill/>
          <a:ln/>
        </p:spPr>
        <p:txBody>
          <a:bodyPr wrap="square" lIns="0" tIns="0" rIns="0" bIns="0" rtlCol="0" anchor="t"/>
          <a:lstStyle/>
          <a:p>
            <a:pPr indent="0" marL="0">
              <a:lnSpc>
                <a:spcPct val="110000"/>
              </a:lnSpc>
              <a:buNone/>
            </a:pPr>
            <a:r>
              <a:rPr lang="en-US" sz="1300" dirty="0">
                <a:solidFill>
                  <a:srgbClr val="22303C"/>
                </a:solidFill>
                <a:latin typeface="Arial" pitchFamily="34" charset="0"/>
                <a:ea typeface="Arial" pitchFamily="34" charset="-122"/>
                <a:cs typeface="Arial" pitchFamily="34" charset="-120"/>
              </a:rPr>
              <a:t>Wissen im Repository, offener Code, schlanker Betrieb.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anyPIM für Kohlhammer – Pimcore-Upgrade oder Wechsel</dc:title>
  <dc:subject>PptxGenJS Presentation</dc:subject>
  <dc:creator>incoxx GmbH</dc:creator>
  <cp:lastModifiedBy>incoxx GmbH</cp:lastModifiedBy>
  <cp:revision>1</cp:revision>
  <dcterms:created xsi:type="dcterms:W3CDTF">2026-09-28T16:54:43Z</dcterms:created>
  <dcterms:modified xsi:type="dcterms:W3CDTF">2026-09-28T16:54:43Z</dcterms:modified>
</cp:coreProperties>
</file>